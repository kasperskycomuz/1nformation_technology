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  <p:sldId id="259" r:id="rId5"/>
    <p:sldId id="297" r:id="rId6"/>
    <p:sldId id="261" r:id="rId7"/>
    <p:sldId id="262" r:id="rId8"/>
    <p:sldId id="263" r:id="rId9"/>
    <p:sldId id="265" r:id="rId10"/>
    <p:sldId id="266" r:id="rId11"/>
    <p:sldId id="288" r:id="rId12"/>
    <p:sldId id="268" r:id="rId13"/>
    <p:sldId id="267" r:id="rId14"/>
    <p:sldId id="289" r:id="rId15"/>
    <p:sldId id="290" r:id="rId16"/>
    <p:sldId id="269" r:id="rId17"/>
    <p:sldId id="270" r:id="rId18"/>
    <p:sldId id="291" r:id="rId19"/>
    <p:sldId id="271" r:id="rId20"/>
    <p:sldId id="274" r:id="rId21"/>
    <p:sldId id="279" r:id="rId22"/>
    <p:sldId id="281" r:id="rId23"/>
    <p:sldId id="283" r:id="rId24"/>
    <p:sldId id="292" r:id="rId25"/>
    <p:sldId id="296" r:id="rId26"/>
    <p:sldId id="284" r:id="rId27"/>
  </p:sldIdLst>
  <p:sldSz cx="9144000" cy="6858000" type="screen4x3"/>
  <p:notesSz cx="6791325" cy="9921875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F57ED1C-FAAA-4B36-A3CD-51A90BD96339}">
          <p14:sldIdLst>
            <p14:sldId id="258"/>
            <p14:sldId id="257"/>
            <p14:sldId id="260"/>
            <p14:sldId id="259"/>
            <p14:sldId id="297"/>
            <p14:sldId id="261"/>
            <p14:sldId id="262"/>
            <p14:sldId id="263"/>
            <p14:sldId id="265"/>
            <p14:sldId id="266"/>
            <p14:sldId id="288"/>
            <p14:sldId id="268"/>
            <p14:sldId id="267"/>
            <p14:sldId id="289"/>
            <p14:sldId id="290"/>
            <p14:sldId id="269"/>
            <p14:sldId id="270"/>
            <p14:sldId id="291"/>
            <p14:sldId id="271"/>
            <p14:sldId id="274"/>
            <p14:sldId id="279"/>
            <p14:sldId id="281"/>
            <p14:sldId id="283"/>
            <p14:sldId id="292"/>
            <p14:sldId id="296"/>
          </p14:sldIdLst>
        </p14:section>
        <p14:section name="Раздел без заголовка" id="{BD8AE2B2-716E-4AFC-8153-423FB8A58ADF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87092B-544D-4A33-B452-11A39F155543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E6F014-5E36-4717-89C4-3BACBF023357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069E2E-82A3-4ECA-8871-C64287416725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9AF2F-D55B-4D17-B26B-BFEC3D848079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A4CFDC-AB0D-4C4D-857A-C71F2E2BDA76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1E477-D8FD-4764-93A1-BA6D75F689F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FE14C1-AAA5-45CE-B084-2C0D4BAE5C17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D4A4E-109C-4029-B0CB-BCF472C8BBBC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94FFF4-7F0B-4B64-A0CD-48CA1F3F2AC9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150B87-96F8-429D-AD7C-4C526473C4C2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1933F9-6C7A-4530-8989-8E43C9D883B6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1"/>
            <a:ext cx="8229600" cy="4525963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1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1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1"/>
          </a:xfrm>
        </p:spPr>
        <p:txBody>
          <a:bodyPr/>
          <a:lstStyle>
            <a:lvl1pPr>
              <a:defRPr/>
            </a:lvl1pPr>
          </a:lstStyle>
          <a:p>
            <a:fld id="{5FD1E62E-82A4-430C-BAF2-847428A52EF4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7072EBE-46B4-42DA-81BD-33CB6E8156CC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 advClick="0" advTm="8000">
    <p:comb/>
  </p:transition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528" y="4437112"/>
            <a:ext cx="8496944" cy="1470025"/>
          </a:xfrm>
        </p:spPr>
        <p:txBody>
          <a:bodyPr/>
          <a:lstStyle/>
          <a:p>
            <a:r>
              <a:rPr lang="ru-RU" sz="5400" b="1" dirty="0">
                <a:solidFill>
                  <a:schemeClr val="bg1"/>
                </a:solidFill>
                <a:latin typeface="Monotype Corsiva" pitchFamily="66" charset="0"/>
              </a:rPr>
              <a:t>Axborot Internet xavfsizligi</a:t>
            </a:r>
          </a:p>
        </p:txBody>
      </p:sp>
      <p:sp>
        <p:nvSpPr>
          <p:cNvPr id="3" name="Прямоугольник с двумя вырезанными противолежащими углами 2"/>
          <p:cNvSpPr/>
          <p:nvPr/>
        </p:nvSpPr>
        <p:spPr>
          <a:xfrm>
            <a:off x="4211960" y="260648"/>
            <a:ext cx="4572000" cy="771346"/>
          </a:xfrm>
          <a:prstGeom prst="snip2DiagRect">
            <a:avLst/>
          </a:prstGeom>
          <a:solidFill>
            <a:schemeClr val="lt1">
              <a:alpha val="37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i="1" dirty="0">
                <a:solidFill>
                  <a:srgbClr val="002060"/>
                </a:solidFill>
              </a:rPr>
              <a:t>9 fevral-Butunjahon xavfsiz Internet kuni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536" y="404664"/>
            <a:ext cx="575799" cy="369332"/>
          </a:xfrm>
          <a:prstGeom prst="rect">
            <a:avLst/>
          </a:prstGeom>
          <a:solidFill>
            <a:schemeClr val="lt1">
              <a:alpha val="52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b="1" i="1" dirty="0">
                <a:solidFill>
                  <a:srgbClr val="002060"/>
                </a:solidFill>
              </a:rPr>
              <a:t>12+</a:t>
            </a: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01828"/>
            <a:ext cx="8229600" cy="647700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Media savodxonligi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90" y="1196974"/>
            <a:ext cx="6130925" cy="5073651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bolalar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va o'smirlar ma'lumotlarga kirishni </a:t>
            </a: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ta'minlaydigan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vositalar</a:t>
            </a:r>
            <a:r>
              <a:rPr lang="en-US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dan </a:t>
            </a: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vakolatli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foydalanish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,</a:t>
            </a:r>
          </a:p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axborot mazmunini tanqidiy tahlil qilish va aloqa ko'nikmalarini shakllantirish, </a:t>
            </a:r>
          </a:p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kasbiy tayyorgarlikni rivojlantirish o'smirlar va yoshlar axborot-kommunikatsiya texnologiyalari va xizmatlaridan ijobiy va mas'uliyatli foydalanish maqsadlari.</a:t>
            </a:r>
          </a:p>
        </p:txBody>
      </p:sp>
      <p:pic>
        <p:nvPicPr>
          <p:cNvPr id="3076" name="Picture 4" descr="инет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7765" y="1557338"/>
            <a:ext cx="2757487" cy="3979863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  <p:bldP spid="3075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4"/>
            <a:ext cx="8229600" cy="647700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Normativ baza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417803"/>
            <a:ext cx="8568952" cy="323533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 err="1"/>
              <a:t>Qonunchilik</a:t>
            </a:r>
            <a:r>
              <a:rPr lang="en-US" sz="1600" dirty="0"/>
              <a:t> </a:t>
            </a:r>
            <a:r>
              <a:rPr lang="en-US" sz="1600" dirty="0" err="1"/>
              <a:t>palatasi</a:t>
            </a:r>
            <a:r>
              <a:rPr lang="en-US" sz="1600" dirty="0"/>
              <a:t> </a:t>
            </a:r>
            <a:r>
              <a:rPr lang="en-US" sz="1600" dirty="0" err="1"/>
              <a:t>tomonidan</a:t>
            </a:r>
            <a:r>
              <a:rPr lang="en-US" sz="1600" dirty="0"/>
              <a:t> 2017-yil 15-avgustda </a:t>
            </a:r>
            <a:r>
              <a:rPr lang="en-US" sz="1600" dirty="0" err="1"/>
              <a:t>qabul</a:t>
            </a:r>
            <a:r>
              <a:rPr lang="en-US" sz="1600" dirty="0"/>
              <a:t> </a:t>
            </a:r>
            <a:r>
              <a:rPr lang="en-US" sz="1600" dirty="0" err="1"/>
              <a:t>qilingan</a:t>
            </a:r>
            <a:br>
              <a:rPr lang="en-US" sz="1600" dirty="0"/>
            </a:br>
            <a:r>
              <a:rPr lang="en-US" sz="1600" dirty="0" err="1"/>
              <a:t>Senat</a:t>
            </a:r>
            <a:r>
              <a:rPr lang="en-US" sz="1600" dirty="0"/>
              <a:t> </a:t>
            </a:r>
            <a:r>
              <a:rPr lang="en-US" sz="1600" dirty="0" err="1"/>
              <a:t>tomonidan</a:t>
            </a:r>
            <a:r>
              <a:rPr lang="en-US" sz="1600" dirty="0"/>
              <a:t> 2017-yil 24-avgustda </a:t>
            </a:r>
            <a:r>
              <a:rPr lang="en-US" sz="1600" dirty="0" err="1"/>
              <a:t>maʼqullangan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1-modda. </a:t>
            </a:r>
            <a:r>
              <a:rPr lang="en-US" sz="1600" b="1" dirty="0" err="1"/>
              <a:t>Ushbu</a:t>
            </a:r>
            <a:r>
              <a:rPr lang="en-US" sz="1600" b="1" dirty="0"/>
              <a:t> </a:t>
            </a:r>
            <a:r>
              <a:rPr lang="en-US" sz="1600" b="1" dirty="0" err="1"/>
              <a:t>Qonunning</a:t>
            </a:r>
            <a:r>
              <a:rPr lang="en-US" sz="1600" b="1" dirty="0"/>
              <a:t> </a:t>
            </a:r>
            <a:r>
              <a:rPr lang="en-US" sz="1600" b="1" dirty="0" err="1"/>
              <a:t>maqsadi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 err="1"/>
              <a:t>Ushbu</a:t>
            </a:r>
            <a:r>
              <a:rPr lang="en-US" sz="1600" dirty="0"/>
              <a:t> </a:t>
            </a:r>
            <a:r>
              <a:rPr lang="en-US" sz="1600" dirty="0" err="1"/>
              <a:t>Qonunning</a:t>
            </a:r>
            <a:r>
              <a:rPr lang="en-US" sz="1600" dirty="0"/>
              <a:t> </a:t>
            </a:r>
            <a:r>
              <a:rPr lang="en-US" sz="1600" dirty="0" err="1"/>
              <a:t>maqsadi</a:t>
            </a:r>
            <a:r>
              <a:rPr lang="en-US" sz="1600" dirty="0"/>
              <a:t> </a:t>
            </a:r>
            <a:r>
              <a:rPr lang="en-US" sz="1600" dirty="0" err="1"/>
              <a:t>bolalarni</a:t>
            </a:r>
            <a:r>
              <a:rPr lang="en-US" sz="1600" dirty="0"/>
              <a:t> </a:t>
            </a:r>
            <a:r>
              <a:rPr lang="en-US" sz="1600" dirty="0" err="1"/>
              <a:t>ularning</a:t>
            </a:r>
            <a:r>
              <a:rPr lang="en-US" sz="1600" dirty="0"/>
              <a:t> </a:t>
            </a:r>
            <a:r>
              <a:rPr lang="en-US" sz="1600" dirty="0" err="1"/>
              <a:t>sogʻligʻiga</a:t>
            </a:r>
            <a:r>
              <a:rPr lang="en-US" sz="1600" dirty="0"/>
              <a:t> </a:t>
            </a:r>
            <a:r>
              <a:rPr lang="en-US" sz="1600" dirty="0" err="1"/>
              <a:t>zarar</a:t>
            </a:r>
            <a:r>
              <a:rPr lang="en-US" sz="1600" dirty="0"/>
              <a:t> </a:t>
            </a:r>
            <a:r>
              <a:rPr lang="en-US" sz="1600" dirty="0" err="1"/>
              <a:t>yetkazuvchi</a:t>
            </a:r>
            <a:r>
              <a:rPr lang="en-US" sz="1600" dirty="0"/>
              <a:t> </a:t>
            </a:r>
            <a:r>
              <a:rPr lang="en-US" sz="1600" dirty="0" err="1"/>
              <a:t>axborotdan</a:t>
            </a:r>
            <a:r>
              <a:rPr lang="en-US" sz="1600" dirty="0"/>
              <a:t> </a:t>
            </a:r>
            <a:r>
              <a:rPr lang="en-US" sz="1600" dirty="0" err="1"/>
              <a:t>himoya</a:t>
            </a:r>
            <a:r>
              <a:rPr lang="en-US" sz="1600" dirty="0"/>
              <a:t> </a:t>
            </a:r>
            <a:r>
              <a:rPr lang="en-US" sz="1600" dirty="0" err="1"/>
              <a:t>qilish</a:t>
            </a:r>
            <a:r>
              <a:rPr lang="en-US" sz="1600" dirty="0"/>
              <a:t> </a:t>
            </a:r>
            <a:r>
              <a:rPr lang="en-US" sz="1600" dirty="0" err="1"/>
              <a:t>sohasidagi</a:t>
            </a:r>
            <a:r>
              <a:rPr lang="en-US" sz="1600" dirty="0"/>
              <a:t> </a:t>
            </a:r>
            <a:r>
              <a:rPr lang="en-US" sz="1600" dirty="0" err="1"/>
              <a:t>munosabatlarni</a:t>
            </a:r>
            <a:r>
              <a:rPr lang="en-US" sz="1600" dirty="0"/>
              <a:t> </a:t>
            </a:r>
            <a:r>
              <a:rPr lang="en-US" sz="1600" dirty="0" err="1"/>
              <a:t>tartibga</a:t>
            </a:r>
            <a:r>
              <a:rPr lang="en-US" sz="1600" dirty="0"/>
              <a:t> </a:t>
            </a:r>
            <a:r>
              <a:rPr lang="en-US" sz="1600" dirty="0" err="1"/>
              <a:t>solishdan</a:t>
            </a:r>
            <a:r>
              <a:rPr lang="en-US" sz="1600" dirty="0"/>
              <a:t> </a:t>
            </a:r>
            <a:r>
              <a:rPr lang="en-US" sz="1600" dirty="0" err="1"/>
              <a:t>iborat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b="1" dirty="0"/>
              <a:t>2-modda. </a:t>
            </a:r>
            <a:r>
              <a:rPr lang="en-US" sz="1600" b="1" dirty="0" err="1"/>
              <a:t>Bolalarni</a:t>
            </a:r>
            <a:r>
              <a:rPr lang="en-US" sz="1600" b="1" dirty="0"/>
              <a:t> </a:t>
            </a:r>
            <a:r>
              <a:rPr lang="en-US" sz="1600" b="1" dirty="0" err="1"/>
              <a:t>ularning</a:t>
            </a:r>
            <a:r>
              <a:rPr lang="en-US" sz="1600" b="1" dirty="0"/>
              <a:t> </a:t>
            </a:r>
            <a:r>
              <a:rPr lang="en-US" sz="1600" b="1" dirty="0" err="1"/>
              <a:t>sogʻligʻiga</a:t>
            </a:r>
            <a:r>
              <a:rPr lang="en-US" sz="1600" b="1" dirty="0"/>
              <a:t> </a:t>
            </a:r>
            <a:r>
              <a:rPr lang="en-US" sz="1600" b="1" dirty="0" err="1"/>
              <a:t>zarar</a:t>
            </a:r>
            <a:r>
              <a:rPr lang="en-US" sz="1600" b="1" dirty="0"/>
              <a:t> </a:t>
            </a:r>
            <a:r>
              <a:rPr lang="en-US" sz="1600" b="1" dirty="0" err="1"/>
              <a:t>yetkazuvchi</a:t>
            </a:r>
            <a:r>
              <a:rPr lang="en-US" sz="1600" b="1" dirty="0"/>
              <a:t> </a:t>
            </a:r>
            <a:r>
              <a:rPr lang="en-US" sz="1600" b="1" dirty="0" err="1"/>
              <a:t>axborotdan</a:t>
            </a:r>
            <a:r>
              <a:rPr lang="en-US" sz="1600" b="1" dirty="0"/>
              <a:t> </a:t>
            </a:r>
            <a:r>
              <a:rPr lang="en-US" sz="1600" b="1" dirty="0" err="1"/>
              <a:t>himoya</a:t>
            </a:r>
            <a:r>
              <a:rPr lang="en-US" sz="1600" b="1" dirty="0"/>
              <a:t> </a:t>
            </a:r>
            <a:r>
              <a:rPr lang="en-US" sz="1600" b="1" dirty="0" err="1"/>
              <a:t>qilish</a:t>
            </a:r>
            <a:r>
              <a:rPr lang="en-US" sz="1600" b="1" dirty="0"/>
              <a:t> </a:t>
            </a:r>
            <a:r>
              <a:rPr lang="en-US" sz="1600" b="1" dirty="0" err="1"/>
              <a:t>toʻgʻrisidagi</a:t>
            </a:r>
            <a:r>
              <a:rPr lang="en-US" sz="1600" b="1" dirty="0"/>
              <a:t> </a:t>
            </a:r>
            <a:r>
              <a:rPr lang="en-US" sz="1600" b="1" dirty="0" err="1"/>
              <a:t>qonunchilik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 err="1"/>
              <a:t>Bolalarni</a:t>
            </a:r>
            <a:r>
              <a:rPr lang="en-US" sz="1600" dirty="0"/>
              <a:t> </a:t>
            </a:r>
            <a:r>
              <a:rPr lang="en-US" sz="1600" dirty="0" err="1"/>
              <a:t>ularning</a:t>
            </a:r>
            <a:r>
              <a:rPr lang="en-US" sz="1600" dirty="0"/>
              <a:t> </a:t>
            </a:r>
            <a:r>
              <a:rPr lang="en-US" sz="1600" dirty="0" err="1"/>
              <a:t>sogʻligʻiga</a:t>
            </a:r>
            <a:r>
              <a:rPr lang="en-US" sz="1600" dirty="0"/>
              <a:t> </a:t>
            </a:r>
            <a:r>
              <a:rPr lang="en-US" sz="1600" dirty="0" err="1"/>
              <a:t>zarar</a:t>
            </a:r>
            <a:r>
              <a:rPr lang="en-US" sz="1600" dirty="0"/>
              <a:t> </a:t>
            </a:r>
            <a:r>
              <a:rPr lang="en-US" sz="1600" dirty="0" err="1"/>
              <a:t>yetkazuvchi</a:t>
            </a:r>
            <a:r>
              <a:rPr lang="en-US" sz="1600" dirty="0"/>
              <a:t> </a:t>
            </a:r>
            <a:r>
              <a:rPr lang="en-US" sz="1600" dirty="0" err="1"/>
              <a:t>axborotdan</a:t>
            </a:r>
            <a:r>
              <a:rPr lang="en-US" sz="1600" dirty="0"/>
              <a:t> </a:t>
            </a:r>
            <a:r>
              <a:rPr lang="en-US" sz="1600" dirty="0" err="1"/>
              <a:t>himoya</a:t>
            </a:r>
            <a:r>
              <a:rPr lang="en-US" sz="1600" dirty="0"/>
              <a:t> </a:t>
            </a:r>
            <a:r>
              <a:rPr lang="en-US" sz="1600" dirty="0" err="1"/>
              <a:t>qilish</a:t>
            </a:r>
            <a:r>
              <a:rPr lang="en-US" sz="1600" dirty="0"/>
              <a:t> </a:t>
            </a:r>
            <a:r>
              <a:rPr lang="en-US" sz="1600" dirty="0" err="1"/>
              <a:t>toʻgʻrisidagi</a:t>
            </a:r>
            <a:r>
              <a:rPr lang="en-US" sz="1600" dirty="0"/>
              <a:t> </a:t>
            </a:r>
            <a:r>
              <a:rPr lang="en-US" sz="1600" dirty="0" err="1"/>
              <a:t>qonunchilik</a:t>
            </a:r>
            <a:r>
              <a:rPr lang="en-US" sz="1600" dirty="0"/>
              <a:t> </a:t>
            </a:r>
            <a:r>
              <a:rPr lang="en-US" sz="1600" dirty="0" err="1"/>
              <a:t>ushbu</a:t>
            </a:r>
            <a:r>
              <a:rPr lang="en-US" sz="1600" dirty="0"/>
              <a:t> </a:t>
            </a:r>
            <a:r>
              <a:rPr lang="en-US" sz="1600" dirty="0" err="1"/>
              <a:t>Qonun</a:t>
            </a:r>
            <a:r>
              <a:rPr lang="en-US" sz="1600" dirty="0"/>
              <a:t>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boshqa</a:t>
            </a:r>
            <a:r>
              <a:rPr lang="en-US" sz="1600" dirty="0"/>
              <a:t> </a:t>
            </a:r>
            <a:r>
              <a:rPr lang="en-US" sz="1600" dirty="0" err="1"/>
              <a:t>qonunchilik</a:t>
            </a:r>
            <a:r>
              <a:rPr lang="en-US" sz="1600" dirty="0"/>
              <a:t> </a:t>
            </a:r>
            <a:r>
              <a:rPr lang="en-US" sz="1600" dirty="0" err="1"/>
              <a:t>hujjatlaridan</a:t>
            </a:r>
            <a:r>
              <a:rPr lang="en-US" sz="1600" dirty="0"/>
              <a:t> </a:t>
            </a:r>
            <a:r>
              <a:rPr lang="en-US" sz="1600" dirty="0" err="1"/>
              <a:t>iboratdir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Agar </a:t>
            </a:r>
            <a:r>
              <a:rPr lang="en-US" sz="1600" dirty="0" err="1"/>
              <a:t>Oʻzbekiston</a:t>
            </a:r>
            <a:r>
              <a:rPr lang="en-US" sz="1600" dirty="0"/>
              <a:t> </a:t>
            </a:r>
            <a:r>
              <a:rPr lang="en-US" sz="1600" dirty="0" err="1"/>
              <a:t>Respublikasining</a:t>
            </a:r>
            <a:r>
              <a:rPr lang="en-US" sz="1600" dirty="0"/>
              <a:t> </a:t>
            </a:r>
            <a:r>
              <a:rPr lang="en-US" sz="1600" dirty="0" err="1"/>
              <a:t>xalqaro</a:t>
            </a:r>
            <a:r>
              <a:rPr lang="en-US" sz="1600" dirty="0"/>
              <a:t> </a:t>
            </a:r>
            <a:r>
              <a:rPr lang="en-US" sz="1600" dirty="0" err="1"/>
              <a:t>shartnomasida</a:t>
            </a:r>
            <a:r>
              <a:rPr lang="en-US" sz="1600" dirty="0"/>
              <a:t> </a:t>
            </a:r>
            <a:r>
              <a:rPr lang="en-US" sz="1600" dirty="0" err="1"/>
              <a:t>Oʻzbekiston</a:t>
            </a:r>
            <a:r>
              <a:rPr lang="en-US" sz="1600" dirty="0"/>
              <a:t> </a:t>
            </a:r>
            <a:r>
              <a:rPr lang="en-US" sz="1600" dirty="0" err="1"/>
              <a:t>Respublikasining</a:t>
            </a:r>
            <a:r>
              <a:rPr lang="en-US" sz="1600" dirty="0"/>
              <a:t> </a:t>
            </a:r>
            <a:r>
              <a:rPr lang="en-US" sz="1600" dirty="0" err="1"/>
              <a:t>bolalarni</a:t>
            </a:r>
            <a:r>
              <a:rPr lang="en-US" sz="1600" dirty="0"/>
              <a:t> </a:t>
            </a:r>
            <a:r>
              <a:rPr lang="en-US" sz="1600" dirty="0" err="1"/>
              <a:t>ularning</a:t>
            </a:r>
            <a:r>
              <a:rPr lang="en-US" sz="1600" dirty="0"/>
              <a:t> </a:t>
            </a:r>
            <a:r>
              <a:rPr lang="en-US" sz="1600" dirty="0" err="1"/>
              <a:t>sogʻligʻiga</a:t>
            </a:r>
            <a:r>
              <a:rPr lang="en-US" sz="1600" dirty="0"/>
              <a:t> </a:t>
            </a:r>
            <a:r>
              <a:rPr lang="en-US" sz="1600" dirty="0" err="1"/>
              <a:t>zarar</a:t>
            </a:r>
            <a:r>
              <a:rPr lang="en-US" sz="1600" dirty="0"/>
              <a:t> </a:t>
            </a:r>
            <a:r>
              <a:rPr lang="en-US" sz="1600" dirty="0" err="1"/>
              <a:t>yetkazuvchi</a:t>
            </a:r>
            <a:r>
              <a:rPr lang="en-US" sz="1600" dirty="0"/>
              <a:t> </a:t>
            </a:r>
            <a:r>
              <a:rPr lang="en-US" sz="1600" dirty="0" err="1"/>
              <a:t>axborotdan</a:t>
            </a:r>
            <a:r>
              <a:rPr lang="en-US" sz="1600" dirty="0"/>
              <a:t> </a:t>
            </a:r>
            <a:r>
              <a:rPr lang="en-US" sz="1600" dirty="0" err="1"/>
              <a:t>himoya</a:t>
            </a:r>
            <a:r>
              <a:rPr lang="en-US" sz="1600" dirty="0"/>
              <a:t> </a:t>
            </a:r>
            <a:r>
              <a:rPr lang="en-US" sz="1600" dirty="0" err="1"/>
              <a:t>qilish</a:t>
            </a:r>
            <a:r>
              <a:rPr lang="en-US" sz="1600" dirty="0"/>
              <a:t> </a:t>
            </a:r>
            <a:r>
              <a:rPr lang="en-US" sz="1600" dirty="0" err="1"/>
              <a:t>toʻgʻrisidagi</a:t>
            </a:r>
            <a:r>
              <a:rPr lang="en-US" sz="1600" dirty="0"/>
              <a:t> </a:t>
            </a:r>
            <a:r>
              <a:rPr lang="en-US" sz="1600" dirty="0" err="1"/>
              <a:t>qonunchiligida</a:t>
            </a:r>
            <a:r>
              <a:rPr lang="en-US" sz="1600" dirty="0"/>
              <a:t> </a:t>
            </a:r>
            <a:r>
              <a:rPr lang="en-US" sz="1600" dirty="0" err="1"/>
              <a:t>nazarda</a:t>
            </a:r>
            <a:r>
              <a:rPr lang="en-US" sz="1600" dirty="0"/>
              <a:t> </a:t>
            </a:r>
            <a:r>
              <a:rPr lang="en-US" sz="1600" dirty="0" err="1"/>
              <a:t>tutilganidan</a:t>
            </a:r>
            <a:r>
              <a:rPr lang="en-US" sz="1600" dirty="0"/>
              <a:t> </a:t>
            </a:r>
            <a:r>
              <a:rPr lang="en-US" sz="1600" dirty="0" err="1"/>
              <a:t>boshqacha</a:t>
            </a:r>
            <a:r>
              <a:rPr lang="en-US" sz="1600" dirty="0"/>
              <a:t> </a:t>
            </a:r>
            <a:r>
              <a:rPr lang="en-US" sz="1600" dirty="0" err="1"/>
              <a:t>qoidalar</a:t>
            </a:r>
            <a:r>
              <a:rPr lang="en-US" sz="1600" dirty="0"/>
              <a:t> </a:t>
            </a:r>
            <a:r>
              <a:rPr lang="en-US" sz="1600" dirty="0" err="1"/>
              <a:t>belgilangan</a:t>
            </a:r>
            <a:r>
              <a:rPr lang="en-US" sz="1600" dirty="0"/>
              <a:t> </a:t>
            </a:r>
            <a:r>
              <a:rPr lang="en-US" sz="1600" dirty="0" err="1"/>
              <a:t>boʻlsa</a:t>
            </a:r>
            <a:r>
              <a:rPr lang="en-US" sz="1600" dirty="0"/>
              <a:t>, </a:t>
            </a:r>
            <a:r>
              <a:rPr lang="en-US" sz="1600" dirty="0" err="1"/>
              <a:t>xalqaro</a:t>
            </a:r>
            <a:r>
              <a:rPr lang="en-US" sz="1600" dirty="0"/>
              <a:t> </a:t>
            </a:r>
            <a:r>
              <a:rPr lang="en-US" sz="1600" dirty="0" err="1"/>
              <a:t>shartnoma</a:t>
            </a:r>
            <a:r>
              <a:rPr lang="en-US" sz="1600" dirty="0"/>
              <a:t> </a:t>
            </a:r>
            <a:r>
              <a:rPr lang="en-US" sz="1600" dirty="0" err="1"/>
              <a:t>qoidalari</a:t>
            </a:r>
            <a:r>
              <a:rPr lang="en-US" sz="1600" dirty="0"/>
              <a:t> </a:t>
            </a:r>
            <a:r>
              <a:rPr lang="en-US" sz="1600" dirty="0" err="1"/>
              <a:t>qoʻllaniladi</a:t>
            </a:r>
            <a:r>
              <a:rPr lang="en-US" sz="1600" dirty="0"/>
              <a:t>.</a:t>
            </a:r>
          </a:p>
        </p:txBody>
      </p:sp>
      <p:pic>
        <p:nvPicPr>
          <p:cNvPr id="6148" name="Picture 4" descr="10110643802544380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5611215" y="4942359"/>
            <a:ext cx="3540223" cy="1582985"/>
          </a:xfrm>
          <a:prstGeom prst="rect">
            <a:avLst/>
          </a:prstGeom>
          <a:noFill/>
        </p:spPr>
      </p:pic>
      <p:pic>
        <p:nvPicPr>
          <p:cNvPr id="6149" name="Picture 5" descr="P1060876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26910" y="4839434"/>
            <a:ext cx="2528866" cy="1685910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0" y="925424"/>
            <a:ext cx="9073008" cy="492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269875" algn="ctr">
              <a:lnSpc>
                <a:spcPct val="80000"/>
              </a:lnSpc>
              <a:buFontTx/>
              <a:buNone/>
            </a:pPr>
            <a:r>
              <a:rPr lang="en-US" sz="1600" b="1" i="1" dirty="0" err="1">
                <a:solidFill>
                  <a:srgbClr val="990000"/>
                </a:solidFill>
                <a:latin typeface="Book Antiqua" panose="02040602050305030304" pitchFamily="18" charset="0"/>
              </a:rPr>
              <a:t>Oʻzbekiston</a:t>
            </a:r>
            <a:r>
              <a:rPr lang="en-US" sz="1600" b="1" i="1" dirty="0">
                <a:solidFill>
                  <a:srgbClr val="990000"/>
                </a:solidFill>
                <a:latin typeface="Book Antiqua" panose="02040602050305030304" pitchFamily="18" charset="0"/>
              </a:rPr>
              <a:t> </a:t>
            </a:r>
            <a:r>
              <a:rPr lang="en-US" sz="1600" b="1" i="1" dirty="0" err="1">
                <a:solidFill>
                  <a:srgbClr val="990000"/>
                </a:solidFill>
                <a:latin typeface="Book Antiqua" panose="02040602050305030304" pitchFamily="18" charset="0"/>
              </a:rPr>
              <a:t>Respublikasining</a:t>
            </a:r>
            <a:r>
              <a:rPr lang="en-US" sz="1600" b="1" i="1" dirty="0">
                <a:solidFill>
                  <a:srgbClr val="990000"/>
                </a:solidFill>
                <a:latin typeface="Book Antiqua" panose="02040602050305030304" pitchFamily="18" charset="0"/>
              </a:rPr>
              <a:t> </a:t>
            </a:r>
            <a:r>
              <a:rPr lang="en-US" sz="1600" b="1" i="1" dirty="0" err="1">
                <a:solidFill>
                  <a:srgbClr val="990000"/>
                </a:solidFill>
                <a:latin typeface="Book Antiqua" panose="02040602050305030304" pitchFamily="18" charset="0"/>
              </a:rPr>
              <a:t>Qonuni</a:t>
            </a:r>
            <a:endParaRPr lang="en-US" sz="1600" b="1" i="1" dirty="0">
              <a:solidFill>
                <a:srgbClr val="990000"/>
              </a:solidFill>
              <a:latin typeface="Book Antiqua" panose="02040602050305030304" pitchFamily="18" charset="0"/>
            </a:endParaRPr>
          </a:p>
          <a:p>
            <a:pPr marL="0" indent="269875" algn="ctr">
              <a:lnSpc>
                <a:spcPct val="80000"/>
              </a:lnSpc>
              <a:buFontTx/>
              <a:buNone/>
            </a:pPr>
            <a:r>
              <a:rPr lang="en-US" sz="1600" b="1" i="1" dirty="0" err="1">
                <a:solidFill>
                  <a:srgbClr val="990000"/>
                </a:solidFill>
                <a:latin typeface="Book Antiqua" panose="02040602050305030304" pitchFamily="18" charset="0"/>
              </a:rPr>
              <a:t>Bolalarni</a:t>
            </a:r>
            <a:r>
              <a:rPr lang="en-US" sz="1600" b="1" i="1" dirty="0">
                <a:solidFill>
                  <a:srgbClr val="990000"/>
                </a:solidFill>
                <a:latin typeface="Book Antiqua" panose="02040602050305030304" pitchFamily="18" charset="0"/>
              </a:rPr>
              <a:t> </a:t>
            </a:r>
            <a:r>
              <a:rPr lang="en-US" sz="1600" b="1" i="1" dirty="0" err="1">
                <a:solidFill>
                  <a:srgbClr val="990000"/>
                </a:solidFill>
                <a:latin typeface="Book Antiqua" panose="02040602050305030304" pitchFamily="18" charset="0"/>
              </a:rPr>
              <a:t>ularning</a:t>
            </a:r>
            <a:r>
              <a:rPr lang="en-US" sz="1600" b="1" i="1" dirty="0">
                <a:solidFill>
                  <a:srgbClr val="990000"/>
                </a:solidFill>
                <a:latin typeface="Book Antiqua" panose="02040602050305030304" pitchFamily="18" charset="0"/>
              </a:rPr>
              <a:t> </a:t>
            </a:r>
            <a:r>
              <a:rPr lang="en-US" sz="1600" b="1" i="1" dirty="0" err="1">
                <a:solidFill>
                  <a:srgbClr val="990000"/>
                </a:solidFill>
                <a:latin typeface="Book Antiqua" panose="02040602050305030304" pitchFamily="18" charset="0"/>
              </a:rPr>
              <a:t>sogʻligʻiga</a:t>
            </a:r>
            <a:r>
              <a:rPr lang="en-US" sz="1600" b="1" i="1" dirty="0">
                <a:solidFill>
                  <a:srgbClr val="990000"/>
                </a:solidFill>
                <a:latin typeface="Book Antiqua" panose="02040602050305030304" pitchFamily="18" charset="0"/>
              </a:rPr>
              <a:t> </a:t>
            </a:r>
            <a:r>
              <a:rPr lang="en-US" sz="1600" b="1" i="1" dirty="0" err="1">
                <a:solidFill>
                  <a:srgbClr val="990000"/>
                </a:solidFill>
                <a:latin typeface="Book Antiqua" panose="02040602050305030304" pitchFamily="18" charset="0"/>
              </a:rPr>
              <a:t>zarar</a:t>
            </a:r>
            <a:r>
              <a:rPr lang="en-US" sz="1600" b="1" i="1" dirty="0">
                <a:solidFill>
                  <a:srgbClr val="990000"/>
                </a:solidFill>
                <a:latin typeface="Book Antiqua" panose="02040602050305030304" pitchFamily="18" charset="0"/>
              </a:rPr>
              <a:t> </a:t>
            </a:r>
            <a:r>
              <a:rPr lang="en-US" sz="1600" b="1" i="1" dirty="0" err="1">
                <a:solidFill>
                  <a:srgbClr val="990000"/>
                </a:solidFill>
                <a:latin typeface="Book Antiqua" panose="02040602050305030304" pitchFamily="18" charset="0"/>
              </a:rPr>
              <a:t>yetkazuvchi</a:t>
            </a:r>
            <a:r>
              <a:rPr lang="en-US" sz="1600" b="1" i="1" dirty="0">
                <a:solidFill>
                  <a:srgbClr val="990000"/>
                </a:solidFill>
                <a:latin typeface="Book Antiqua" panose="02040602050305030304" pitchFamily="18" charset="0"/>
              </a:rPr>
              <a:t> </a:t>
            </a:r>
            <a:r>
              <a:rPr lang="en-US" sz="1600" b="1" i="1" dirty="0" err="1">
                <a:solidFill>
                  <a:srgbClr val="990000"/>
                </a:solidFill>
                <a:latin typeface="Book Antiqua" panose="02040602050305030304" pitchFamily="18" charset="0"/>
              </a:rPr>
              <a:t>axborotdan</a:t>
            </a:r>
            <a:r>
              <a:rPr lang="en-US" sz="1600" b="1" i="1" dirty="0">
                <a:solidFill>
                  <a:srgbClr val="990000"/>
                </a:solidFill>
                <a:latin typeface="Book Antiqua" panose="02040602050305030304" pitchFamily="18" charset="0"/>
              </a:rPr>
              <a:t> </a:t>
            </a:r>
            <a:r>
              <a:rPr lang="en-US" sz="1600" b="1" i="1" dirty="0" err="1">
                <a:solidFill>
                  <a:srgbClr val="990000"/>
                </a:solidFill>
                <a:latin typeface="Book Antiqua" panose="02040602050305030304" pitchFamily="18" charset="0"/>
              </a:rPr>
              <a:t>himoya</a:t>
            </a:r>
            <a:r>
              <a:rPr lang="en-US" sz="1600" b="1" i="1" dirty="0">
                <a:solidFill>
                  <a:srgbClr val="990000"/>
                </a:solidFill>
                <a:latin typeface="Book Antiqua" panose="02040602050305030304" pitchFamily="18" charset="0"/>
              </a:rPr>
              <a:t> </a:t>
            </a:r>
            <a:r>
              <a:rPr lang="en-US" sz="1600" b="1" i="1" dirty="0" err="1">
                <a:solidFill>
                  <a:srgbClr val="990000"/>
                </a:solidFill>
                <a:latin typeface="Book Antiqua" panose="02040602050305030304" pitchFamily="18" charset="0"/>
              </a:rPr>
              <a:t>qilish</a:t>
            </a:r>
            <a:r>
              <a:rPr lang="en-US" sz="1600" b="1" i="1" dirty="0">
                <a:solidFill>
                  <a:srgbClr val="990000"/>
                </a:solidFill>
                <a:latin typeface="Book Antiqua" panose="02040602050305030304" pitchFamily="18" charset="0"/>
              </a:rPr>
              <a:t> </a:t>
            </a:r>
            <a:r>
              <a:rPr lang="en-US" sz="1600" b="1" i="1" dirty="0" err="1">
                <a:solidFill>
                  <a:srgbClr val="990000"/>
                </a:solidFill>
                <a:latin typeface="Book Antiqua" panose="02040602050305030304" pitchFamily="18" charset="0"/>
              </a:rPr>
              <a:t>toʻgʻrisida</a:t>
            </a:r>
            <a:endParaRPr lang="en-US" sz="1600" b="1" i="1" dirty="0">
              <a:solidFill>
                <a:srgbClr val="990000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5" y="188914"/>
            <a:ext cx="8208143" cy="647700"/>
          </a:xfrm>
        </p:spPr>
        <p:txBody>
          <a:bodyPr/>
          <a:lstStyle/>
          <a:p>
            <a:r>
              <a:rPr lang="ru-RU" sz="3400" b="1" dirty="0">
                <a:solidFill>
                  <a:schemeClr val="bg1"/>
                </a:solidFill>
              </a:rPr>
              <a:t>Axborot xavfsizlik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96752"/>
            <a:ext cx="8892480" cy="1656183"/>
          </a:xfrm>
        </p:spPr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ru-RU" sz="2000" dirty="0"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bu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bolalarning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xavfsizligi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holati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bo'lib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,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unda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internetda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tarqatiladigan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ma'lumotlarni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,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shu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jumladan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ularning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sog'lig'iga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,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jismoniy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,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aqliy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,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ma'naviy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va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axloqiy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rivojlanishiga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zarar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yetkazish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xavfi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mavjud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bo’lmaganligidir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.</a:t>
            </a:r>
            <a:endParaRPr lang="ru-RU" sz="2400" b="1" dirty="0">
              <a:solidFill>
                <a:srgbClr val="000066"/>
              </a:solidFill>
              <a:latin typeface="Book Antiqua" pitchFamily="18" charset="0"/>
            </a:endParaRPr>
          </a:p>
        </p:txBody>
      </p:sp>
      <p:pic>
        <p:nvPicPr>
          <p:cNvPr id="5125" name="Picture 5" descr="теле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3568" y="3573016"/>
            <a:ext cx="2971800" cy="2225675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8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787015">
            <a:off x="5674486" y="3698001"/>
            <a:ext cx="2647228" cy="2405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539552" y="404083"/>
            <a:ext cx="8382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Muammolar  axborot xavfsizlik</a:t>
            </a:r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395536" y="1433680"/>
            <a:ext cx="8136904" cy="4062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/>
            <a:endParaRPr lang="ru-RU" dirty="0">
              <a:latin typeface="Book Antiqua" pitchFamily="18" charset="0"/>
            </a:endParaRPr>
          </a:p>
          <a:p>
            <a:pPr algn="l"/>
            <a:r>
              <a:rPr lang="ru-RU" sz="2400" b="1" dirty="0">
                <a:solidFill>
                  <a:srgbClr val="0000CC"/>
                </a:solidFill>
                <a:latin typeface="Book Antiqua" pitchFamily="18" charset="0"/>
              </a:rPr>
              <a:t>Xavfsizlik</a:t>
            </a:r>
            <a:r>
              <a:rPr lang="ru-RU" sz="2400" b="1" dirty="0">
                <a:latin typeface="Book Antiqua" pitchFamily="18" charset="0"/>
              </a:rPr>
              <a:t> - tahdidlarning yo'qligi yoki tahdidlardan himoyalanish holati.</a:t>
            </a:r>
          </a:p>
          <a:p>
            <a:r>
              <a:rPr lang="ru-RU" sz="2400" b="1" dirty="0">
                <a:solidFill>
                  <a:srgbClr val="0000CC"/>
                </a:solidFill>
                <a:latin typeface="Book Antiqua" pitchFamily="18" charset="0"/>
              </a:rPr>
              <a:t>Ma'lumot</a:t>
            </a:r>
            <a:r>
              <a:rPr lang="ru-RU" sz="2400" b="1" dirty="0">
                <a:latin typeface="Book Antiqua" pitchFamily="18" charset="0"/>
              </a:rPr>
              <a:t> - ma'lumotlar yoki xabarlar.</a:t>
            </a:r>
            <a:r>
              <a:rPr lang="ru-RU" sz="2400" b="1" dirty="0">
                <a:solidFill>
                  <a:srgbClr val="0000CC"/>
                </a:solidFill>
                <a:latin typeface="Book Antiqua" pitchFamily="18" charset="0"/>
              </a:rPr>
              <a:t> </a:t>
            </a:r>
          </a:p>
          <a:p>
            <a:r>
              <a:rPr lang="ru-RU" sz="2400" b="1" dirty="0">
                <a:solidFill>
                  <a:srgbClr val="0000CC"/>
                </a:solidFill>
                <a:latin typeface="Book Antiqua" pitchFamily="18" charset="0"/>
              </a:rPr>
              <a:t>Tahdid axborot xavfsizligi</a:t>
            </a:r>
            <a:r>
              <a:rPr lang="ru-RU" sz="2400" b="1" dirty="0">
                <a:latin typeface="Book Antiqua" pitchFamily="18" charset="0"/>
              </a:rPr>
              <a:t> - axborot sohasida shaxs, jamiyat va davlatning hayotiy manfaatlariga xavf tug'diradigan sharoitlar va omillar to'plami.</a:t>
            </a:r>
          </a:p>
          <a:p>
            <a:pPr algn="l"/>
            <a:endParaRPr lang="ru-RU" sz="2400" b="1" dirty="0">
              <a:latin typeface="Book Antiqua" pitchFamily="18" charset="0"/>
            </a:endParaRPr>
          </a:p>
          <a:p>
            <a:pPr algn="l"/>
            <a:endParaRPr lang="ru-RU" sz="2400" b="1" dirty="0">
              <a:latin typeface="Book Antiqua" pitchFamily="18" charset="0"/>
            </a:endParaRPr>
          </a:p>
          <a:p>
            <a:pPr algn="l"/>
            <a:endParaRPr lang="ru-RU" sz="2400" b="1" dirty="0">
              <a:latin typeface="Book Antiqua" pitchFamily="18" charset="0"/>
            </a:endParaRP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1043608" y="1052736"/>
            <a:ext cx="327685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ru-RU" sz="2800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Asosiy tushunchalar</a:t>
            </a: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/>
      <p:bldP spid="410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4"/>
            <a:ext cx="8229600" cy="647700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Statistika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2592512"/>
          </a:xfrm>
        </p:spPr>
        <p:txBody>
          <a:bodyPr/>
          <a:lstStyle/>
          <a:p>
            <a:pPr algn="ctr">
              <a:buFontTx/>
              <a:buNone/>
            </a:pPr>
            <a:r>
              <a:rPr lang="ru-RU" dirty="0">
                <a:latin typeface="Book Antiqua" pitchFamily="18" charset="0"/>
              </a:rPr>
              <a:t> </a:t>
            </a:r>
            <a:r>
              <a:rPr lang="ru-RU" b="1" dirty="0">
                <a:solidFill>
                  <a:srgbClr val="000066"/>
                </a:solidFill>
                <a:latin typeface="Book Antiqua" pitchFamily="18" charset="0"/>
              </a:rPr>
              <a:t>14 yoshgacha bo'lgan 10 million bola internetdan faol foydalanadi, </a:t>
            </a:r>
            <a:r>
              <a:rPr lang="ru-RU" b="1" dirty="0" err="1">
                <a:solidFill>
                  <a:srgbClr val="000066"/>
                </a:solidFill>
                <a:latin typeface="Book Antiqua" pitchFamily="18" charset="0"/>
              </a:rPr>
              <a:t>bu</a:t>
            </a:r>
            <a:r>
              <a:rPr lang="ru-RU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b="1" dirty="0">
                <a:solidFill>
                  <a:srgbClr val="000066"/>
                </a:solidFill>
                <a:latin typeface="Book Antiqua" pitchFamily="18" charset="0"/>
              </a:rPr>
              <a:t>5</a:t>
            </a:r>
            <a:r>
              <a:rPr lang="ru-RU" b="1" dirty="0">
                <a:solidFill>
                  <a:srgbClr val="000066"/>
                </a:solidFill>
                <a:latin typeface="Book Antiqua" pitchFamily="18" charset="0"/>
              </a:rPr>
              <a:t>% Internet -</a:t>
            </a:r>
            <a:r>
              <a:rPr lang="en-US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b="1" dirty="0" err="1">
                <a:solidFill>
                  <a:srgbClr val="000066"/>
                </a:solidFill>
                <a:latin typeface="Book Antiqua" pitchFamily="18" charset="0"/>
              </a:rPr>
              <a:t>foydalanuvchi</a:t>
            </a:r>
            <a:r>
              <a:rPr lang="ru-RU" b="1" dirty="0" err="1">
                <a:solidFill>
                  <a:srgbClr val="000066"/>
                </a:solidFill>
                <a:latin typeface="Book Antiqua" pitchFamily="18" charset="0"/>
              </a:rPr>
              <a:t>lar</a:t>
            </a:r>
            <a:r>
              <a:rPr lang="ru-RU" b="1" dirty="0">
                <a:solidFill>
                  <a:srgbClr val="000066"/>
                </a:solidFill>
                <a:latin typeface="Book Antiqua" pitchFamily="18" charset="0"/>
              </a:rPr>
              <a:t>  </a:t>
            </a:r>
            <a:r>
              <a:rPr lang="ru-RU" b="1" dirty="0" err="1">
                <a:solidFill>
                  <a:srgbClr val="000066"/>
                </a:solidFill>
                <a:latin typeface="Book Antiqua" pitchFamily="18" charset="0"/>
              </a:rPr>
              <a:t>bizning</a:t>
            </a:r>
            <a:r>
              <a:rPr lang="ru-RU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ru-RU" b="1" dirty="0" err="1">
                <a:solidFill>
                  <a:srgbClr val="000066"/>
                </a:solidFill>
                <a:latin typeface="Book Antiqua" pitchFamily="18" charset="0"/>
              </a:rPr>
              <a:t>mamlakat</a:t>
            </a:r>
            <a:r>
              <a:rPr lang="en-US" b="1" dirty="0" err="1">
                <a:solidFill>
                  <a:srgbClr val="000066"/>
                </a:solidFill>
                <a:latin typeface="Book Antiqua" pitchFamily="18" charset="0"/>
              </a:rPr>
              <a:t>dandir</a:t>
            </a:r>
            <a:r>
              <a:rPr lang="ru-RU" b="1" dirty="0">
                <a:solidFill>
                  <a:srgbClr val="000066"/>
                </a:solidFill>
                <a:latin typeface="Book Antiqua" pitchFamily="18" charset="0"/>
              </a:rPr>
              <a:t>.</a:t>
            </a:r>
          </a:p>
          <a:p>
            <a:pPr>
              <a:buFontTx/>
              <a:buNone/>
            </a:pPr>
            <a:endParaRPr lang="ru-RU" b="1" dirty="0">
              <a:latin typeface="Book Antiqua" pitchFamily="18" charset="0"/>
            </a:endParaRPr>
          </a:p>
        </p:txBody>
      </p:sp>
      <p:pic>
        <p:nvPicPr>
          <p:cNvPr id="7173" name="Picture 5" descr="ПК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2" y="3500438"/>
            <a:ext cx="3673475" cy="2811463"/>
          </a:xfrm>
          <a:prstGeom prst="rect">
            <a:avLst/>
          </a:prstGeom>
          <a:noFill/>
        </p:spPr>
      </p:pic>
      <p:pic>
        <p:nvPicPr>
          <p:cNvPr id="7174" name="Picture 6" descr="инет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750" y="3573465"/>
            <a:ext cx="2717800" cy="2808287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 descr="ТЕЛЕФОН (1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525" y="4149726"/>
            <a:ext cx="3163888" cy="2125663"/>
          </a:xfrm>
          <a:prstGeom prst="rect">
            <a:avLst/>
          </a:prstGeom>
          <a:noFill/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4"/>
            <a:ext cx="8229600" cy="647700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Statistika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2"/>
            <a:ext cx="5627688" cy="507365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Dunyoda 1.600.000.000 yosh yigit va qizlar mobil telefonlardan foydalanadilar </a:t>
            </a:r>
          </a:p>
          <a:p>
            <a:pPr>
              <a:lnSpc>
                <a:spcPct val="90000"/>
              </a:lnSpc>
            </a:pP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Allaqachon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20</a:t>
            </a:r>
            <a:r>
              <a:rPr lang="en-US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25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yilga </a:t>
            </a: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kelib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 </a:t>
            </a:r>
            <a:r>
              <a:rPr lang="en-US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Bizni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mobil telefonlar </a:t>
            </a: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soni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en-US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25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millionga etdi va statsionar qurilmalar sonidan oshib ketdi </a:t>
            </a:r>
          </a:p>
          <a:p>
            <a:pPr>
              <a:lnSpc>
                <a:spcPct val="9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20</a:t>
            </a:r>
            <a:r>
              <a:rPr lang="en-US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24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yil boshida uyali aloqa operatorlarining abonent </a:t>
            </a: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bazasida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en-US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30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million foydalanuvchi bor edi </a:t>
            </a:r>
          </a:p>
          <a:p>
            <a:pPr algn="r">
              <a:lnSpc>
                <a:spcPct val="90000"/>
              </a:lnSpc>
              <a:buFontTx/>
              <a:buNone/>
            </a:pPr>
            <a:r>
              <a:rPr lang="ru-RU" sz="2400" b="1" dirty="0">
                <a:solidFill>
                  <a:srgbClr val="990000"/>
                </a:solidFill>
                <a:latin typeface="Book Antiqua" panose="02040602050305030304" pitchFamily="18" charset="0"/>
              </a:rPr>
              <a:t>		</a:t>
            </a:r>
          </a:p>
        </p:txBody>
      </p:sp>
      <p:pic>
        <p:nvPicPr>
          <p:cNvPr id="8201" name="Picture 9" descr="теле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3663" y="1412875"/>
            <a:ext cx="2400300" cy="1905000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4"/>
            <a:ext cx="8229600" cy="647700"/>
          </a:xfrm>
        </p:spPr>
        <p:txBody>
          <a:bodyPr/>
          <a:lstStyle/>
          <a:p>
            <a:r>
              <a:rPr lang="ru-RU" sz="3600" b="1" dirty="0">
                <a:solidFill>
                  <a:schemeClr val="bg1"/>
                </a:solidFill>
              </a:rPr>
              <a:t>Evropadagi so'rov ma'lumotlari</a:t>
            </a:r>
            <a:r>
              <a:rPr lang="ru-RU" dirty="0"/>
              <a:t>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2" y="1052512"/>
            <a:ext cx="5338763" cy="5073651"/>
          </a:xfrm>
        </p:spPr>
        <p:txBody>
          <a:bodyPr/>
          <a:lstStyle/>
          <a:p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Uyali telefonlarda 12 yoshdan 19 yoshgacha bo'lgan bolalarning taxminan 90% va 9-12 yoshdagi bolalarning taxminan yarmi bor,</a:t>
            </a:r>
          </a:p>
          <a:p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Ba'zi mamlakatlarda, odatda, sakkiz yoshga to'lganida bolalarga "mobil telefonlar" berish odat tusiga kiradi. </a:t>
            </a:r>
          </a:p>
        </p:txBody>
      </p:sp>
      <p:pic>
        <p:nvPicPr>
          <p:cNvPr id="9220" name="Picture 4" descr="телефон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192" y="1124744"/>
            <a:ext cx="2495550" cy="3332163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9221" name="Picture 5" descr="сот связь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79912" y="3933056"/>
            <a:ext cx="3744416" cy="2343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4"/>
            <a:ext cx="8229600" cy="647700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Turlari onlayn tahdidlar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340768"/>
            <a:ext cx="8507412" cy="4497388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Jinsiy xarakterdagi ochiq materiallar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Virtual tanishlar va do'stlar 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Kiberbulling</a:t>
            </a: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 (</a:t>
            </a:r>
            <a:r>
              <a:rPr lang="ru-RU" sz="28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cyberbullying</a:t>
            </a: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) o'smir virtual terror 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Bullitsid</a:t>
            </a: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 - psixologik zo'ravonlik orqali bolani o'z joniga qasd qilish 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Ekstremistik va terroristik materiallarni o'z ichiga olgan elektron manbalar.</a:t>
            </a:r>
          </a:p>
          <a:p>
            <a:pPr marL="609600" indent="-609600">
              <a:lnSpc>
                <a:spcPct val="80000"/>
              </a:lnSpc>
            </a:pPr>
            <a:endParaRPr lang="ru-RU" sz="2800" b="1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4"/>
            <a:ext cx="8229600" cy="647700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Turlari onlayn tahdidlar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628802"/>
            <a:ext cx="8064896" cy="3600623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Buzg'unchi diniy mazhablar tomonidan yaratilgan va qo'llab-quvvatlanadigan elektron resurslar. 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Kompyuter firibgarlari, spamerlar, fisherlar. 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Giyohvand moddalar, zo'ravonlik va shafqatsizlik, o'z joniga qasd qilish xatti-harakatlari, abortlar, o'z-o'ziga </a:t>
            </a:r>
            <a:r>
              <a:rPr lang="ru-RU" sz="28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zarar</a:t>
            </a: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y</a:t>
            </a:r>
            <a:r>
              <a:rPr lang="ru-RU" sz="28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etkazish</a:t>
            </a: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Yopiq guruhlarda ro'yxatdan o'tish</a:t>
            </a:r>
          </a:p>
          <a:p>
            <a:pPr marL="609600" indent="-609600">
              <a:lnSpc>
                <a:spcPct val="80000"/>
              </a:lnSpc>
            </a:pPr>
            <a:endParaRPr lang="ru-RU" sz="2800" b="1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4"/>
            <a:ext cx="8229600" cy="647700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Turlari onlayn tahdidlar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052514"/>
            <a:ext cx="8676456" cy="4968775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endParaRPr lang="ru-RU" sz="2800" b="1" dirty="0">
              <a:solidFill>
                <a:srgbClr val="990000"/>
              </a:solidFill>
              <a:latin typeface="Book Antiqua" panose="02040602050305030304" pitchFamily="18" charset="0"/>
            </a:endParaRP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990000"/>
                </a:solidFill>
                <a:latin typeface="Book Antiqua" panose="02040602050305030304" pitchFamily="18" charset="0"/>
              </a:rPr>
              <a:t>Shubhali </a:t>
            </a: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o'yin-kulgi: jinsiy aloqa, shafqatsizlik va zo'ravonlikni targ'ib qiluvchi onlayn o'yinlar.</a:t>
            </a:r>
            <a:r>
              <a:rPr lang="ru-RU" sz="2800" b="1" dirty="0">
                <a:solidFill>
                  <a:srgbClr val="990000"/>
                </a:solidFill>
                <a:latin typeface="Book Antiqua" panose="02040602050305030304" pitchFamily="18" charset="0"/>
              </a:rPr>
              <a:t> 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990000"/>
                </a:solidFill>
                <a:latin typeface="Book Antiqua" panose="02040602050305030304" pitchFamily="18" charset="0"/>
              </a:rPr>
              <a:t>Ijtimoiy tarmoqlar va bloglar, </a:t>
            </a: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bunda bola o'zi haqida juda ko'p haqiqiy ma'lumotlarni qoldiradi, xavfli tanishlar o'rnatadi, ko'pincha u uchun sezilmaydigan halokatli psixologik va axloqiy va ma'naviy davolanishga duchor bo'ladi. </a:t>
            </a:r>
          </a:p>
        </p:txBody>
      </p:sp>
    </p:spTree>
    <p:extLst>
      <p:ext uri="{BB962C8B-B14F-4D97-AF65-F5344CB8AC3E}">
        <p14:creationId xmlns:p14="http://schemas.microsoft.com/office/powerpoint/2010/main" val="2300523405"/>
      </p:ext>
    </p:extLst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4" name="Rectangle 28"/>
          <p:cNvSpPr>
            <a:spLocks noGrp="1" noChangeArrowheads="1"/>
          </p:cNvSpPr>
          <p:nvPr>
            <p:ph type="title"/>
          </p:nvPr>
        </p:nvSpPr>
        <p:spPr>
          <a:xfrm>
            <a:off x="457200" y="274639"/>
            <a:ext cx="8229600" cy="633412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PEGI logotiplari</a:t>
            </a:r>
          </a:p>
        </p:txBody>
      </p:sp>
      <p:graphicFrame>
        <p:nvGraphicFramePr>
          <p:cNvPr id="14386" name="Group 5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016580"/>
              </p:ext>
            </p:extLst>
          </p:nvPr>
        </p:nvGraphicFramePr>
        <p:xfrm>
          <a:off x="395288" y="1073151"/>
          <a:ext cx="8425184" cy="5452193"/>
        </p:xfrm>
        <a:graphic>
          <a:graphicData uri="http://schemas.openxmlformats.org/drawingml/2006/table">
            <a:tbl>
              <a:tblPr/>
              <a:tblGrid>
                <a:gridCol w="1265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0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1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Bad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Language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- Haqoratli so'zlar</a:t>
                      </a:r>
                      <a:b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O'yin qo'pol va odobsiz iboralarni o'z ichiga oladi.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9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Discrimination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- Kamsitish</a:t>
                      </a:r>
                      <a:b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Mahsulotda ba'zi ijtimoiy guruhlarni kamsitishi yoki kamsitishi mumkin bo'lgan sahnalar yoki materiallarning mavjudligi.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7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Fear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- Qo'rquv:</a:t>
                      </a:r>
                      <a:b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O'yin materiallari qo'rqinchli bo'lishi mumkin </a:t>
                      </a: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va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yosh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bolalar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uchun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qo'rqinchli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.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1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Gambling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- Qimor o'yinlari</a:t>
                      </a:r>
                      <a:b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O'yinda qimor o'ynash va pul tikish, shu jumladan haqiqiy pul bilan o'ynash imkoniyati mavjud.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43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Sexual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Content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- Odobsizlik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O'yinda yalang'ochlik va / yoki jinsiy munosabatlar sahnalari mavjud.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1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Violence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- Zo'ravonlik</a:t>
                      </a:r>
                      <a:b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O'yin zo'ravonlik sahnalari bilan to'la.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367" name="Picture 31" descr="1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196752"/>
            <a:ext cx="503856" cy="503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72" name="Picture 36" descr="1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1988840"/>
            <a:ext cx="7207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76" name="Picture 40" descr="1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3068960"/>
            <a:ext cx="719137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81" name="Picture 45" descr="1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077072"/>
            <a:ext cx="648072" cy="648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84" name="Picture 48" descr="11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3568" y="5013176"/>
            <a:ext cx="576434" cy="576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87" name="Picture 51" descr="11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3568" y="5877272"/>
            <a:ext cx="576064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"/>
            <a:ext cx="8229600" cy="692151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Internetga qaramlik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556792"/>
            <a:ext cx="8507412" cy="4320480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en-US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Jalb</a:t>
            </a:r>
            <a:r>
              <a:rPr lang="en-US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qiluvchi</a:t>
            </a:r>
            <a:r>
              <a:rPr lang="en-US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ru-RU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veb</a:t>
            </a: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-</a:t>
            </a:r>
            <a:r>
              <a:rPr lang="en-US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serfing</a:t>
            </a: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-</a:t>
            </a:r>
            <a:r>
              <a:rPr lang="ru-RU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Butunjahon</a:t>
            </a: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Internet tarmog'ida cheksiz sayohatlar, ma'lumot qidirish.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Virtual aloqa va virtual tanishishga qaramlik-katta miqdordagi yozishmalar, suhbat xonalarida, veb-forumlarda doimiy ishtirok etish, tarmoqdagi tanishlar va do'stlarning ortiqcha bo'lishi.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O'yinga qaramlik-tarmoqdagi kompyuter </a:t>
            </a:r>
            <a:r>
              <a:rPr lang="ru-RU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o'yinlariga</a:t>
            </a: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mukkasidan</a:t>
            </a:r>
            <a:r>
              <a:rPr lang="en-US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ru-RU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qiziqish</a:t>
            </a: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.</a:t>
            </a: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"/>
            <a:ext cx="8229600" cy="692151"/>
          </a:xfrm>
        </p:spPr>
        <p:txBody>
          <a:bodyPr/>
          <a:lstStyle/>
          <a:p>
            <a:r>
              <a:rPr lang="ru-RU" sz="4000" b="1">
                <a:solidFill>
                  <a:schemeClr val="bg1"/>
                </a:solidFill>
              </a:rPr>
              <a:t>Internetga qaramlik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124744"/>
            <a:ext cx="8507412" cy="4752528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Majburiy moliyaviy ehtiyoj-onlayn qimor o'ynash, Internet-do'konlarda keraksiz xaridlar yoki Internet-kim oshdi savdosida doimiy ishtirok etish.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Internetda filmlarni tomosha qilishga moyillik, bu erda bemor deyarli har qanday film yoki dasturni internetda ko'rish mumkinligi sababli kun bo'yi ekran oldida dam olishi mumkin.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Cyber</a:t>
            </a:r>
            <a:r>
              <a:rPr lang="en-US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qullik</a:t>
            </a:r>
            <a:r>
              <a:rPr lang="en-US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,</a:t>
            </a: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ru-RU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giyohvandlik</a:t>
            </a: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-</a:t>
            </a:r>
            <a:r>
              <a:rPr lang="en-US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behayo</a:t>
            </a: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saytlarga tashrif buyurish </a:t>
            </a:r>
            <a:r>
              <a:rPr lang="ru-RU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va</a:t>
            </a: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behayo</a:t>
            </a:r>
            <a:r>
              <a:rPr lang="en-US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amallar</a:t>
            </a:r>
            <a:r>
              <a:rPr lang="en-US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ru-RU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bilan</a:t>
            </a: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shug'ullanish uchun majburiy jalb qilish. </a:t>
            </a:r>
          </a:p>
        </p:txBody>
      </p:sp>
    </p:spTree>
    <p:extLst>
      <p:ext uri="{BB962C8B-B14F-4D97-AF65-F5344CB8AC3E}">
        <p14:creationId xmlns:p14="http://schemas.microsoft.com/office/powerpoint/2010/main" val="3721664804"/>
      </p:ext>
    </p:extLst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"/>
            <a:ext cx="8229600" cy="777875"/>
          </a:xfrm>
        </p:spPr>
        <p:txBody>
          <a:bodyPr/>
          <a:lstStyle/>
          <a:p>
            <a:r>
              <a:rPr lang="ru-RU" sz="3200" b="1">
                <a:solidFill>
                  <a:schemeClr val="bg1"/>
                </a:solidFill>
              </a:rPr>
              <a:t>Internetga qaramlik belgilari:</a:t>
            </a:r>
            <a:r>
              <a:rPr lang="ru-RU" sz="4000"/>
              <a:t>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052736"/>
            <a:ext cx="8353623" cy="251993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kasbiy, o'quv yoki boshqa ijodiy faoliyat bilan bog'liq bo'lmagan tarmoqdagi ish davomiyligini haddan tashqari, g'ayratli suiiste'mol qilish; </a:t>
            </a:r>
          </a:p>
          <a:p>
            <a:pPr>
              <a:lnSpc>
                <a:spcPct val="80000"/>
              </a:lnSpc>
            </a:pPr>
            <a:r>
              <a:rPr lang="en-US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internetdan</a:t>
            </a:r>
            <a:r>
              <a:rPr lang="en-US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asosiy</a:t>
            </a:r>
            <a:r>
              <a:rPr lang="en-US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muloqot</a:t>
            </a:r>
            <a:r>
              <a:rPr lang="en-US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vositasi</a:t>
            </a:r>
            <a:r>
              <a:rPr lang="en-US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sifatida</a:t>
            </a:r>
            <a:r>
              <a:rPr lang="en-US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foydalanish</a:t>
            </a:r>
            <a:r>
              <a:rPr lang="en-US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;</a:t>
            </a:r>
            <a:endParaRPr lang="ru-RU" sz="2800" b="1" dirty="0">
              <a:solidFill>
                <a:srgbClr val="000066"/>
              </a:solidFill>
              <a:latin typeface="Book Antiqua" panose="02040602050305030304" pitchFamily="18" charset="0"/>
            </a:endParaRPr>
          </a:p>
        </p:txBody>
      </p:sp>
      <p:pic>
        <p:nvPicPr>
          <p:cNvPr id="15364" name="Picture 4" descr="инет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3933056"/>
            <a:ext cx="3903254" cy="21963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6939153"/>
      </p:ext>
    </p:extLst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"/>
            <a:ext cx="8229600" cy="777875"/>
          </a:xfrm>
        </p:spPr>
        <p:txBody>
          <a:bodyPr/>
          <a:lstStyle/>
          <a:p>
            <a:r>
              <a:rPr lang="ru-RU" sz="3200" b="1" dirty="0" err="1">
                <a:solidFill>
                  <a:schemeClr val="bg1"/>
                </a:solidFill>
              </a:rPr>
              <a:t>Internetga</a:t>
            </a:r>
            <a:r>
              <a:rPr lang="ru-RU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qaramlik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ru-RU" sz="3200" b="1" dirty="0" err="1">
                <a:solidFill>
                  <a:schemeClr val="bg1"/>
                </a:solidFill>
              </a:rPr>
              <a:t>Belgilar</a:t>
            </a:r>
            <a:r>
              <a:rPr lang="en-US" sz="3200" b="1" dirty="0" err="1">
                <a:solidFill>
                  <a:schemeClr val="bg1"/>
                </a:solidFill>
              </a:rPr>
              <a:t>i</a:t>
            </a:r>
            <a:r>
              <a:rPr lang="ru-RU" sz="3200" b="1" dirty="0">
                <a:solidFill>
                  <a:schemeClr val="bg1"/>
                </a:solidFill>
              </a:rPr>
              <a:t>:</a:t>
            </a:r>
            <a:r>
              <a:rPr lang="ru-RU" sz="4000" dirty="0"/>
              <a:t>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7" y="981075"/>
            <a:ext cx="8281615" cy="518318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haqiqiy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tasvirlardan juda uzoq bo'lgan </a:t>
            </a: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virtual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tasvirlar</a:t>
            </a:r>
            <a:r>
              <a:rPr lang="en-US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ni</a:t>
            </a:r>
            <a:r>
              <a:rPr lang="en-US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yaratish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va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foydalanish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;</a:t>
            </a:r>
          </a:p>
          <a:p>
            <a:pPr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Internet o'yinlarini jalb qilish va(yoki) zararli </a:t>
            </a: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dasturlarni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(hech qanday </a:t>
            </a: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maqsadsiz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) </a:t>
            </a:r>
            <a:r>
              <a:rPr lang="ru-RU" sz="2400" b="1" dirty="0" err="1">
                <a:solidFill>
                  <a:srgbClr val="000066"/>
                </a:solidFill>
                <a:latin typeface="Book Antiqua" panose="02040602050305030304" pitchFamily="18" charset="0"/>
              </a:rPr>
              <a:t>yaratish</a:t>
            </a: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; </a:t>
            </a:r>
          </a:p>
          <a:p>
            <a:pPr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tarmoqda ishlamasdan sub'ektiv ravishda qabul qilinadigan qobiliyatsizlik </a:t>
            </a:r>
          </a:p>
        </p:txBody>
      </p:sp>
      <p:pic>
        <p:nvPicPr>
          <p:cNvPr id="6" name="Picture 6" descr="http://zona-zarabotka.ru/wp-content/uploads/2015/09/kak-zarabotat-e144206974913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068960"/>
            <a:ext cx="4753198" cy="3168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908051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Buni bilish juda muhim!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7" y="1125537"/>
            <a:ext cx="8497637" cy="23754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Saytlarda ro'yxatdan o'tganingizda, shaxsiy ma'lumotlarni (mobil telefon raqami, yashash manzili va boshqa ma'lumotlar) ko'rsatmang. 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V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eb-kamera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  faqat do'stlar bilan 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muloqot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qilishda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Foydalaning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. Chet elliklar sizning suhbatingizni ko'ra olmasligiga ishonch hosil qiling. </a:t>
            </a:r>
          </a:p>
          <a:p>
            <a:pPr>
              <a:lnSpc>
                <a:spcPct val="90000"/>
              </a:lnSpc>
              <a:buNone/>
            </a:pPr>
            <a:endParaRPr lang="ru-RU" sz="2400" b="1" dirty="0">
              <a:solidFill>
                <a:srgbClr val="000066"/>
              </a:solidFill>
              <a:latin typeface="Book Antiqua" pitchFamily="18" charset="0"/>
            </a:endParaRPr>
          </a:p>
        </p:txBody>
      </p:sp>
      <p:pic>
        <p:nvPicPr>
          <p:cNvPr id="16388" name="Picture 4" descr="инет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3356992"/>
            <a:ext cx="4176464" cy="2947524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908051"/>
          </a:xfrm>
        </p:spPr>
        <p:txBody>
          <a:bodyPr/>
          <a:lstStyle/>
          <a:p>
            <a:r>
              <a:rPr lang="ru-RU" sz="4000" b="1">
                <a:solidFill>
                  <a:schemeClr val="bg1"/>
                </a:solidFill>
              </a:rPr>
              <a:t>Buni bilish juda muhim!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7" y="1125537"/>
            <a:ext cx="8425629" cy="3959647"/>
          </a:xfrm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rgbClr val="FF0000"/>
                </a:solidFill>
                <a:latin typeface="Book Antiqua" pitchFamily="18" charset="0"/>
              </a:rPr>
              <a:t>Sen shuni bilishingiz kerakki, agar siz internetda fotosuratlar yoki videolarni joylashtirsangiz, hamma ularni ko'rishi mumkin. </a:t>
            </a:r>
          </a:p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Book Antiqua" pitchFamily="18" charset="0"/>
              </a:rPr>
              <a:t>Boshqa odamlar tasvirlangan fotosuratlarni joylashtirmang. Buni faqat ularning roziligi bilan qiling. </a:t>
            </a:r>
          </a:p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rgbClr val="FFC000"/>
                </a:solidFill>
                <a:latin typeface="Book Antiqua" pitchFamily="18" charset="0"/>
              </a:rPr>
              <a:t>Agar sizga notanish manzildan xabar kelgan bo'lsa, uni ochmaslik yaxshiroqdir. Bunday xatlarda viruslar bo'lishi mumkin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. </a:t>
            </a:r>
          </a:p>
          <a:p>
            <a:pPr algn="ctr">
              <a:lnSpc>
                <a:spcPct val="90000"/>
              </a:lnSpc>
              <a:buNone/>
            </a:pPr>
            <a:endParaRPr lang="ru-RU" sz="2400" b="1" dirty="0">
              <a:solidFill>
                <a:srgbClr val="000066"/>
              </a:solidFill>
              <a:latin typeface="Book Antiqua" pitchFamily="18" charset="0"/>
            </a:endParaRPr>
          </a:p>
        </p:txBody>
      </p:sp>
      <p:pic>
        <p:nvPicPr>
          <p:cNvPr id="7" name="Picture 4" descr="комп 3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3356992"/>
            <a:ext cx="2988840" cy="2906199"/>
          </a:xfrm>
          <a:prstGeom prst="rect">
            <a:avLst/>
          </a:prstGeom>
          <a:noFill/>
        </p:spPr>
      </p:pic>
      <p:pic>
        <p:nvPicPr>
          <p:cNvPr id="5" name="Picture 4" descr="инет18"/>
          <p:cNvPicPr>
            <a:picLocks noChangeAspect="1" noChangeArrowheads="1"/>
          </p:cNvPicPr>
          <p:nvPr/>
        </p:nvPicPr>
        <p:blipFill>
          <a:blip r:embed="rId3" cstate="print"/>
          <a:srcRect l="18925" t="14061" r="1167" b="32667"/>
          <a:stretch>
            <a:fillRect/>
          </a:stretch>
        </p:blipFill>
        <p:spPr bwMode="auto">
          <a:xfrm>
            <a:off x="467544" y="3717032"/>
            <a:ext cx="3888432" cy="2592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08051"/>
          </a:xfrm>
        </p:spPr>
        <p:txBody>
          <a:bodyPr/>
          <a:lstStyle/>
          <a:p>
            <a:r>
              <a:rPr lang="ru-RU" sz="4000" b="1">
                <a:solidFill>
                  <a:schemeClr val="bg1"/>
                </a:solidFill>
              </a:rPr>
              <a:t>Buni bilish juda muhim!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6980" y="1124744"/>
            <a:ext cx="8229600" cy="2951533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N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ashr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etilganidan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 afsuslanmaydigan 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bunday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ma'lumotlar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ni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faqat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Nashr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eting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. </a:t>
            </a:r>
          </a:p>
          <a:p>
            <a:pPr algn="ctr">
              <a:lnSpc>
                <a:spcPct val="80000"/>
              </a:lnSpc>
            </a:pP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Notanish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odamlar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dan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 kiruvchi elektron pochta xabarlari "spam"deb nomlanadi. Agar siz bunday xatni olgan bo'lsangiz, unga javob bermang. </a:t>
            </a:r>
          </a:p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Agar siz bunday elektron pochtaga javob berasiz, jo'natuvchi sizning elektron pochta qutingizdan foydalanayotganingizni bilib oladi va sizga spam yuborishda davom etadi. </a:t>
            </a:r>
          </a:p>
        </p:txBody>
      </p:sp>
      <p:pic>
        <p:nvPicPr>
          <p:cNvPr id="17412" name="Picture 4" descr="инет18"/>
          <p:cNvPicPr>
            <a:picLocks noChangeAspect="1" noChangeArrowheads="1"/>
          </p:cNvPicPr>
          <p:nvPr/>
        </p:nvPicPr>
        <p:blipFill>
          <a:blip r:embed="rId2" cstate="print"/>
          <a:srcRect l="18925" t="14061" r="1167" b="32667"/>
          <a:stretch>
            <a:fillRect/>
          </a:stretch>
        </p:blipFill>
        <p:spPr bwMode="auto">
          <a:xfrm>
            <a:off x="4788024" y="3717032"/>
            <a:ext cx="3888432" cy="2592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5" descr="http://i.penzainform.ru/sales/computer/services/remont_nastrojka_kompyuterov_00035BD8H/330863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762" r="7938"/>
          <a:stretch>
            <a:fillRect/>
          </a:stretch>
        </p:blipFill>
        <p:spPr bwMode="auto">
          <a:xfrm>
            <a:off x="0" y="3861048"/>
            <a:ext cx="3644900" cy="2660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 descr="инет 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43577" y="1484313"/>
            <a:ext cx="3154363" cy="4465637"/>
          </a:xfrm>
          <a:prstGeom prst="rect">
            <a:avLst/>
          </a:prstGeom>
          <a:noFill/>
        </p:spPr>
      </p:pic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9"/>
            <a:ext cx="8229600" cy="633412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Internet odob-axloq qoidalari</a:t>
            </a:r>
            <a:r>
              <a:rPr lang="ru-RU" sz="4000" dirty="0">
                <a:solidFill>
                  <a:srgbClr val="990000"/>
                </a:solidFill>
              </a:rPr>
              <a:t>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916832"/>
            <a:ext cx="5472608" cy="3240359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Siz muloqot qilganingizda 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onlayn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, boshqa odamlarga qanday munosabatda bo'lishni xohlasangiz, shunday munosabatda bo'ling. </a:t>
            </a:r>
          </a:p>
          <a:p>
            <a:pPr algn="ctr">
              <a:lnSpc>
                <a:spcPct val="80000"/>
              </a:lnSpc>
            </a:pP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Siz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onlayn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bo'lganingizda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"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tarmoq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 odob-axloq qoidalarini" 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o'rganing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 . </a:t>
            </a:r>
          </a:p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Agar kimdir qo'pol yoki yoqimsiz narsa aytsa, javob bermang. </a:t>
            </a: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30" name="Picture 6" descr="момент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68144" y="3861048"/>
            <a:ext cx="2742523" cy="2520280"/>
          </a:xfrm>
          <a:prstGeom prst="rect">
            <a:avLst/>
          </a:prstGeom>
          <a:noFill/>
        </p:spPr>
      </p:pic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777875"/>
          </a:xfr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</a:rPr>
              <a:t>Agar siz onlayn muhitda bezorilik qilsangiz:</a:t>
            </a:r>
            <a:r>
              <a:rPr lang="ru-RU" sz="3200" dirty="0"/>
              <a:t> 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24745"/>
            <a:ext cx="8640960" cy="3816424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E'tibor bermang. Jinoyatchiga javob bermang. Agar u javob olmasa, u bundan zerikib, ketishi mumkin. </a:t>
            </a:r>
          </a:p>
          <a:p>
            <a:pPr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Bu odamni bloklang. Bu sizni ma'lum bir Foydalanuvchining xabarlarini ko'rishdan himoya qiladi. </a:t>
            </a:r>
          </a:p>
          <a:p>
            <a:pPr>
              <a:lnSpc>
                <a:spcPct val="80000"/>
              </a:lnSpc>
            </a:pP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D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alillar</a:t>
            </a:r>
            <a:r>
              <a:rPr lang="en-US" sz="2400" b="1" dirty="0" err="1">
                <a:solidFill>
                  <a:srgbClr val="000066"/>
                </a:solidFill>
                <a:latin typeface="Book Antiqua" pitchFamily="18" charset="0"/>
              </a:rPr>
              <a:t>ni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Saqla</a:t>
            </a:r>
            <a:r>
              <a:rPr lang="en-US" sz="2400" b="1" dirty="0">
                <a:solidFill>
                  <a:srgbClr val="000066"/>
                </a:solidFill>
                <a:latin typeface="Book Antiqua" pitchFamily="18" charset="0"/>
              </a:rPr>
              <a:t>ng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. Bu sizni qo'rqitmoqchi bo'lgan odamni topish uchun foydali bo'lishi mumkin. Matnlar, elektron pochta xabarlari, onlayn suhbatlar yoki ovozli pochta xabarlarini dalil sifatida saqlang. </a:t>
            </a:r>
          </a:p>
          <a:p>
            <a:pPr>
              <a:lnSpc>
                <a:spcPct val="80000"/>
              </a:lnSpc>
            </a:pPr>
            <a:endParaRPr lang="ru-RU" sz="2400" b="1" dirty="0">
              <a:solidFill>
                <a:srgbClr val="000066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инет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4077072"/>
            <a:ext cx="3910372" cy="2354312"/>
          </a:xfrm>
          <a:prstGeom prst="rect">
            <a:avLst/>
          </a:prstGeom>
          <a:noFill/>
        </p:spPr>
      </p:pic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-180528" y="116633"/>
            <a:ext cx="9505056" cy="1296143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Onlayn muhitda sizning huquqlaringiz</a:t>
            </a:r>
            <a:r>
              <a:rPr lang="ru-RU" sz="4000" dirty="0">
                <a:solidFill>
                  <a:schemeClr val="bg1"/>
                </a:solidFill>
              </a:rPr>
              <a:t> </a:t>
            </a:r>
            <a:br>
              <a:rPr lang="ru-RU" sz="4000" dirty="0">
                <a:solidFill>
                  <a:schemeClr val="bg1"/>
                </a:solidFill>
              </a:rPr>
            </a:b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9"/>
            <a:ext cx="8820150" cy="5399087"/>
          </a:xfrm>
        </p:spPr>
        <p:txBody>
          <a:bodyPr/>
          <a:lstStyle/>
          <a:p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Siz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huquqlarga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egasiz-va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boshqa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odamlar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ularni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hurmat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qilishlari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kerak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.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Siz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hech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qachon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boshqa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odamlarning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ta'qibiga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yoki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qo'rqitishiga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toqat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qilmasligingiz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kerak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.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Haqiqiy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hayot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qonunlari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onlayn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muhitda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ham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amal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qiladi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. </a:t>
            </a:r>
          </a:p>
          <a:p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Siz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shaxsiy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ma'lumotlaringizni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himoya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qilish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huquqiga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egasiz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.</a:t>
            </a:r>
            <a:endParaRPr lang="ru-RU" sz="2800" b="1" dirty="0">
              <a:solidFill>
                <a:srgbClr val="000066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-164780" y="0"/>
            <a:ext cx="9417300" cy="908051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Onlayn muhitda sizning huquqlaringiz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24744"/>
            <a:ext cx="8064896" cy="460851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Siz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ma'lumot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va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xizmatlardan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foydalanish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huquqiga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egasiz</a:t>
            </a:r>
            <a:endParaRPr lang="en-US" sz="2800" b="1" dirty="0">
              <a:solidFill>
                <a:srgbClr val="000066"/>
              </a:solidFill>
              <a:latin typeface="Book Antiqua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Siz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o'zingizni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erkin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ifoda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etish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va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o'zingizni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hurmat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qilish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huquqiga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egasiz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va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shu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bilan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birga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boshqalarni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doimo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hurmat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qilishingiz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kerak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. </a:t>
            </a:r>
          </a:p>
          <a:p>
            <a:pPr>
              <a:lnSpc>
                <a:spcPct val="80000"/>
              </a:lnSpc>
            </a:pP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Siz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internetda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nashr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etilgan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yoki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mavjud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bo'lgan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har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qanday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narsani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erkin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muhokama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qilishingiz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va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tanqid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qilishingiz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mumkin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. </a:t>
            </a:r>
          </a:p>
          <a:p>
            <a:pPr>
              <a:lnSpc>
                <a:spcPct val="80000"/>
              </a:lnSpc>
            </a:pP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Siz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onlayn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muhitda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sizni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noqulay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his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qiladigan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narsani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so'ragan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kishiga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yo'q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deyishga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 </a:t>
            </a:r>
            <a:r>
              <a:rPr lang="en-US" sz="2800" b="1" dirty="0" err="1">
                <a:solidFill>
                  <a:srgbClr val="000066"/>
                </a:solidFill>
                <a:latin typeface="Book Antiqua" pitchFamily="18" charset="0"/>
              </a:rPr>
              <a:t>haqlisiz</a:t>
            </a:r>
            <a:r>
              <a:rPr lang="en-US" sz="2800" b="1" dirty="0">
                <a:solidFill>
                  <a:srgbClr val="000066"/>
                </a:solidFill>
                <a:latin typeface="Book Antiqua" pitchFamily="18" charset="0"/>
              </a:rPr>
              <a:t>.</a:t>
            </a:r>
            <a:endParaRPr lang="ru-RU" sz="2800" dirty="0">
              <a:solidFill>
                <a:srgbClr val="000066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1268760"/>
            <a:ext cx="5257130" cy="3946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539552" y="5373216"/>
            <a:ext cx="831711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defRPr/>
            </a:pPr>
            <a:r>
              <a:rPr lang="en-US" sz="2000" b="1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Y</a:t>
            </a:r>
            <a:r>
              <a:rPr lang="ru-RU" sz="2000" b="1" dirty="0" err="1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o'l</a:t>
            </a:r>
            <a:r>
              <a:rPr lang="ru-RU" sz="2000" b="1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harakati qoidalari </a:t>
            </a:r>
            <a:r>
              <a:rPr lang="ru-RU" sz="2000" b="1" dirty="0" err="1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kabi</a:t>
            </a:r>
            <a:r>
              <a:rPr lang="ru-RU" sz="2000" b="1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b="1" dirty="0" err="1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Internetda</a:t>
            </a:r>
            <a:r>
              <a:rPr lang="ru-RU" sz="2000" b="1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ham </a:t>
            </a:r>
            <a:r>
              <a:rPr lang="ru-RU" sz="2000" b="1" dirty="0" err="1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asosiy</a:t>
            </a:r>
            <a:r>
              <a:rPr lang="ru-RU" sz="2000" b="1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qoidalarga amal qilishingiz kerak 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468313" y="188913"/>
            <a:ext cx="8280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Internet bu jamoat resurslari</a:t>
            </a: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79139" y="116632"/>
            <a:ext cx="85693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KELING, BIRGALIKDA O'YLAB KO'RAYLIK!</a:t>
            </a:r>
          </a:p>
        </p:txBody>
      </p:sp>
      <p:pic>
        <p:nvPicPr>
          <p:cNvPr id="25603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875" y="908051"/>
            <a:ext cx="3671888" cy="339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4" name="Text Box 7"/>
          <p:cNvSpPr txBox="1">
            <a:spLocks noChangeArrowheads="1"/>
          </p:cNvSpPr>
          <p:nvPr/>
        </p:nvSpPr>
        <p:spPr bwMode="auto">
          <a:xfrm>
            <a:off x="323530" y="4303457"/>
            <a:ext cx="8569325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3200" dirty="0">
                <a:latin typeface="Book Antiqua" pitchFamily="18" charset="0"/>
              </a:rPr>
              <a:t> </a:t>
            </a:r>
            <a:r>
              <a:rPr lang="ru-RU" sz="3200" b="1" dirty="0">
                <a:latin typeface="Book Antiqua" pitchFamily="18" charset="0"/>
              </a:rPr>
              <a:t>Nima uchun axborot xavfsizligi mavzusi muhim ahamiyatga ega </a:t>
            </a:r>
          </a:p>
          <a:p>
            <a:pPr algn="ctr"/>
            <a:r>
              <a:rPr lang="ru-RU" sz="3200" b="1" dirty="0">
                <a:latin typeface="Book Antiqua" pitchFamily="18" charset="0"/>
              </a:rPr>
              <a:t>    va nima uchun bu masalalar muhokama qilinishi kerak?</a:t>
            </a:r>
            <a:br>
              <a:rPr lang="ru-RU" sz="3200" b="1" dirty="0">
                <a:latin typeface="Book Antiqua" pitchFamily="18" charset="0"/>
              </a:rPr>
            </a:br>
            <a:endParaRPr lang="ru-RU" sz="3200" b="1" dirty="0">
              <a:latin typeface="Book Antiqua" pitchFamily="18" charset="0"/>
            </a:endParaRP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оризонтальный свиток 5"/>
          <p:cNvSpPr/>
          <p:nvPr/>
        </p:nvSpPr>
        <p:spPr>
          <a:xfrm>
            <a:off x="827584" y="260648"/>
            <a:ext cx="6696744" cy="1267837"/>
          </a:xfrm>
          <a:prstGeom prst="horizontalScroll">
            <a:avLst/>
          </a:prstGeom>
          <a:gradFill flip="none" rotWithShape="1">
            <a:gsLst>
              <a:gs pos="26000">
                <a:schemeClr val="accent6">
                  <a:shade val="51000"/>
                  <a:satMod val="130000"/>
                  <a:alpha val="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FontTx/>
              <a:buNone/>
            </a:pPr>
            <a:r>
              <a:rPr lang="ru-RU" sz="2800" b="1" dirty="0">
                <a:solidFill>
                  <a:schemeClr val="bg1"/>
                </a:solidFill>
                <a:latin typeface="Arial Narrow" pitchFamily="34" charset="0"/>
              </a:rPr>
              <a:t>Maksimal zavq oling, </a:t>
            </a:r>
          </a:p>
          <a:p>
            <a:pPr algn="ctr">
              <a:buFontTx/>
              <a:buNone/>
            </a:pPr>
            <a:r>
              <a:rPr lang="ru-RU" sz="2800" b="1" dirty="0">
                <a:solidFill>
                  <a:schemeClr val="bg1"/>
                </a:solidFill>
                <a:latin typeface="Arial Narrow" pitchFamily="34" charset="0"/>
              </a:rPr>
              <a:t>qolgan xavfsiz</a:t>
            </a: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Интернет">
  <a:themeElements>
    <a:clrScheme name="Интернет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Интернет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Интернет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нтернет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нтернет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нтернет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нтернет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нтернет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Интернет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Интернет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Интернет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Интернет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Интернет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Интернет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Интернет</Template>
  <TotalTime>1181</TotalTime>
  <Words>1179</Words>
  <Application>Microsoft Office PowerPoint</Application>
  <PresentationFormat>Экран (4:3)</PresentationFormat>
  <Paragraphs>108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3" baseType="lpstr">
      <vt:lpstr>Arial</vt:lpstr>
      <vt:lpstr>Arial Narrow</vt:lpstr>
      <vt:lpstr>Book Antiqua</vt:lpstr>
      <vt:lpstr>Garamond</vt:lpstr>
      <vt:lpstr>Monotype Corsiva</vt:lpstr>
      <vt:lpstr>Times New Roman</vt:lpstr>
      <vt:lpstr>Интернет</vt:lpstr>
      <vt:lpstr>Axborot Internet xavfsizligi</vt:lpstr>
      <vt:lpstr>Media savodxonligi</vt:lpstr>
      <vt:lpstr>Normativ baza</vt:lpstr>
      <vt:lpstr>Axborot xavfsizlik</vt:lpstr>
      <vt:lpstr>Презентация PowerPoint</vt:lpstr>
      <vt:lpstr>Statistika</vt:lpstr>
      <vt:lpstr>Statistika</vt:lpstr>
      <vt:lpstr>Evropadagi so'rov ma'lumotlari </vt:lpstr>
      <vt:lpstr>Turlari onlayn tahdidlar</vt:lpstr>
      <vt:lpstr>Turlari onlayn tahdidlar</vt:lpstr>
      <vt:lpstr>Turlari onlayn tahdidlar</vt:lpstr>
      <vt:lpstr>PEGI logotiplari</vt:lpstr>
      <vt:lpstr>Internetga qaramlik</vt:lpstr>
      <vt:lpstr>Internetga qaramlik</vt:lpstr>
      <vt:lpstr>Internetga qaramlik belgilari: </vt:lpstr>
      <vt:lpstr>Internetga qaramlik Belgilari: </vt:lpstr>
      <vt:lpstr>Buni bilish juda muhim!</vt:lpstr>
      <vt:lpstr>Buni bilish juda muhim!</vt:lpstr>
      <vt:lpstr>Buni bilish juda muhim!</vt:lpstr>
      <vt:lpstr>Internet odob-axloq qoidalari </vt:lpstr>
      <vt:lpstr>Agar siz onlayn muhitda bezorilik qilsangiz: </vt:lpstr>
      <vt:lpstr>Onlayn muhitda sizning huquqlaringiz  </vt:lpstr>
      <vt:lpstr>Onlayn muhitda sizning huquqlaringiz</vt:lpstr>
      <vt:lpstr>Презентация PowerPoint</vt:lpstr>
      <vt:lpstr>Презентация PowerPoint</vt:lpstr>
      <vt:lpstr>Презентация PowerPoint</vt:lpstr>
    </vt:vector>
  </TitlesOfParts>
  <Company>---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Yandex.Translate</dc:creator>
  <dc:description>Translated with Yandex.Translate</dc:description>
  <cp:lastModifiedBy>Kibriyo</cp:lastModifiedBy>
  <cp:revision>56</cp:revision>
  <dcterms:created xsi:type="dcterms:W3CDTF">2011-08-27T15:04:37Z</dcterms:created>
  <dcterms:modified xsi:type="dcterms:W3CDTF">2025-11-03T13:01:52Z</dcterms:modified>
</cp:coreProperties>
</file>