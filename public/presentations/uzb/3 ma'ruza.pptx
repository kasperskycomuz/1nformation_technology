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7" r:id="rId3"/>
  </p:sldMasterIdLst>
  <p:notesMasterIdLst>
    <p:notesMasterId r:id="rId66"/>
  </p:notesMasterIdLst>
  <p:sldIdLst>
    <p:sldId id="256" r:id="rId4"/>
    <p:sldId id="2779" r:id="rId5"/>
    <p:sldId id="2780" r:id="rId6"/>
    <p:sldId id="2781" r:id="rId7"/>
    <p:sldId id="2782" r:id="rId8"/>
    <p:sldId id="2783" r:id="rId9"/>
    <p:sldId id="2784" r:id="rId10"/>
    <p:sldId id="2785" r:id="rId11"/>
    <p:sldId id="2786" r:id="rId12"/>
    <p:sldId id="2787" r:id="rId13"/>
    <p:sldId id="2788" r:id="rId14"/>
    <p:sldId id="2789" r:id="rId15"/>
    <p:sldId id="2790" r:id="rId16"/>
    <p:sldId id="2791" r:id="rId17"/>
    <p:sldId id="2792" r:id="rId18"/>
    <p:sldId id="2799" r:id="rId19"/>
    <p:sldId id="2802" r:id="rId20"/>
    <p:sldId id="2800" r:id="rId21"/>
    <p:sldId id="2801" r:id="rId22"/>
    <p:sldId id="2793" r:id="rId23"/>
    <p:sldId id="2794" r:id="rId24"/>
    <p:sldId id="2795" r:id="rId25"/>
    <p:sldId id="2796" r:id="rId26"/>
    <p:sldId id="2797" r:id="rId27"/>
    <p:sldId id="2617" r:id="rId28"/>
    <p:sldId id="2803" r:id="rId29"/>
    <p:sldId id="257" r:id="rId30"/>
    <p:sldId id="258" r:id="rId31"/>
    <p:sldId id="259" r:id="rId32"/>
    <p:sldId id="260" r:id="rId33"/>
    <p:sldId id="261" r:id="rId34"/>
    <p:sldId id="262" r:id="rId35"/>
    <p:sldId id="292" r:id="rId36"/>
    <p:sldId id="300" r:id="rId37"/>
    <p:sldId id="301" r:id="rId38"/>
    <p:sldId id="302" r:id="rId39"/>
    <p:sldId id="303" r:id="rId40"/>
    <p:sldId id="305" r:id="rId41"/>
    <p:sldId id="297" r:id="rId42"/>
    <p:sldId id="291" r:id="rId43"/>
    <p:sldId id="306" r:id="rId44"/>
    <p:sldId id="307" r:id="rId45"/>
    <p:sldId id="308" r:id="rId46"/>
    <p:sldId id="309" r:id="rId47"/>
    <p:sldId id="310" r:id="rId48"/>
    <p:sldId id="313" r:id="rId49"/>
    <p:sldId id="314" r:id="rId50"/>
    <p:sldId id="287" r:id="rId51"/>
    <p:sldId id="288" r:id="rId52"/>
    <p:sldId id="266" r:id="rId53"/>
    <p:sldId id="276" r:id="rId54"/>
    <p:sldId id="315" r:id="rId55"/>
    <p:sldId id="278" r:id="rId56"/>
    <p:sldId id="279" r:id="rId57"/>
    <p:sldId id="268" r:id="rId58"/>
    <p:sldId id="298" r:id="rId59"/>
    <p:sldId id="280" r:id="rId60"/>
    <p:sldId id="281" r:id="rId61"/>
    <p:sldId id="282" r:id="rId62"/>
    <p:sldId id="284" r:id="rId63"/>
    <p:sldId id="299" r:id="rId64"/>
    <p:sldId id="263" r:id="rId65"/>
  </p:sldIdLst>
  <p:sldSz cx="9144000" cy="6858000" type="screen4x3"/>
  <p:notesSz cx="6858000" cy="9144000"/>
  <p:defaultTextStyle>
    <a:defPPr>
      <a:defRPr lang="uz"/>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133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754A7-713E-41CD-BAC8-2C3DE73871F6}" type="datetimeFigureOut">
              <a:rPr lang="en-US" smtClean="0"/>
              <a:t>10/24/2025</a:t>
            </a:fld>
            <a:endParaRPr lang="en-US"/>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D2D6BC-F58A-4300-9665-EE6C5F41E5F3}" type="slidenum">
              <a:rPr lang="en-US" smtClean="0"/>
              <a:t>‹#›</a:t>
            </a:fld>
            <a:endParaRPr lang="en-US"/>
          </a:p>
        </p:txBody>
      </p:sp>
    </p:spTree>
    <p:extLst>
      <p:ext uri="{BB962C8B-B14F-4D97-AF65-F5344CB8AC3E}">
        <p14:creationId xmlns:p14="http://schemas.microsoft.com/office/powerpoint/2010/main" val="1883634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Образ слайда 1">
            <a:extLst>
              <a:ext uri="{FF2B5EF4-FFF2-40B4-BE49-F238E27FC236}">
                <a16:creationId xmlns:a16="http://schemas.microsoft.com/office/drawing/2014/main" id="{74035BA0-7D67-431C-8D53-36678684847C}"/>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Заметки 2">
            <a:extLst>
              <a:ext uri="{FF2B5EF4-FFF2-40B4-BE49-F238E27FC236}">
                <a16:creationId xmlns:a16="http://schemas.microsoft.com/office/drawing/2014/main" id="{0C801ED8-52EF-4762-8BC2-689CF49EA2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altLang="ru-RU"/>
          </a:p>
        </p:txBody>
      </p:sp>
      <p:sp>
        <p:nvSpPr>
          <p:cNvPr id="81924" name="Номер слайда 3">
            <a:extLst>
              <a:ext uri="{FF2B5EF4-FFF2-40B4-BE49-F238E27FC236}">
                <a16:creationId xmlns:a16="http://schemas.microsoft.com/office/drawing/2014/main" id="{CCC6D3E7-1979-43AE-BF3B-FAAB28F914F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28DC238-122F-449E-9DBA-304D7DEBBFC4}" type="slidenum">
              <a:rPr lang="ru-RU" altLang="ru-RU">
                <a:solidFill>
                  <a:srgbClr val="000000"/>
                </a:solidFill>
                <a:latin typeface="Arial" panose="020B0604020202020204" pitchFamily="34" charset="0"/>
              </a:rPr>
              <a:pPr>
                <a:spcBef>
                  <a:spcPct val="0"/>
                </a:spcBef>
              </a:pPr>
              <a:t>11</a:t>
            </a:fld>
            <a:endParaRPr lang="ru-RU" altLang="ru-RU">
              <a:solidFill>
                <a:srgbClr val="000000"/>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39560EEF-A9A5-4CC9-939A-B41235D70AF6}"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1730912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9560EEF-A9A5-4CC9-939A-B41235D70AF6}"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2022690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39560EEF-A9A5-4CC9-939A-B41235D70AF6}"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272085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39560EEF-A9A5-4CC9-939A-B41235D70AF6}"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2178316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29842" y="2505075"/>
            <a:ext cx="3868340"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4629150" y="2505075"/>
            <a:ext cx="3887391"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39560EEF-A9A5-4CC9-939A-B41235D70AF6}"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3473950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39560EEF-A9A5-4CC9-939A-B41235D70AF6}"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1924699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560EEF-A9A5-4CC9-939A-B41235D70AF6}"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2131908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9560EEF-A9A5-4CC9-939A-B41235D70AF6}"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4015164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9560EEF-A9A5-4CC9-939A-B41235D70AF6}"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823848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9560EEF-A9A5-4CC9-939A-B41235D70AF6}"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3807346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9560EEF-A9A5-4CC9-939A-B41235D70AF6}"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161DEB-A2D1-410F-9526-2C63A046520E}" type="slidenum">
              <a:rPr lang="en-US" smtClean="0"/>
              <a:t>‹#›</a:t>
            </a:fld>
            <a:endParaRPr lang="en-US"/>
          </a:p>
        </p:txBody>
      </p:sp>
    </p:spTree>
    <p:extLst>
      <p:ext uri="{BB962C8B-B14F-4D97-AF65-F5344CB8AC3E}">
        <p14:creationId xmlns:p14="http://schemas.microsoft.com/office/powerpoint/2010/main" val="1503809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B4C71EC6-210F-42DE-9C53-41977AD35B3D}" type="datetimeFigureOut">
              <a:rPr lang="ru-RU" smtClean="0"/>
              <a:t>24.10.2025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ru-RU"/>
              <a:t>Образец заголовка</a:t>
            </a:r>
            <a:endParaRPr lang="en-US" dirty="0"/>
          </a:p>
        </p:txBody>
      </p:sp>
    </p:spTree>
    <p:extLst>
      <p:ext uri="{BB962C8B-B14F-4D97-AF65-F5344CB8AC3E}">
        <p14:creationId xmlns:p14="http://schemas.microsoft.com/office/powerpoint/2010/main" val="1894336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ru-RU"/>
              <a:t>Образец 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24.10.2025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8" name="Content Placeholder 7"/>
          <p:cNvSpPr>
            <a:spLocks noGrp="1"/>
          </p:cNvSpPr>
          <p:nvPr>
            <p:ph sz="quarter" idx="13"/>
          </p:nvPr>
        </p:nvSpPr>
        <p:spPr>
          <a:xfrm>
            <a:off x="609600" y="1600200"/>
            <a:ext cx="7924800" cy="4114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Tree>
    <p:extLst>
      <p:ext uri="{BB962C8B-B14F-4D97-AF65-F5344CB8AC3E}">
        <p14:creationId xmlns:p14="http://schemas.microsoft.com/office/powerpoint/2010/main" val="3096527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ru-RU"/>
              <a:t>Образец заголовка</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24.10.2025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845331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2" name="Title 1"/>
          <p:cNvSpPr>
            <a:spLocks noGrp="1"/>
          </p:cNvSpPr>
          <p:nvPr>
            <p:ph type="title"/>
          </p:nvPr>
        </p:nvSpPr>
        <p:spPr>
          <a:xfrm>
            <a:off x="609600" y="274638"/>
            <a:ext cx="7924800" cy="1143000"/>
          </a:xfrm>
        </p:spPr>
        <p:txBody>
          <a:bodyPr/>
          <a:lstStyle/>
          <a:p>
            <a:r>
              <a:rPr lang="ru-RU"/>
              <a:t>Образец заголовка</a:t>
            </a:r>
            <a:endParaRPr lang="en-US" dirty="0"/>
          </a:p>
        </p:txBody>
      </p:sp>
      <p:sp>
        <p:nvSpPr>
          <p:cNvPr id="5" name="Date Placeholder 4"/>
          <p:cNvSpPr>
            <a:spLocks noGrp="1"/>
          </p:cNvSpPr>
          <p:nvPr>
            <p:ph type="dt" sz="half" idx="10"/>
          </p:nvPr>
        </p:nvSpPr>
        <p:spPr/>
        <p:txBody>
          <a:bodyPr/>
          <a:lstStyle/>
          <a:p>
            <a:fld id="{B4C71EC6-210F-42DE-9C53-41977AD35B3D}" type="datetimeFigureOut">
              <a:rPr lang="ru-RU" smtClean="0"/>
              <a:t>24.10.2025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2586181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7" name="Date Placeholder 6"/>
          <p:cNvSpPr>
            <a:spLocks noGrp="1"/>
          </p:cNvSpPr>
          <p:nvPr>
            <p:ph type="dt" sz="half" idx="10"/>
          </p:nvPr>
        </p:nvSpPr>
        <p:spPr/>
        <p:txBody>
          <a:bodyPr/>
          <a:lstStyle/>
          <a:p>
            <a:fld id="{B4C71EC6-210F-42DE-9C53-41977AD35B3D}" type="datetimeFigureOut">
              <a:rPr lang="ru-RU" smtClean="0"/>
              <a:t>24.10.2025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2493042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4C71EC6-210F-42DE-9C53-41977AD35B3D}" type="datetimeFigureOut">
              <a:rPr lang="ru-RU" smtClean="0"/>
              <a:t>24.10.2025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3646279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t>24.10.2025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29890474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ru-RU"/>
              <a:t>Образец заголовка</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24.10.2025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567665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ru-RU"/>
              <a:t>Образец заголовка</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24.10.2025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1874605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13047346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24.10.2025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extLst>
      <p:ext uri="{BB962C8B-B14F-4D97-AF65-F5344CB8AC3E}">
        <p14:creationId xmlns:p14="http://schemas.microsoft.com/office/powerpoint/2010/main" val="42877596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a:extLst>
              <a:ext uri="{FF2B5EF4-FFF2-40B4-BE49-F238E27FC236}">
                <a16:creationId xmlns:a16="http://schemas.microsoft.com/office/drawing/2014/main" id="{B62462B5-941C-4C55-B0D9-3B38CDC68D5C}"/>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EBAD7C0C-3B7C-4280-8D94-D501CBAF097D}"/>
              </a:ext>
            </a:extLst>
          </p:cNvPr>
          <p:cNvSpPr>
            <a:spLocks noGrp="1" noChangeArrowheads="1"/>
          </p:cNvSpPr>
          <p:nvPr>
            <p:ph type="sldNum" sz="quarter" idx="11"/>
          </p:nvPr>
        </p:nvSpPr>
        <p:spPr>
          <a:ln/>
        </p:spPr>
        <p:txBody>
          <a:bodyPr/>
          <a:lstStyle>
            <a:lvl1pPr>
              <a:defRPr/>
            </a:lvl1pPr>
          </a:lstStyle>
          <a:p>
            <a:fld id="{B5ACF868-7A2E-4532-9DFE-29DCC7DD6169}" type="slidenum">
              <a:rPr lang="ru-RU" altLang="ru-RU"/>
              <a:pPr/>
              <a:t>‹#›</a:t>
            </a:fld>
            <a:endParaRPr lang="ru-RU" altLang="ru-RU"/>
          </a:p>
        </p:txBody>
      </p:sp>
      <p:sp>
        <p:nvSpPr>
          <p:cNvPr id="6" name="Rectangle 16">
            <a:extLst>
              <a:ext uri="{FF2B5EF4-FFF2-40B4-BE49-F238E27FC236}">
                <a16:creationId xmlns:a16="http://schemas.microsoft.com/office/drawing/2014/main" id="{A8EDD758-471D-498D-8C5B-CD34C53C1F17}"/>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42234284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a:t>Образец заголовка</a:t>
            </a:r>
          </a:p>
        </p:txBody>
      </p:sp>
      <p:sp>
        <p:nvSpPr>
          <p:cNvPr id="3" name="Текст 2"/>
          <p:cNvSpPr>
            <a:spLocks noGrp="1"/>
          </p:cNvSpPr>
          <p:nvPr>
            <p:ph type="body" sz="half" idx="1"/>
          </p:nvPr>
        </p:nvSpPr>
        <p:spPr>
          <a:xfrm>
            <a:off x="457200" y="1981200"/>
            <a:ext cx="4038600" cy="3886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4038600" cy="3886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2">
            <a:extLst>
              <a:ext uri="{FF2B5EF4-FFF2-40B4-BE49-F238E27FC236}">
                <a16:creationId xmlns:a16="http://schemas.microsoft.com/office/drawing/2014/main" id="{ED30B7AB-2CAB-4E3B-B769-4996164471D7}"/>
              </a:ext>
            </a:extLst>
          </p:cNvPr>
          <p:cNvSpPr>
            <a:spLocks noGrp="1" noChangeArrowheads="1"/>
          </p:cNvSpPr>
          <p:nvPr>
            <p:ph type="ftr" sz="quarter" idx="10"/>
          </p:nvPr>
        </p:nvSpPr>
        <p:spPr>
          <a:ln/>
        </p:spPr>
        <p:txBody>
          <a:bodyPr/>
          <a:lstStyle>
            <a:lvl1pPr>
              <a:defRPr/>
            </a:lvl1pPr>
          </a:lstStyle>
          <a:p>
            <a:pPr>
              <a:defRPr/>
            </a:pPr>
            <a:endParaRPr lang="ru-RU"/>
          </a:p>
        </p:txBody>
      </p:sp>
      <p:sp>
        <p:nvSpPr>
          <p:cNvPr id="6" name="Rectangle 3">
            <a:extLst>
              <a:ext uri="{FF2B5EF4-FFF2-40B4-BE49-F238E27FC236}">
                <a16:creationId xmlns:a16="http://schemas.microsoft.com/office/drawing/2014/main" id="{57155088-31A4-4994-9AF6-089771FE672A}"/>
              </a:ext>
            </a:extLst>
          </p:cNvPr>
          <p:cNvSpPr>
            <a:spLocks noGrp="1" noChangeArrowheads="1"/>
          </p:cNvSpPr>
          <p:nvPr>
            <p:ph type="sldNum" sz="quarter" idx="11"/>
          </p:nvPr>
        </p:nvSpPr>
        <p:spPr>
          <a:ln/>
        </p:spPr>
        <p:txBody>
          <a:bodyPr/>
          <a:lstStyle>
            <a:lvl1pPr>
              <a:defRPr/>
            </a:lvl1pPr>
          </a:lstStyle>
          <a:p>
            <a:fld id="{E9F57526-D348-49B0-AACA-C5836EB12541}" type="slidenum">
              <a:rPr lang="ru-RU" altLang="ru-RU"/>
              <a:pPr/>
              <a:t>‹#›</a:t>
            </a:fld>
            <a:endParaRPr lang="ru-RU" altLang="ru-RU"/>
          </a:p>
        </p:txBody>
      </p:sp>
      <p:sp>
        <p:nvSpPr>
          <p:cNvPr id="7" name="Rectangle 16">
            <a:extLst>
              <a:ext uri="{FF2B5EF4-FFF2-40B4-BE49-F238E27FC236}">
                <a16:creationId xmlns:a16="http://schemas.microsoft.com/office/drawing/2014/main" id="{37C67D92-5C43-4F36-AF45-CAA350F8EA92}"/>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2716952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a:t>Образец заголовка</a:t>
            </a:r>
          </a:p>
        </p:txBody>
      </p:sp>
      <p:sp>
        <p:nvSpPr>
          <p:cNvPr id="3" name="Таблица 2"/>
          <p:cNvSpPr>
            <a:spLocks noGrp="1"/>
          </p:cNvSpPr>
          <p:nvPr>
            <p:ph type="tbl" idx="1"/>
          </p:nvPr>
        </p:nvSpPr>
        <p:spPr>
          <a:xfrm>
            <a:off x="457200" y="1981200"/>
            <a:ext cx="8229600" cy="3886200"/>
          </a:xfrm>
        </p:spPr>
        <p:txBody>
          <a:bodyPr/>
          <a:lstStyle/>
          <a:p>
            <a:pPr lvl="0"/>
            <a:endParaRPr lang="ru-RU" noProof="0"/>
          </a:p>
        </p:txBody>
      </p:sp>
      <p:sp>
        <p:nvSpPr>
          <p:cNvPr id="4" name="Rectangle 2">
            <a:extLst>
              <a:ext uri="{FF2B5EF4-FFF2-40B4-BE49-F238E27FC236}">
                <a16:creationId xmlns:a16="http://schemas.microsoft.com/office/drawing/2014/main" id="{FBB113DA-D5B2-4706-8878-F7C164B38C3A}"/>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789B6176-4EB3-4826-8682-72351D3F890D}"/>
              </a:ext>
            </a:extLst>
          </p:cNvPr>
          <p:cNvSpPr>
            <a:spLocks noGrp="1" noChangeArrowheads="1"/>
          </p:cNvSpPr>
          <p:nvPr>
            <p:ph type="sldNum" sz="quarter" idx="11"/>
          </p:nvPr>
        </p:nvSpPr>
        <p:spPr>
          <a:ln/>
        </p:spPr>
        <p:txBody>
          <a:bodyPr/>
          <a:lstStyle>
            <a:lvl1pPr>
              <a:defRPr/>
            </a:lvl1pPr>
          </a:lstStyle>
          <a:p>
            <a:fld id="{30CEEB3E-4490-4369-A9E2-16C84C61FE15}" type="slidenum">
              <a:rPr lang="ru-RU" altLang="ru-RU"/>
              <a:pPr/>
              <a:t>‹#›</a:t>
            </a:fld>
            <a:endParaRPr lang="ru-RU" altLang="ru-RU"/>
          </a:p>
        </p:txBody>
      </p:sp>
      <p:sp>
        <p:nvSpPr>
          <p:cNvPr id="6" name="Rectangle 16">
            <a:extLst>
              <a:ext uri="{FF2B5EF4-FFF2-40B4-BE49-F238E27FC236}">
                <a16:creationId xmlns:a16="http://schemas.microsoft.com/office/drawing/2014/main" id="{88DE29C9-BDFF-456B-BA61-51D0769AE915}"/>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5610517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7ADBF5F-F20F-42C8-AF22-88AE589C03E0}"/>
              </a:ext>
            </a:extLst>
          </p:cNvPr>
          <p:cNvGrpSpPr>
            <a:grpSpLocks/>
          </p:cNvGrpSpPr>
          <p:nvPr/>
        </p:nvGrpSpPr>
        <p:grpSpPr bwMode="auto">
          <a:xfrm>
            <a:off x="0" y="0"/>
            <a:ext cx="9144000" cy="6858000"/>
            <a:chOff x="0" y="0"/>
            <a:chExt cx="5760" cy="4320"/>
          </a:xfrm>
        </p:grpSpPr>
        <p:sp>
          <p:nvSpPr>
            <p:cNvPr id="5" name="Rectangle 3">
              <a:extLst>
                <a:ext uri="{FF2B5EF4-FFF2-40B4-BE49-F238E27FC236}">
                  <a16:creationId xmlns:a16="http://schemas.microsoft.com/office/drawing/2014/main" id="{5ADD705F-266A-4A4A-8DBE-CBA3BFCF0752}"/>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ru-RU" sz="2400">
                <a:latin typeface="Times New Roman" pitchFamily="18" charset="0"/>
              </a:endParaRPr>
            </a:p>
          </p:txBody>
        </p:sp>
        <p:sp>
          <p:nvSpPr>
            <p:cNvPr id="6" name="Rectangle 4">
              <a:extLst>
                <a:ext uri="{FF2B5EF4-FFF2-40B4-BE49-F238E27FC236}">
                  <a16:creationId xmlns:a16="http://schemas.microsoft.com/office/drawing/2014/main" id="{7F79B3BD-248C-43BF-8B0C-9E77758BA71F}"/>
                </a:ext>
              </a:extLst>
            </p:cNvPr>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defRPr/>
              </a:pPr>
              <a:endParaRPr lang="ru-RU" sz="2400">
                <a:latin typeface="Times New Roman" pitchFamily="18" charset="0"/>
              </a:endParaRPr>
            </a:p>
          </p:txBody>
        </p:sp>
        <p:grpSp>
          <p:nvGrpSpPr>
            <p:cNvPr id="7" name="Group 5">
              <a:extLst>
                <a:ext uri="{FF2B5EF4-FFF2-40B4-BE49-F238E27FC236}">
                  <a16:creationId xmlns:a16="http://schemas.microsoft.com/office/drawing/2014/main" id="{90C672C8-CA39-45C5-80B4-01C75A014FF3}"/>
                </a:ext>
              </a:extLst>
            </p:cNvPr>
            <p:cNvGrpSpPr>
              <a:grpSpLocks/>
            </p:cNvGrpSpPr>
            <p:nvPr/>
          </p:nvGrpSpPr>
          <p:grpSpPr bwMode="auto">
            <a:xfrm>
              <a:off x="0" y="672"/>
              <a:ext cx="1806" cy="1989"/>
              <a:chOff x="0" y="672"/>
              <a:chExt cx="1806" cy="1989"/>
            </a:xfrm>
          </p:grpSpPr>
          <p:sp>
            <p:nvSpPr>
              <p:cNvPr id="8" name="Rectangle 6">
                <a:extLst>
                  <a:ext uri="{FF2B5EF4-FFF2-40B4-BE49-F238E27FC236}">
                    <a16:creationId xmlns:a16="http://schemas.microsoft.com/office/drawing/2014/main" id="{14829F0E-0657-4B24-B46D-7AB6F443A676}"/>
                  </a:ext>
                </a:extLst>
              </p:cNvPr>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defRPr/>
                </a:pPr>
                <a:endParaRPr lang="ru-RU" sz="2400">
                  <a:latin typeface="Times New Roman" pitchFamily="18" charset="0"/>
                </a:endParaRPr>
              </a:p>
            </p:txBody>
          </p:sp>
          <p:sp>
            <p:nvSpPr>
              <p:cNvPr id="9" name="Rectangle 7">
                <a:extLst>
                  <a:ext uri="{FF2B5EF4-FFF2-40B4-BE49-F238E27FC236}">
                    <a16:creationId xmlns:a16="http://schemas.microsoft.com/office/drawing/2014/main" id="{15F4528F-D2F4-4117-867C-2F19D6B5E1D1}"/>
                  </a:ext>
                </a:extLst>
              </p:cNvPr>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defRPr/>
                </a:pPr>
                <a:endParaRPr lang="ru-RU" sz="2400">
                  <a:latin typeface="Times New Roman" pitchFamily="18" charset="0"/>
                </a:endParaRPr>
              </a:p>
            </p:txBody>
          </p:sp>
          <p:sp>
            <p:nvSpPr>
              <p:cNvPr id="10" name="Rectangle 8">
                <a:extLst>
                  <a:ext uri="{FF2B5EF4-FFF2-40B4-BE49-F238E27FC236}">
                    <a16:creationId xmlns:a16="http://schemas.microsoft.com/office/drawing/2014/main" id="{EB07F81C-BF7A-49C2-AEF4-2DB70ED70CC0}"/>
                  </a:ext>
                </a:extLst>
              </p:cNvPr>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defRPr/>
                </a:pPr>
                <a:endParaRPr lang="ru-RU" sz="2400">
                  <a:latin typeface="Times New Roman" pitchFamily="18" charset="0"/>
                </a:endParaRPr>
              </a:p>
            </p:txBody>
          </p:sp>
          <p:sp>
            <p:nvSpPr>
              <p:cNvPr id="11" name="Rectangle 9">
                <a:extLst>
                  <a:ext uri="{FF2B5EF4-FFF2-40B4-BE49-F238E27FC236}">
                    <a16:creationId xmlns:a16="http://schemas.microsoft.com/office/drawing/2014/main" id="{96BAA7B9-9129-4652-AB71-8511207DBC4B}"/>
                  </a:ext>
                </a:extLst>
              </p:cNvPr>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defRPr/>
                </a:pPr>
                <a:endParaRPr lang="ru-RU" sz="2400">
                  <a:latin typeface="Times New Roman" pitchFamily="18" charset="0"/>
                </a:endParaRPr>
              </a:p>
            </p:txBody>
          </p:sp>
          <p:sp>
            <p:nvSpPr>
              <p:cNvPr id="12" name="Rectangle 10">
                <a:extLst>
                  <a:ext uri="{FF2B5EF4-FFF2-40B4-BE49-F238E27FC236}">
                    <a16:creationId xmlns:a16="http://schemas.microsoft.com/office/drawing/2014/main" id="{552414AF-3718-4E04-BF0E-2E5C2A1CE0EE}"/>
                  </a:ext>
                </a:extLst>
              </p:cNvPr>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defRPr/>
                </a:pPr>
                <a:endParaRPr lang="ru-RU" sz="2400">
                  <a:latin typeface="Times New Roman" pitchFamily="18" charset="0"/>
                </a:endParaRPr>
              </a:p>
            </p:txBody>
          </p:sp>
          <p:sp>
            <p:nvSpPr>
              <p:cNvPr id="13" name="Rectangle 11">
                <a:extLst>
                  <a:ext uri="{FF2B5EF4-FFF2-40B4-BE49-F238E27FC236}">
                    <a16:creationId xmlns:a16="http://schemas.microsoft.com/office/drawing/2014/main" id="{F8FDD31B-B254-4714-9102-F6BEEF186D49}"/>
                  </a:ext>
                </a:extLst>
              </p:cNvPr>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defRPr/>
                </a:pPr>
                <a:endParaRPr lang="ru-RU" sz="2400">
                  <a:latin typeface="Times New Roman" pitchFamily="18" charset="0"/>
                </a:endParaRPr>
              </a:p>
            </p:txBody>
          </p:sp>
          <p:sp>
            <p:nvSpPr>
              <p:cNvPr id="14" name="Rectangle 12">
                <a:extLst>
                  <a:ext uri="{FF2B5EF4-FFF2-40B4-BE49-F238E27FC236}">
                    <a16:creationId xmlns:a16="http://schemas.microsoft.com/office/drawing/2014/main" id="{41D1580C-66DD-4D9E-A970-E041F7A37B80}"/>
                  </a:ext>
                </a:extLst>
              </p:cNvPr>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defRPr/>
                </a:pPr>
                <a:endParaRPr lang="ru-RU" sz="2400">
                  <a:latin typeface="Times New Roman" pitchFamily="18" charset="0"/>
                </a:endParaRPr>
              </a:p>
            </p:txBody>
          </p:sp>
          <p:sp>
            <p:nvSpPr>
              <p:cNvPr id="15" name="Rectangle 13">
                <a:extLst>
                  <a:ext uri="{FF2B5EF4-FFF2-40B4-BE49-F238E27FC236}">
                    <a16:creationId xmlns:a16="http://schemas.microsoft.com/office/drawing/2014/main" id="{5A36ED98-570E-42D9-9CB5-3EE8734CD0E6}"/>
                  </a:ext>
                </a:extLst>
              </p:cNvPr>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defRPr/>
                </a:pPr>
                <a:endParaRPr lang="ru-RU" sz="2400">
                  <a:latin typeface="Times New Roman" pitchFamily="18" charset="0"/>
                </a:endParaRPr>
              </a:p>
            </p:txBody>
          </p:sp>
          <p:sp>
            <p:nvSpPr>
              <p:cNvPr id="16" name="Rectangle 14">
                <a:extLst>
                  <a:ext uri="{FF2B5EF4-FFF2-40B4-BE49-F238E27FC236}">
                    <a16:creationId xmlns:a16="http://schemas.microsoft.com/office/drawing/2014/main" id="{4CEF5098-9C57-4480-83EB-75277D162031}"/>
                  </a:ext>
                </a:extLst>
              </p:cNvPr>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defRPr/>
                </a:pPr>
                <a:endParaRPr lang="ru-RU" sz="2400">
                  <a:latin typeface="Times New Roman" pitchFamily="18" charset="0"/>
                </a:endParaRPr>
              </a:p>
            </p:txBody>
          </p:sp>
          <p:sp>
            <p:nvSpPr>
              <p:cNvPr id="17" name="Rectangle 15">
                <a:extLst>
                  <a:ext uri="{FF2B5EF4-FFF2-40B4-BE49-F238E27FC236}">
                    <a16:creationId xmlns:a16="http://schemas.microsoft.com/office/drawing/2014/main" id="{CD2693FF-91A9-4EA0-BF73-1F89FF9C2CF6}"/>
                  </a:ext>
                </a:extLst>
              </p:cNvPr>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defRPr/>
                </a:pPr>
                <a:endParaRPr lang="ru-RU" sz="2400">
                  <a:latin typeface="Times New Roman" pitchFamily="18" charset="0"/>
                </a:endParaRPr>
              </a:p>
            </p:txBody>
          </p:sp>
        </p:grpSp>
      </p:grpSp>
      <p:sp>
        <p:nvSpPr>
          <p:cNvPr id="14030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ru-RU"/>
              <a:t>Образец заголовка</a:t>
            </a:r>
          </a:p>
        </p:txBody>
      </p:sp>
      <p:sp>
        <p:nvSpPr>
          <p:cNvPr id="14030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ru-RU"/>
              <a:t>Образец подзаголовка</a:t>
            </a:r>
          </a:p>
        </p:txBody>
      </p:sp>
      <p:sp>
        <p:nvSpPr>
          <p:cNvPr id="18" name="Rectangle 16">
            <a:extLst>
              <a:ext uri="{FF2B5EF4-FFF2-40B4-BE49-F238E27FC236}">
                <a16:creationId xmlns:a16="http://schemas.microsoft.com/office/drawing/2014/main" id="{B466C9BE-79D0-464E-A938-EBCFC2827C98}"/>
              </a:ext>
            </a:extLst>
          </p:cNvPr>
          <p:cNvSpPr>
            <a:spLocks noGrp="1" noChangeArrowheads="1"/>
          </p:cNvSpPr>
          <p:nvPr>
            <p:ph type="dt" sz="half" idx="10"/>
          </p:nvPr>
        </p:nvSpPr>
        <p:spPr>
          <a:xfrm>
            <a:off x="457200" y="6248400"/>
            <a:ext cx="2133600" cy="457200"/>
          </a:xfrm>
        </p:spPr>
        <p:txBody>
          <a:bodyPr/>
          <a:lstStyle>
            <a:lvl1pPr>
              <a:defRPr smtClean="0"/>
            </a:lvl1pPr>
          </a:lstStyle>
          <a:p>
            <a:pPr>
              <a:defRPr/>
            </a:pPr>
            <a:endParaRPr lang="ru-RU"/>
          </a:p>
        </p:txBody>
      </p:sp>
      <p:sp>
        <p:nvSpPr>
          <p:cNvPr id="19" name="Rectangle 17">
            <a:extLst>
              <a:ext uri="{FF2B5EF4-FFF2-40B4-BE49-F238E27FC236}">
                <a16:creationId xmlns:a16="http://schemas.microsoft.com/office/drawing/2014/main" id="{BDBBA677-64C4-4C41-85B4-A448C2D21261}"/>
              </a:ext>
            </a:extLst>
          </p:cNvPr>
          <p:cNvSpPr>
            <a:spLocks noGrp="1" noChangeArrowheads="1"/>
          </p:cNvSpPr>
          <p:nvPr>
            <p:ph type="ftr" sz="quarter" idx="11"/>
          </p:nvPr>
        </p:nvSpPr>
        <p:spPr/>
        <p:txBody>
          <a:bodyPr/>
          <a:lstStyle>
            <a:lvl1pPr>
              <a:defRPr smtClean="0"/>
            </a:lvl1pPr>
          </a:lstStyle>
          <a:p>
            <a:pPr>
              <a:defRPr/>
            </a:pPr>
            <a:endParaRPr lang="ru-RU"/>
          </a:p>
        </p:txBody>
      </p:sp>
      <p:sp>
        <p:nvSpPr>
          <p:cNvPr id="20" name="Rectangle 18">
            <a:extLst>
              <a:ext uri="{FF2B5EF4-FFF2-40B4-BE49-F238E27FC236}">
                <a16:creationId xmlns:a16="http://schemas.microsoft.com/office/drawing/2014/main" id="{077A8BB7-F1C7-4C27-8FED-2D094513EE52}"/>
              </a:ext>
            </a:extLst>
          </p:cNvPr>
          <p:cNvSpPr>
            <a:spLocks noGrp="1" noChangeArrowheads="1"/>
          </p:cNvSpPr>
          <p:nvPr>
            <p:ph type="sldNum" sz="quarter" idx="12"/>
          </p:nvPr>
        </p:nvSpPr>
        <p:spPr/>
        <p:txBody>
          <a:bodyPr/>
          <a:lstStyle>
            <a:lvl1pPr>
              <a:defRPr/>
            </a:lvl1pPr>
          </a:lstStyle>
          <a:p>
            <a:fld id="{CF0861B5-ABF9-411C-99E0-B9B9EB5A11D9}" type="slidenum">
              <a:rPr lang="ru-RU" altLang="ru-RU"/>
              <a:pPr/>
              <a:t>‹#›</a:t>
            </a:fld>
            <a:endParaRPr lang="ru-RU" altLang="ru-RU"/>
          </a:p>
        </p:txBody>
      </p:sp>
    </p:spTree>
    <p:extLst>
      <p:ext uri="{BB962C8B-B14F-4D97-AF65-F5344CB8AC3E}">
        <p14:creationId xmlns:p14="http://schemas.microsoft.com/office/powerpoint/2010/main" val="22291025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a:extLst>
              <a:ext uri="{FF2B5EF4-FFF2-40B4-BE49-F238E27FC236}">
                <a16:creationId xmlns:a16="http://schemas.microsoft.com/office/drawing/2014/main" id="{1FFAFC8E-C07C-48F7-9377-1D8914E87B5E}"/>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71DA4286-9A69-4D75-B0ED-B7FFD3697849}"/>
              </a:ext>
            </a:extLst>
          </p:cNvPr>
          <p:cNvSpPr>
            <a:spLocks noGrp="1" noChangeArrowheads="1"/>
          </p:cNvSpPr>
          <p:nvPr>
            <p:ph type="sldNum" sz="quarter" idx="11"/>
          </p:nvPr>
        </p:nvSpPr>
        <p:spPr>
          <a:ln/>
        </p:spPr>
        <p:txBody>
          <a:bodyPr/>
          <a:lstStyle>
            <a:lvl1pPr>
              <a:defRPr/>
            </a:lvl1pPr>
          </a:lstStyle>
          <a:p>
            <a:fld id="{3180B104-9272-48E5-9AC2-D32D8CF186C6}" type="slidenum">
              <a:rPr lang="ru-RU" altLang="ru-RU"/>
              <a:pPr/>
              <a:t>‹#›</a:t>
            </a:fld>
            <a:endParaRPr lang="ru-RU" altLang="ru-RU"/>
          </a:p>
        </p:txBody>
      </p:sp>
      <p:sp>
        <p:nvSpPr>
          <p:cNvPr id="6" name="Rectangle 16">
            <a:extLst>
              <a:ext uri="{FF2B5EF4-FFF2-40B4-BE49-F238E27FC236}">
                <a16:creationId xmlns:a16="http://schemas.microsoft.com/office/drawing/2014/main" id="{F493B1EA-1C6D-46D2-9A64-04DC4629575A}"/>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5508063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2">
            <a:extLst>
              <a:ext uri="{FF2B5EF4-FFF2-40B4-BE49-F238E27FC236}">
                <a16:creationId xmlns:a16="http://schemas.microsoft.com/office/drawing/2014/main" id="{9AD6F218-6890-420A-8D65-4F57C5FF46AB}"/>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A18C0158-04FD-4840-A0AC-EAC65F075B87}"/>
              </a:ext>
            </a:extLst>
          </p:cNvPr>
          <p:cNvSpPr>
            <a:spLocks noGrp="1" noChangeArrowheads="1"/>
          </p:cNvSpPr>
          <p:nvPr>
            <p:ph type="sldNum" sz="quarter" idx="11"/>
          </p:nvPr>
        </p:nvSpPr>
        <p:spPr>
          <a:ln/>
        </p:spPr>
        <p:txBody>
          <a:bodyPr/>
          <a:lstStyle>
            <a:lvl1pPr>
              <a:defRPr/>
            </a:lvl1pPr>
          </a:lstStyle>
          <a:p>
            <a:fld id="{8C8A06AB-B42E-40A1-BE4C-B1EE37A53EFB}" type="slidenum">
              <a:rPr lang="ru-RU" altLang="ru-RU"/>
              <a:pPr/>
              <a:t>‹#›</a:t>
            </a:fld>
            <a:endParaRPr lang="ru-RU" altLang="ru-RU"/>
          </a:p>
        </p:txBody>
      </p:sp>
      <p:sp>
        <p:nvSpPr>
          <p:cNvPr id="6" name="Rectangle 16">
            <a:extLst>
              <a:ext uri="{FF2B5EF4-FFF2-40B4-BE49-F238E27FC236}">
                <a16:creationId xmlns:a16="http://schemas.microsoft.com/office/drawing/2014/main" id="{3D6D3A40-1487-4A8D-A97C-AFB897469EB3}"/>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1207639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2">
            <a:extLst>
              <a:ext uri="{FF2B5EF4-FFF2-40B4-BE49-F238E27FC236}">
                <a16:creationId xmlns:a16="http://schemas.microsoft.com/office/drawing/2014/main" id="{6C3AD352-2B5E-4A06-A378-20FD585F58EC}"/>
              </a:ext>
            </a:extLst>
          </p:cNvPr>
          <p:cNvSpPr>
            <a:spLocks noGrp="1" noChangeArrowheads="1"/>
          </p:cNvSpPr>
          <p:nvPr>
            <p:ph type="ftr" sz="quarter" idx="10"/>
          </p:nvPr>
        </p:nvSpPr>
        <p:spPr>
          <a:ln/>
        </p:spPr>
        <p:txBody>
          <a:bodyPr/>
          <a:lstStyle>
            <a:lvl1pPr>
              <a:defRPr/>
            </a:lvl1pPr>
          </a:lstStyle>
          <a:p>
            <a:pPr>
              <a:defRPr/>
            </a:pPr>
            <a:endParaRPr lang="ru-RU"/>
          </a:p>
        </p:txBody>
      </p:sp>
      <p:sp>
        <p:nvSpPr>
          <p:cNvPr id="6" name="Rectangle 3">
            <a:extLst>
              <a:ext uri="{FF2B5EF4-FFF2-40B4-BE49-F238E27FC236}">
                <a16:creationId xmlns:a16="http://schemas.microsoft.com/office/drawing/2014/main" id="{D7A1C0B9-2B4E-447D-BE04-D1BF588B5488}"/>
              </a:ext>
            </a:extLst>
          </p:cNvPr>
          <p:cNvSpPr>
            <a:spLocks noGrp="1" noChangeArrowheads="1"/>
          </p:cNvSpPr>
          <p:nvPr>
            <p:ph type="sldNum" sz="quarter" idx="11"/>
          </p:nvPr>
        </p:nvSpPr>
        <p:spPr>
          <a:ln/>
        </p:spPr>
        <p:txBody>
          <a:bodyPr/>
          <a:lstStyle>
            <a:lvl1pPr>
              <a:defRPr/>
            </a:lvl1pPr>
          </a:lstStyle>
          <a:p>
            <a:fld id="{B91E5771-67CD-46EC-B658-DAD9D5BE8CFD}" type="slidenum">
              <a:rPr lang="ru-RU" altLang="ru-RU"/>
              <a:pPr/>
              <a:t>‹#›</a:t>
            </a:fld>
            <a:endParaRPr lang="ru-RU" altLang="ru-RU"/>
          </a:p>
        </p:txBody>
      </p:sp>
      <p:sp>
        <p:nvSpPr>
          <p:cNvPr id="7" name="Rectangle 16">
            <a:extLst>
              <a:ext uri="{FF2B5EF4-FFF2-40B4-BE49-F238E27FC236}">
                <a16:creationId xmlns:a16="http://schemas.microsoft.com/office/drawing/2014/main" id="{A36BEE82-E90B-4801-9A5E-AA06C7811210}"/>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606393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2">
            <a:extLst>
              <a:ext uri="{FF2B5EF4-FFF2-40B4-BE49-F238E27FC236}">
                <a16:creationId xmlns:a16="http://schemas.microsoft.com/office/drawing/2014/main" id="{99B4D389-33D2-4784-BF00-38BB217C003F}"/>
              </a:ext>
            </a:extLst>
          </p:cNvPr>
          <p:cNvSpPr>
            <a:spLocks noGrp="1" noChangeArrowheads="1"/>
          </p:cNvSpPr>
          <p:nvPr>
            <p:ph type="ftr" sz="quarter" idx="10"/>
          </p:nvPr>
        </p:nvSpPr>
        <p:spPr>
          <a:ln/>
        </p:spPr>
        <p:txBody>
          <a:bodyPr/>
          <a:lstStyle>
            <a:lvl1pPr>
              <a:defRPr/>
            </a:lvl1pPr>
          </a:lstStyle>
          <a:p>
            <a:pPr>
              <a:defRPr/>
            </a:pPr>
            <a:endParaRPr lang="ru-RU"/>
          </a:p>
        </p:txBody>
      </p:sp>
      <p:sp>
        <p:nvSpPr>
          <p:cNvPr id="8" name="Rectangle 3">
            <a:extLst>
              <a:ext uri="{FF2B5EF4-FFF2-40B4-BE49-F238E27FC236}">
                <a16:creationId xmlns:a16="http://schemas.microsoft.com/office/drawing/2014/main" id="{33459BB4-60B8-4C88-BFE5-800513923183}"/>
              </a:ext>
            </a:extLst>
          </p:cNvPr>
          <p:cNvSpPr>
            <a:spLocks noGrp="1" noChangeArrowheads="1"/>
          </p:cNvSpPr>
          <p:nvPr>
            <p:ph type="sldNum" sz="quarter" idx="11"/>
          </p:nvPr>
        </p:nvSpPr>
        <p:spPr>
          <a:ln/>
        </p:spPr>
        <p:txBody>
          <a:bodyPr/>
          <a:lstStyle>
            <a:lvl1pPr>
              <a:defRPr/>
            </a:lvl1pPr>
          </a:lstStyle>
          <a:p>
            <a:fld id="{79B5D705-F2CB-4F15-984B-88C15105595A}" type="slidenum">
              <a:rPr lang="ru-RU" altLang="ru-RU"/>
              <a:pPr/>
              <a:t>‹#›</a:t>
            </a:fld>
            <a:endParaRPr lang="ru-RU" altLang="ru-RU"/>
          </a:p>
        </p:txBody>
      </p:sp>
      <p:sp>
        <p:nvSpPr>
          <p:cNvPr id="9" name="Rectangle 16">
            <a:extLst>
              <a:ext uri="{FF2B5EF4-FFF2-40B4-BE49-F238E27FC236}">
                <a16:creationId xmlns:a16="http://schemas.microsoft.com/office/drawing/2014/main" id="{B6E4A568-5C5E-4BB0-9609-A5C3DA18076B}"/>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430392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2">
            <a:extLst>
              <a:ext uri="{FF2B5EF4-FFF2-40B4-BE49-F238E27FC236}">
                <a16:creationId xmlns:a16="http://schemas.microsoft.com/office/drawing/2014/main" id="{F2B5381F-820B-4470-9673-FC4A7588531F}"/>
              </a:ext>
            </a:extLst>
          </p:cNvPr>
          <p:cNvSpPr>
            <a:spLocks noGrp="1" noChangeArrowheads="1"/>
          </p:cNvSpPr>
          <p:nvPr>
            <p:ph type="ftr" sz="quarter" idx="10"/>
          </p:nvPr>
        </p:nvSpPr>
        <p:spPr>
          <a:ln/>
        </p:spPr>
        <p:txBody>
          <a:bodyPr/>
          <a:lstStyle>
            <a:lvl1pPr>
              <a:defRPr/>
            </a:lvl1pPr>
          </a:lstStyle>
          <a:p>
            <a:pPr>
              <a:defRPr/>
            </a:pPr>
            <a:endParaRPr lang="ru-RU"/>
          </a:p>
        </p:txBody>
      </p:sp>
      <p:sp>
        <p:nvSpPr>
          <p:cNvPr id="4" name="Rectangle 3">
            <a:extLst>
              <a:ext uri="{FF2B5EF4-FFF2-40B4-BE49-F238E27FC236}">
                <a16:creationId xmlns:a16="http://schemas.microsoft.com/office/drawing/2014/main" id="{09D13204-7502-4E54-9811-AB8822A44709}"/>
              </a:ext>
            </a:extLst>
          </p:cNvPr>
          <p:cNvSpPr>
            <a:spLocks noGrp="1" noChangeArrowheads="1"/>
          </p:cNvSpPr>
          <p:nvPr>
            <p:ph type="sldNum" sz="quarter" idx="11"/>
          </p:nvPr>
        </p:nvSpPr>
        <p:spPr>
          <a:ln/>
        </p:spPr>
        <p:txBody>
          <a:bodyPr/>
          <a:lstStyle>
            <a:lvl1pPr>
              <a:defRPr/>
            </a:lvl1pPr>
          </a:lstStyle>
          <a:p>
            <a:fld id="{76217190-4298-4BCF-969B-BC77BEBA27D6}" type="slidenum">
              <a:rPr lang="ru-RU" altLang="ru-RU"/>
              <a:pPr/>
              <a:t>‹#›</a:t>
            </a:fld>
            <a:endParaRPr lang="ru-RU" altLang="ru-RU"/>
          </a:p>
        </p:txBody>
      </p:sp>
      <p:sp>
        <p:nvSpPr>
          <p:cNvPr id="5" name="Rectangle 16">
            <a:extLst>
              <a:ext uri="{FF2B5EF4-FFF2-40B4-BE49-F238E27FC236}">
                <a16:creationId xmlns:a16="http://schemas.microsoft.com/office/drawing/2014/main" id="{65446836-E2A0-4E37-BD51-130F29C8ADBE}"/>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5991855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2892DAC-7A12-4F04-8B82-58F817C8D697}"/>
              </a:ext>
            </a:extLst>
          </p:cNvPr>
          <p:cNvSpPr>
            <a:spLocks noGrp="1" noChangeArrowheads="1"/>
          </p:cNvSpPr>
          <p:nvPr>
            <p:ph type="ftr" sz="quarter" idx="10"/>
          </p:nvPr>
        </p:nvSpPr>
        <p:spPr>
          <a:ln/>
        </p:spPr>
        <p:txBody>
          <a:bodyPr/>
          <a:lstStyle>
            <a:lvl1pPr>
              <a:defRPr/>
            </a:lvl1pPr>
          </a:lstStyle>
          <a:p>
            <a:pPr>
              <a:defRPr/>
            </a:pPr>
            <a:endParaRPr lang="ru-RU"/>
          </a:p>
        </p:txBody>
      </p:sp>
      <p:sp>
        <p:nvSpPr>
          <p:cNvPr id="3" name="Rectangle 3">
            <a:extLst>
              <a:ext uri="{FF2B5EF4-FFF2-40B4-BE49-F238E27FC236}">
                <a16:creationId xmlns:a16="http://schemas.microsoft.com/office/drawing/2014/main" id="{B57EA50F-6612-46A1-861C-39C054145586}"/>
              </a:ext>
            </a:extLst>
          </p:cNvPr>
          <p:cNvSpPr>
            <a:spLocks noGrp="1" noChangeArrowheads="1"/>
          </p:cNvSpPr>
          <p:nvPr>
            <p:ph type="sldNum" sz="quarter" idx="11"/>
          </p:nvPr>
        </p:nvSpPr>
        <p:spPr>
          <a:ln/>
        </p:spPr>
        <p:txBody>
          <a:bodyPr/>
          <a:lstStyle>
            <a:lvl1pPr>
              <a:defRPr/>
            </a:lvl1pPr>
          </a:lstStyle>
          <a:p>
            <a:fld id="{898780F9-C46D-4197-8359-8556BA37B009}" type="slidenum">
              <a:rPr lang="ru-RU" altLang="ru-RU"/>
              <a:pPr/>
              <a:t>‹#›</a:t>
            </a:fld>
            <a:endParaRPr lang="ru-RU" altLang="ru-RU"/>
          </a:p>
        </p:txBody>
      </p:sp>
      <p:sp>
        <p:nvSpPr>
          <p:cNvPr id="4" name="Rectangle 16">
            <a:extLst>
              <a:ext uri="{FF2B5EF4-FFF2-40B4-BE49-F238E27FC236}">
                <a16:creationId xmlns:a16="http://schemas.microsoft.com/office/drawing/2014/main" id="{A3984CC0-9CB8-483B-B009-805814874402}"/>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9669104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2">
            <a:extLst>
              <a:ext uri="{FF2B5EF4-FFF2-40B4-BE49-F238E27FC236}">
                <a16:creationId xmlns:a16="http://schemas.microsoft.com/office/drawing/2014/main" id="{1D75B382-93B1-433F-82A9-2FC02D159E49}"/>
              </a:ext>
            </a:extLst>
          </p:cNvPr>
          <p:cNvSpPr>
            <a:spLocks noGrp="1" noChangeArrowheads="1"/>
          </p:cNvSpPr>
          <p:nvPr>
            <p:ph type="ftr" sz="quarter" idx="10"/>
          </p:nvPr>
        </p:nvSpPr>
        <p:spPr>
          <a:ln/>
        </p:spPr>
        <p:txBody>
          <a:bodyPr/>
          <a:lstStyle>
            <a:lvl1pPr>
              <a:defRPr/>
            </a:lvl1pPr>
          </a:lstStyle>
          <a:p>
            <a:pPr>
              <a:defRPr/>
            </a:pPr>
            <a:endParaRPr lang="ru-RU"/>
          </a:p>
        </p:txBody>
      </p:sp>
      <p:sp>
        <p:nvSpPr>
          <p:cNvPr id="6" name="Rectangle 3">
            <a:extLst>
              <a:ext uri="{FF2B5EF4-FFF2-40B4-BE49-F238E27FC236}">
                <a16:creationId xmlns:a16="http://schemas.microsoft.com/office/drawing/2014/main" id="{6899A41A-E6CB-4D05-8D33-605FA8C8BC05}"/>
              </a:ext>
            </a:extLst>
          </p:cNvPr>
          <p:cNvSpPr>
            <a:spLocks noGrp="1" noChangeArrowheads="1"/>
          </p:cNvSpPr>
          <p:nvPr>
            <p:ph type="sldNum" sz="quarter" idx="11"/>
          </p:nvPr>
        </p:nvSpPr>
        <p:spPr>
          <a:ln/>
        </p:spPr>
        <p:txBody>
          <a:bodyPr/>
          <a:lstStyle>
            <a:lvl1pPr>
              <a:defRPr/>
            </a:lvl1pPr>
          </a:lstStyle>
          <a:p>
            <a:fld id="{5F22507D-13DA-468E-BDCE-8F021108791F}" type="slidenum">
              <a:rPr lang="ru-RU" altLang="ru-RU"/>
              <a:pPr/>
              <a:t>‹#›</a:t>
            </a:fld>
            <a:endParaRPr lang="ru-RU" altLang="ru-RU"/>
          </a:p>
        </p:txBody>
      </p:sp>
      <p:sp>
        <p:nvSpPr>
          <p:cNvPr id="7" name="Rectangle 16">
            <a:extLst>
              <a:ext uri="{FF2B5EF4-FFF2-40B4-BE49-F238E27FC236}">
                <a16:creationId xmlns:a16="http://schemas.microsoft.com/office/drawing/2014/main" id="{DCC7E85F-A664-4311-BDDC-B9900A4DB8C9}"/>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1484408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2">
            <a:extLst>
              <a:ext uri="{FF2B5EF4-FFF2-40B4-BE49-F238E27FC236}">
                <a16:creationId xmlns:a16="http://schemas.microsoft.com/office/drawing/2014/main" id="{8298102D-FA23-4357-8AAC-3C24935D6444}"/>
              </a:ext>
            </a:extLst>
          </p:cNvPr>
          <p:cNvSpPr>
            <a:spLocks noGrp="1" noChangeArrowheads="1"/>
          </p:cNvSpPr>
          <p:nvPr>
            <p:ph type="ftr" sz="quarter" idx="10"/>
          </p:nvPr>
        </p:nvSpPr>
        <p:spPr>
          <a:ln/>
        </p:spPr>
        <p:txBody>
          <a:bodyPr/>
          <a:lstStyle>
            <a:lvl1pPr>
              <a:defRPr/>
            </a:lvl1pPr>
          </a:lstStyle>
          <a:p>
            <a:pPr>
              <a:defRPr/>
            </a:pPr>
            <a:endParaRPr lang="ru-RU"/>
          </a:p>
        </p:txBody>
      </p:sp>
      <p:sp>
        <p:nvSpPr>
          <p:cNvPr id="6" name="Rectangle 3">
            <a:extLst>
              <a:ext uri="{FF2B5EF4-FFF2-40B4-BE49-F238E27FC236}">
                <a16:creationId xmlns:a16="http://schemas.microsoft.com/office/drawing/2014/main" id="{1CCA5432-C201-4EE7-A29D-D2D10769DB69}"/>
              </a:ext>
            </a:extLst>
          </p:cNvPr>
          <p:cNvSpPr>
            <a:spLocks noGrp="1" noChangeArrowheads="1"/>
          </p:cNvSpPr>
          <p:nvPr>
            <p:ph type="sldNum" sz="quarter" idx="11"/>
          </p:nvPr>
        </p:nvSpPr>
        <p:spPr>
          <a:ln/>
        </p:spPr>
        <p:txBody>
          <a:bodyPr/>
          <a:lstStyle>
            <a:lvl1pPr>
              <a:defRPr/>
            </a:lvl1pPr>
          </a:lstStyle>
          <a:p>
            <a:fld id="{705F8B74-1790-4C08-9216-1E9CF6BC7C28}" type="slidenum">
              <a:rPr lang="ru-RU" altLang="ru-RU"/>
              <a:pPr/>
              <a:t>‹#›</a:t>
            </a:fld>
            <a:endParaRPr lang="ru-RU" altLang="ru-RU"/>
          </a:p>
        </p:txBody>
      </p:sp>
      <p:sp>
        <p:nvSpPr>
          <p:cNvPr id="7" name="Rectangle 16">
            <a:extLst>
              <a:ext uri="{FF2B5EF4-FFF2-40B4-BE49-F238E27FC236}">
                <a16:creationId xmlns:a16="http://schemas.microsoft.com/office/drawing/2014/main" id="{740C7F8A-BE23-4485-80DB-797BCA391DEC}"/>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5768293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a:extLst>
              <a:ext uri="{FF2B5EF4-FFF2-40B4-BE49-F238E27FC236}">
                <a16:creationId xmlns:a16="http://schemas.microsoft.com/office/drawing/2014/main" id="{E15A8223-1035-48C9-8886-3743B1C63FCA}"/>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C1360BAB-8872-4C62-877A-AF6E2DEE7BA9}"/>
              </a:ext>
            </a:extLst>
          </p:cNvPr>
          <p:cNvSpPr>
            <a:spLocks noGrp="1" noChangeArrowheads="1"/>
          </p:cNvSpPr>
          <p:nvPr>
            <p:ph type="sldNum" sz="quarter" idx="11"/>
          </p:nvPr>
        </p:nvSpPr>
        <p:spPr>
          <a:ln/>
        </p:spPr>
        <p:txBody>
          <a:bodyPr/>
          <a:lstStyle>
            <a:lvl1pPr>
              <a:defRPr/>
            </a:lvl1pPr>
          </a:lstStyle>
          <a:p>
            <a:fld id="{264453EF-F2DA-4818-B718-BB9913F33459}" type="slidenum">
              <a:rPr lang="ru-RU" altLang="ru-RU"/>
              <a:pPr/>
              <a:t>‹#›</a:t>
            </a:fld>
            <a:endParaRPr lang="ru-RU" altLang="ru-RU"/>
          </a:p>
        </p:txBody>
      </p:sp>
      <p:sp>
        <p:nvSpPr>
          <p:cNvPr id="6" name="Rectangle 16">
            <a:extLst>
              <a:ext uri="{FF2B5EF4-FFF2-40B4-BE49-F238E27FC236}">
                <a16:creationId xmlns:a16="http://schemas.microsoft.com/office/drawing/2014/main" id="{EB6CC805-E2AB-414A-922F-C2129FC4B9DD}"/>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0654423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457200"/>
            <a:ext cx="2057400" cy="54102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457200"/>
            <a:ext cx="6019800" cy="54102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a:extLst>
              <a:ext uri="{FF2B5EF4-FFF2-40B4-BE49-F238E27FC236}">
                <a16:creationId xmlns:a16="http://schemas.microsoft.com/office/drawing/2014/main" id="{F256BFED-1FA9-40A8-9D46-E943FA164D5B}"/>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97B67221-D35E-4BA7-84C3-FD0BE45F7AC0}"/>
              </a:ext>
            </a:extLst>
          </p:cNvPr>
          <p:cNvSpPr>
            <a:spLocks noGrp="1" noChangeArrowheads="1"/>
          </p:cNvSpPr>
          <p:nvPr>
            <p:ph type="sldNum" sz="quarter" idx="11"/>
          </p:nvPr>
        </p:nvSpPr>
        <p:spPr>
          <a:ln/>
        </p:spPr>
        <p:txBody>
          <a:bodyPr/>
          <a:lstStyle>
            <a:lvl1pPr>
              <a:defRPr/>
            </a:lvl1pPr>
          </a:lstStyle>
          <a:p>
            <a:fld id="{7F8327D4-A1BD-4A0E-AA2F-A665DB8FC94B}" type="slidenum">
              <a:rPr lang="ru-RU" altLang="ru-RU"/>
              <a:pPr/>
              <a:t>‹#›</a:t>
            </a:fld>
            <a:endParaRPr lang="ru-RU" altLang="ru-RU"/>
          </a:p>
        </p:txBody>
      </p:sp>
      <p:sp>
        <p:nvSpPr>
          <p:cNvPr id="6" name="Rectangle 16">
            <a:extLst>
              <a:ext uri="{FF2B5EF4-FFF2-40B4-BE49-F238E27FC236}">
                <a16:creationId xmlns:a16="http://schemas.microsoft.com/office/drawing/2014/main" id="{A6DF1B64-5D2C-4F7F-A76D-800BB2F09C3C}"/>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560539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a:t>Образец заголовка</a:t>
            </a:r>
          </a:p>
        </p:txBody>
      </p:sp>
      <p:sp>
        <p:nvSpPr>
          <p:cNvPr id="3" name="Текст 2"/>
          <p:cNvSpPr>
            <a:spLocks noGrp="1"/>
          </p:cNvSpPr>
          <p:nvPr>
            <p:ph type="body" sz="half" idx="1"/>
          </p:nvPr>
        </p:nvSpPr>
        <p:spPr>
          <a:xfrm>
            <a:off x="457200" y="1981200"/>
            <a:ext cx="4038600" cy="3886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981200"/>
            <a:ext cx="4038600" cy="3886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2">
            <a:extLst>
              <a:ext uri="{FF2B5EF4-FFF2-40B4-BE49-F238E27FC236}">
                <a16:creationId xmlns:a16="http://schemas.microsoft.com/office/drawing/2014/main" id="{AD9E1288-523A-4A03-A1AF-99D3DD015F82}"/>
              </a:ext>
            </a:extLst>
          </p:cNvPr>
          <p:cNvSpPr>
            <a:spLocks noGrp="1" noChangeArrowheads="1"/>
          </p:cNvSpPr>
          <p:nvPr>
            <p:ph type="ftr" sz="quarter" idx="10"/>
          </p:nvPr>
        </p:nvSpPr>
        <p:spPr>
          <a:ln/>
        </p:spPr>
        <p:txBody>
          <a:bodyPr/>
          <a:lstStyle>
            <a:lvl1pPr>
              <a:defRPr/>
            </a:lvl1pPr>
          </a:lstStyle>
          <a:p>
            <a:pPr>
              <a:defRPr/>
            </a:pPr>
            <a:endParaRPr lang="ru-RU"/>
          </a:p>
        </p:txBody>
      </p:sp>
      <p:sp>
        <p:nvSpPr>
          <p:cNvPr id="6" name="Rectangle 3">
            <a:extLst>
              <a:ext uri="{FF2B5EF4-FFF2-40B4-BE49-F238E27FC236}">
                <a16:creationId xmlns:a16="http://schemas.microsoft.com/office/drawing/2014/main" id="{D436D320-C6D1-42E6-80B8-5AC0237D6FA0}"/>
              </a:ext>
            </a:extLst>
          </p:cNvPr>
          <p:cNvSpPr>
            <a:spLocks noGrp="1" noChangeArrowheads="1"/>
          </p:cNvSpPr>
          <p:nvPr>
            <p:ph type="sldNum" sz="quarter" idx="11"/>
          </p:nvPr>
        </p:nvSpPr>
        <p:spPr>
          <a:ln/>
        </p:spPr>
        <p:txBody>
          <a:bodyPr/>
          <a:lstStyle>
            <a:lvl1pPr>
              <a:defRPr/>
            </a:lvl1pPr>
          </a:lstStyle>
          <a:p>
            <a:fld id="{4D3FC6AA-F3E6-4CBA-81D5-1393A07872B0}" type="slidenum">
              <a:rPr lang="ru-RU" altLang="ru-RU"/>
              <a:pPr/>
              <a:t>‹#›</a:t>
            </a:fld>
            <a:endParaRPr lang="ru-RU" altLang="ru-RU"/>
          </a:p>
        </p:txBody>
      </p:sp>
      <p:sp>
        <p:nvSpPr>
          <p:cNvPr id="7" name="Rectangle 16">
            <a:extLst>
              <a:ext uri="{FF2B5EF4-FFF2-40B4-BE49-F238E27FC236}">
                <a16:creationId xmlns:a16="http://schemas.microsoft.com/office/drawing/2014/main" id="{575709EF-D727-4FB6-879E-A0389C49A143}"/>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7558207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a:t>Образец заголовка</a:t>
            </a:r>
          </a:p>
        </p:txBody>
      </p:sp>
      <p:sp>
        <p:nvSpPr>
          <p:cNvPr id="3" name="Таблица 2"/>
          <p:cNvSpPr>
            <a:spLocks noGrp="1"/>
          </p:cNvSpPr>
          <p:nvPr>
            <p:ph type="tbl" idx="1"/>
          </p:nvPr>
        </p:nvSpPr>
        <p:spPr>
          <a:xfrm>
            <a:off x="457200" y="1981200"/>
            <a:ext cx="8229600" cy="3886200"/>
          </a:xfrm>
        </p:spPr>
        <p:txBody>
          <a:bodyPr/>
          <a:lstStyle/>
          <a:p>
            <a:pPr lvl="0"/>
            <a:endParaRPr lang="ru-RU" noProof="0"/>
          </a:p>
        </p:txBody>
      </p:sp>
      <p:sp>
        <p:nvSpPr>
          <p:cNvPr id="4" name="Rectangle 2">
            <a:extLst>
              <a:ext uri="{FF2B5EF4-FFF2-40B4-BE49-F238E27FC236}">
                <a16:creationId xmlns:a16="http://schemas.microsoft.com/office/drawing/2014/main" id="{2E9A03EC-E38C-47AE-B6C7-752C94291BEC}"/>
              </a:ext>
            </a:extLst>
          </p:cNvPr>
          <p:cNvSpPr>
            <a:spLocks noGrp="1" noChangeArrowheads="1"/>
          </p:cNvSpPr>
          <p:nvPr>
            <p:ph type="ftr" sz="quarter" idx="10"/>
          </p:nvPr>
        </p:nvSpPr>
        <p:spPr>
          <a:ln/>
        </p:spPr>
        <p:txBody>
          <a:bodyPr/>
          <a:lstStyle>
            <a:lvl1pPr>
              <a:defRPr/>
            </a:lvl1pPr>
          </a:lstStyle>
          <a:p>
            <a:pPr>
              <a:defRPr/>
            </a:pPr>
            <a:endParaRPr lang="ru-RU"/>
          </a:p>
        </p:txBody>
      </p:sp>
      <p:sp>
        <p:nvSpPr>
          <p:cNvPr id="5" name="Rectangle 3">
            <a:extLst>
              <a:ext uri="{FF2B5EF4-FFF2-40B4-BE49-F238E27FC236}">
                <a16:creationId xmlns:a16="http://schemas.microsoft.com/office/drawing/2014/main" id="{F3125DDB-90FA-4127-BCC7-3B0A409A303A}"/>
              </a:ext>
            </a:extLst>
          </p:cNvPr>
          <p:cNvSpPr>
            <a:spLocks noGrp="1" noChangeArrowheads="1"/>
          </p:cNvSpPr>
          <p:nvPr>
            <p:ph type="sldNum" sz="quarter" idx="11"/>
          </p:nvPr>
        </p:nvSpPr>
        <p:spPr>
          <a:ln/>
        </p:spPr>
        <p:txBody>
          <a:bodyPr/>
          <a:lstStyle>
            <a:lvl1pPr>
              <a:defRPr/>
            </a:lvl1pPr>
          </a:lstStyle>
          <a:p>
            <a:fld id="{805AC7E1-9C6F-4067-ABC8-CF49E465234B}" type="slidenum">
              <a:rPr lang="ru-RU" altLang="ru-RU"/>
              <a:pPr/>
              <a:t>‹#›</a:t>
            </a:fld>
            <a:endParaRPr lang="ru-RU" altLang="ru-RU"/>
          </a:p>
        </p:txBody>
      </p:sp>
      <p:sp>
        <p:nvSpPr>
          <p:cNvPr id="6" name="Rectangle 16">
            <a:extLst>
              <a:ext uri="{FF2B5EF4-FFF2-40B4-BE49-F238E27FC236}">
                <a16:creationId xmlns:a16="http://schemas.microsoft.com/office/drawing/2014/main" id="{78D0A38A-6456-4759-B14E-E770B18CA830}"/>
              </a:ext>
            </a:extLst>
          </p:cNvPr>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24828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560EEF-A9A5-4CC9-939A-B41235D70AF6}" type="datetimeFigureOut">
              <a:rPr lang="en-US" smtClean="0"/>
              <a:t>10/24/2025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161DEB-A2D1-410F-9526-2C63A046520E}" type="slidenum">
              <a:rPr lang="en-US" smtClean="0"/>
              <a:t>‹#›</a:t>
            </a:fld>
            <a:endParaRPr lang="en-US"/>
          </a:p>
        </p:txBody>
      </p:sp>
    </p:spTree>
    <p:extLst>
      <p:ext uri="{BB962C8B-B14F-4D97-AF65-F5344CB8AC3E}">
        <p14:creationId xmlns:p14="http://schemas.microsoft.com/office/powerpoint/2010/main" val="22884768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6"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ru-RU"/>
              <a:t>Образец заголовка</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4C71EC6-210F-42DE-9C53-41977AD35B3D}" type="datetimeFigureOut">
              <a:rPr lang="ru-RU" smtClean="0"/>
              <a:t>24.10.2025</a:t>
            </a:fld>
            <a:endParaRPr lang="ru-RU"/>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ru-RU"/>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B19B0651-EE4F-4900-A07F-96A6BFA9D0F0}" type="slidenum">
              <a:rPr lang="ru-RU" smtClean="0"/>
              <a:t>‹#›</a:t>
            </a:fld>
            <a:endParaRPr lang="ru-RU"/>
          </a:p>
        </p:txBody>
      </p:sp>
    </p:spTree>
    <p:extLst>
      <p:ext uri="{BB962C8B-B14F-4D97-AF65-F5344CB8AC3E}">
        <p14:creationId xmlns:p14="http://schemas.microsoft.com/office/powerpoint/2010/main" val="295352003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BCBC71"/>
            </a:gs>
            <a:gs pos="100000">
              <a:srgbClr val="FFFF99"/>
            </a:gs>
          </a:gsLst>
          <a:lin ang="5400000" scaled="1"/>
        </a:gradFill>
        <a:effectLst/>
      </p:bgPr>
    </p:bg>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8FE11E16-0774-4F22-BE73-9CC20762A87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smtClean="0">
                <a:latin typeface="Arial" charset="0"/>
              </a:defRPr>
            </a:lvl1pPr>
          </a:lstStyle>
          <a:p>
            <a:pPr>
              <a:defRPr/>
            </a:pPr>
            <a:endParaRPr lang="ru-RU"/>
          </a:p>
        </p:txBody>
      </p:sp>
      <p:sp>
        <p:nvSpPr>
          <p:cNvPr id="139267" name="Rectangle 3">
            <a:extLst>
              <a:ext uri="{FF2B5EF4-FFF2-40B4-BE49-F238E27FC236}">
                <a16:creationId xmlns:a16="http://schemas.microsoft.com/office/drawing/2014/main" id="{A4E4E90A-D225-4152-B5EB-B6A58B5BDB59}"/>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Black" panose="020B0A04020102020204" pitchFamily="34" charset="0"/>
              </a:defRPr>
            </a:lvl1pPr>
          </a:lstStyle>
          <a:p>
            <a:fld id="{BB08A70C-4E84-4781-8137-5FF32F9FEA54}" type="slidenum">
              <a:rPr lang="ru-RU" altLang="ru-RU"/>
              <a:pPr/>
              <a:t>‹#›</a:t>
            </a:fld>
            <a:endParaRPr lang="ru-RU" altLang="ru-RU"/>
          </a:p>
        </p:txBody>
      </p:sp>
      <p:grpSp>
        <p:nvGrpSpPr>
          <p:cNvPr id="2052" name="Group 4">
            <a:extLst>
              <a:ext uri="{FF2B5EF4-FFF2-40B4-BE49-F238E27FC236}">
                <a16:creationId xmlns:a16="http://schemas.microsoft.com/office/drawing/2014/main" id="{9B196A20-5035-4A1E-88B4-E63311A6BA71}"/>
              </a:ext>
            </a:extLst>
          </p:cNvPr>
          <p:cNvGrpSpPr>
            <a:grpSpLocks/>
          </p:cNvGrpSpPr>
          <p:nvPr/>
        </p:nvGrpSpPr>
        <p:grpSpPr bwMode="auto">
          <a:xfrm>
            <a:off x="0" y="0"/>
            <a:ext cx="9144000" cy="546100"/>
            <a:chOff x="0" y="0"/>
            <a:chExt cx="5760" cy="344"/>
          </a:xfrm>
        </p:grpSpPr>
        <p:sp>
          <p:nvSpPr>
            <p:cNvPr id="139269" name="Rectangle 5">
              <a:extLst>
                <a:ext uri="{FF2B5EF4-FFF2-40B4-BE49-F238E27FC236}">
                  <a16:creationId xmlns:a16="http://schemas.microsoft.com/office/drawing/2014/main" id="{FF2238FB-C2AE-4EFB-A920-BFE49149118F}"/>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ru-RU" sz="2400">
                <a:latin typeface="Times New Roman" pitchFamily="18" charset="0"/>
              </a:endParaRPr>
            </a:p>
          </p:txBody>
        </p:sp>
        <p:sp>
          <p:nvSpPr>
            <p:cNvPr id="139270" name="Rectangle 6">
              <a:extLst>
                <a:ext uri="{FF2B5EF4-FFF2-40B4-BE49-F238E27FC236}">
                  <a16:creationId xmlns:a16="http://schemas.microsoft.com/office/drawing/2014/main" id="{898FD272-A936-4343-9AB5-CCEF198ACAA8}"/>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defRPr/>
              </a:pPr>
              <a:endParaRPr lang="ru-RU" sz="2400">
                <a:latin typeface="Times New Roman" pitchFamily="18" charset="0"/>
              </a:endParaRPr>
            </a:p>
          </p:txBody>
        </p:sp>
        <p:sp>
          <p:nvSpPr>
            <p:cNvPr id="139271" name="Rectangle 7">
              <a:extLst>
                <a:ext uri="{FF2B5EF4-FFF2-40B4-BE49-F238E27FC236}">
                  <a16:creationId xmlns:a16="http://schemas.microsoft.com/office/drawing/2014/main" id="{D6F4DC9D-D8C6-4FD2-9E59-730A41173815}"/>
                </a:ext>
              </a:extLst>
            </p:cNvPr>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defRPr/>
              </a:pPr>
              <a:endParaRPr lang="ru-RU">
                <a:solidFill>
                  <a:schemeClr val="hlink"/>
                </a:solidFill>
                <a:latin typeface="Arial" charset="0"/>
              </a:endParaRPr>
            </a:p>
          </p:txBody>
        </p:sp>
        <p:sp>
          <p:nvSpPr>
            <p:cNvPr id="139272" name="Rectangle 8">
              <a:extLst>
                <a:ext uri="{FF2B5EF4-FFF2-40B4-BE49-F238E27FC236}">
                  <a16:creationId xmlns:a16="http://schemas.microsoft.com/office/drawing/2014/main" id="{D51AC342-A108-4413-946D-55EC0D87BDE9}"/>
                </a:ext>
              </a:extLst>
            </p:cNvPr>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defRPr/>
              </a:pPr>
              <a:endParaRPr lang="ru-RU">
                <a:solidFill>
                  <a:schemeClr val="hlink"/>
                </a:solidFill>
                <a:latin typeface="Arial" charset="0"/>
              </a:endParaRPr>
            </a:p>
          </p:txBody>
        </p:sp>
        <p:sp>
          <p:nvSpPr>
            <p:cNvPr id="139273" name="Rectangle 9">
              <a:extLst>
                <a:ext uri="{FF2B5EF4-FFF2-40B4-BE49-F238E27FC236}">
                  <a16:creationId xmlns:a16="http://schemas.microsoft.com/office/drawing/2014/main" id="{C7D76B5F-3097-4753-AA95-18DDB834CC11}"/>
                </a:ext>
              </a:extLst>
            </p:cNvPr>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defRPr/>
              </a:pPr>
              <a:endParaRPr lang="ru-RU">
                <a:solidFill>
                  <a:schemeClr val="accent2"/>
                </a:solidFill>
                <a:latin typeface="Arial" charset="0"/>
              </a:endParaRPr>
            </a:p>
          </p:txBody>
        </p:sp>
        <p:sp>
          <p:nvSpPr>
            <p:cNvPr id="139274" name="Rectangle 10">
              <a:extLst>
                <a:ext uri="{FF2B5EF4-FFF2-40B4-BE49-F238E27FC236}">
                  <a16:creationId xmlns:a16="http://schemas.microsoft.com/office/drawing/2014/main" id="{5D6C044C-FDAB-4ED8-B6CF-41ED29F189C9}"/>
                </a:ext>
              </a:extLst>
            </p:cNvPr>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defRPr/>
              </a:pPr>
              <a:endParaRPr lang="ru-RU">
                <a:solidFill>
                  <a:schemeClr val="hlink"/>
                </a:solidFill>
                <a:latin typeface="Arial" charset="0"/>
              </a:endParaRPr>
            </a:p>
          </p:txBody>
        </p:sp>
        <p:sp>
          <p:nvSpPr>
            <p:cNvPr id="139275" name="Rectangle 11">
              <a:extLst>
                <a:ext uri="{FF2B5EF4-FFF2-40B4-BE49-F238E27FC236}">
                  <a16:creationId xmlns:a16="http://schemas.microsoft.com/office/drawing/2014/main" id="{B1BF26CB-C63C-4F1D-932D-A0677579A5E5}"/>
                </a:ext>
              </a:extLst>
            </p:cNvPr>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defRPr/>
              </a:pPr>
              <a:endParaRPr lang="ru-RU" sz="2400">
                <a:latin typeface="Times New Roman" pitchFamily="18" charset="0"/>
              </a:endParaRPr>
            </a:p>
          </p:txBody>
        </p:sp>
        <p:sp>
          <p:nvSpPr>
            <p:cNvPr id="139276" name="Rectangle 12">
              <a:extLst>
                <a:ext uri="{FF2B5EF4-FFF2-40B4-BE49-F238E27FC236}">
                  <a16:creationId xmlns:a16="http://schemas.microsoft.com/office/drawing/2014/main" id="{41CAC5E1-7A64-43EE-8424-BA82475C0121}"/>
                </a:ext>
              </a:extLst>
            </p:cNvPr>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defRPr/>
              </a:pPr>
              <a:endParaRPr lang="ru-RU">
                <a:solidFill>
                  <a:schemeClr val="accent2"/>
                </a:solidFill>
                <a:latin typeface="Arial" charset="0"/>
              </a:endParaRPr>
            </a:p>
          </p:txBody>
        </p:sp>
        <p:sp>
          <p:nvSpPr>
            <p:cNvPr id="139277" name="Rectangle 13">
              <a:extLst>
                <a:ext uri="{FF2B5EF4-FFF2-40B4-BE49-F238E27FC236}">
                  <a16:creationId xmlns:a16="http://schemas.microsoft.com/office/drawing/2014/main" id="{A8708216-D2B0-45CF-85D9-F7B434207CFF}"/>
                </a:ext>
              </a:extLst>
            </p:cNvPr>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defRPr/>
              </a:pPr>
              <a:endParaRPr lang="ru-RU">
                <a:solidFill>
                  <a:schemeClr val="accent2"/>
                </a:solidFill>
                <a:latin typeface="Arial" charset="0"/>
              </a:endParaRPr>
            </a:p>
          </p:txBody>
        </p:sp>
      </p:grpSp>
      <p:sp>
        <p:nvSpPr>
          <p:cNvPr id="2053" name="Rectangle 14">
            <a:extLst>
              <a:ext uri="{FF2B5EF4-FFF2-40B4-BE49-F238E27FC236}">
                <a16:creationId xmlns:a16="http://schemas.microsoft.com/office/drawing/2014/main" id="{018A44C6-A106-472B-BC6F-8AA221D7605B}"/>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ru-RU"/>
              <a:t>Образец заголовка</a:t>
            </a:r>
          </a:p>
        </p:txBody>
      </p:sp>
      <p:sp>
        <p:nvSpPr>
          <p:cNvPr id="2054" name="Rectangle 15">
            <a:extLst>
              <a:ext uri="{FF2B5EF4-FFF2-40B4-BE49-F238E27FC236}">
                <a16:creationId xmlns:a16="http://schemas.microsoft.com/office/drawing/2014/main" id="{69E20931-58DA-4C52-9C39-1250399E080E}"/>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139280" name="Rectangle 16">
            <a:extLst>
              <a:ext uri="{FF2B5EF4-FFF2-40B4-BE49-F238E27FC236}">
                <a16:creationId xmlns:a16="http://schemas.microsoft.com/office/drawing/2014/main" id="{CB81B1D6-B91A-4DD1-9C55-3310B131F391}"/>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ru-RU"/>
          </a:p>
        </p:txBody>
      </p:sp>
    </p:spTree>
    <p:extLst>
      <p:ext uri="{BB962C8B-B14F-4D97-AF65-F5344CB8AC3E}">
        <p14:creationId xmlns:p14="http://schemas.microsoft.com/office/powerpoint/2010/main" val="293385374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4" Type="http://schemas.openxmlformats.org/officeDocument/2006/relationships/image" Target="../media/image29.emf"/></Relationships>
</file>

<file path=ppt/slides/_rels/slide43.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3.xml"/></Relationships>
</file>

<file path=ppt/slides/_rels/slide52.xml.rels><?xml version="1.0" encoding="UTF-8" standalone="yes"?>
<Relationships xmlns="http://schemas.openxmlformats.org/package/2006/relationships"><Relationship Id="rId3" Type="http://schemas.openxmlformats.org/officeDocument/2006/relationships/image" Target="http://obzor.com.ua/dtp/kurs/i/font05.gif" TargetMode="External"/><Relationship Id="rId2" Type="http://schemas.openxmlformats.org/officeDocument/2006/relationships/image" Target="../media/image34.gif"/><Relationship Id="rId1" Type="http://schemas.openxmlformats.org/officeDocument/2006/relationships/slideLayout" Target="../slideLayouts/slideLayout32.xml"/><Relationship Id="rId5" Type="http://schemas.openxmlformats.org/officeDocument/2006/relationships/image" Target="../media/image33.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2D43958-8CE3-4A39-8E03-40D031C12B21}"/>
              </a:ext>
            </a:extLst>
          </p:cNvPr>
          <p:cNvSpPr>
            <a:spLocks noGrp="1"/>
          </p:cNvSpPr>
          <p:nvPr>
            <p:ph type="ctrTitle"/>
          </p:nvPr>
        </p:nvSpPr>
        <p:spPr>
          <a:xfrm>
            <a:off x="477520" y="1122362"/>
            <a:ext cx="8097520" cy="3927158"/>
          </a:xfrm>
        </p:spPr>
        <p:txBody>
          <a:bodyPr>
            <a:normAutofit/>
          </a:bodyPr>
          <a:lstStyle/>
          <a:p>
            <a:r>
              <a:rPr lang="uz" dirty="0"/>
              <a:t>Zamonaviy kompyuter texnologiyalari uchun amaliy dasturlar</a:t>
            </a:r>
            <a:endParaRPr lang="en-US" dirty="0"/>
          </a:p>
        </p:txBody>
      </p:sp>
    </p:spTree>
    <p:extLst>
      <p:ext uri="{BB962C8B-B14F-4D97-AF65-F5344CB8AC3E}">
        <p14:creationId xmlns:p14="http://schemas.microsoft.com/office/powerpoint/2010/main" val="480503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3">
            <a:extLst>
              <a:ext uri="{FF2B5EF4-FFF2-40B4-BE49-F238E27FC236}">
                <a16:creationId xmlns:a16="http://schemas.microsoft.com/office/drawing/2014/main" id="{BA05E8C7-FFBF-4F63-AF7C-5C70D244A143}"/>
              </a:ext>
            </a:extLst>
          </p:cNvPr>
          <p:cNvSpPr txBox="1">
            <a:spLocks noChangeArrowheads="1"/>
          </p:cNvSpPr>
          <p:nvPr/>
        </p:nvSpPr>
        <p:spPr bwMode="auto">
          <a:xfrm>
            <a:off x="685800" y="1676400"/>
            <a:ext cx="7467600"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800" b="1" i="1">
                <a:cs typeface="Arial" panose="020B0604020202020204" pitchFamily="34" charset="0"/>
              </a:rPr>
              <a:t>Windows uchun Microsoft Office </a:t>
            </a:r>
            <a:r>
              <a:rPr lang="uz" altLang="ru-RU" sz="2800" i="1">
                <a:cs typeface="Arial" panose="020B0604020202020204" pitchFamily="34" charset="0"/>
              </a:rPr>
              <a:t>- bu </a:t>
            </a:r>
            <a:r>
              <a:rPr lang="uz" altLang="ru-RU" sz="2800">
                <a:cs typeface="Arial" panose="020B0604020202020204" pitchFamily="34" charset="0"/>
              </a:rPr>
              <a:t>zamonaviy ofis ishini avtomatlashtirish uchun </a:t>
            </a:r>
            <a:endParaRPr lang="en-US" altLang="ru-RU" sz="2800" i="1">
              <a:cs typeface="Arial" panose="020B0604020202020204" pitchFamily="34" charset="0"/>
            </a:endParaRPr>
          </a:p>
          <a:p>
            <a:pPr algn="just" eaLnBrk="1" hangingPunct="1">
              <a:spcBef>
                <a:spcPct val="0"/>
              </a:spcBef>
              <a:buFontTx/>
              <a:buNone/>
            </a:pPr>
            <a:r>
              <a:rPr lang="uz" altLang="ru-RU" sz="2800" i="1">
                <a:cs typeface="Arial" panose="020B0604020202020204" pitchFamily="34" charset="0"/>
              </a:rPr>
              <a:t>MS Office </a:t>
            </a:r>
            <a:r>
              <a:rPr lang="uz" altLang="ru-RU" sz="2800">
                <a:cs typeface="Arial" panose="020B0604020202020204" pitchFamily="34" charset="0"/>
              </a:rPr>
              <a:t>hozirda eng mashhur paket bo'lib, Rossiyada de-fakto standart hisoblanadi.</a:t>
            </a:r>
          </a:p>
        </p:txBody>
      </p:sp>
      <p:sp>
        <p:nvSpPr>
          <p:cNvPr id="71683" name="Text Box 2">
            <a:extLst>
              <a:ext uri="{FF2B5EF4-FFF2-40B4-BE49-F238E27FC236}">
                <a16:creationId xmlns:a16="http://schemas.microsoft.com/office/drawing/2014/main" id="{F906C48E-36B3-47B9-9DFD-67F7BA073A16}"/>
              </a:ext>
            </a:extLst>
          </p:cNvPr>
          <p:cNvSpPr txBox="1">
            <a:spLocks noChangeArrowheads="1"/>
          </p:cNvSpPr>
          <p:nvPr/>
        </p:nvSpPr>
        <p:spPr bwMode="auto">
          <a:xfrm>
            <a:off x="1371600" y="685802"/>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800" b="1">
                <a:solidFill>
                  <a:srgbClr val="5F5F5F"/>
                </a:solidFill>
                <a:cs typeface="Arial" panose="020B0604020202020204" pitchFamily="34" charset="0"/>
              </a:rPr>
              <a:t>O fiskal texnologiya MS Office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D6F81D23-1D83-42D9-9A48-0F01B6E46C61}"/>
              </a:ext>
            </a:extLst>
          </p:cNvPr>
          <p:cNvSpPr txBox="1">
            <a:spLocks noChangeArrowheads="1"/>
          </p:cNvSpPr>
          <p:nvPr/>
        </p:nvSpPr>
        <p:spPr bwMode="auto">
          <a:xfrm>
            <a:off x="1547813" y="692152"/>
            <a:ext cx="5867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800" b="1">
                <a:solidFill>
                  <a:srgbClr val="CC3300"/>
                </a:solidFill>
                <a:cs typeface="Arial" panose="020B0604020202020204" pitchFamily="34" charset="0"/>
              </a:rPr>
              <a:t>O fiskal texnologiya MS Office</a:t>
            </a:r>
          </a:p>
        </p:txBody>
      </p:sp>
      <p:sp>
        <p:nvSpPr>
          <p:cNvPr id="72707" name="Text Box 3">
            <a:extLst>
              <a:ext uri="{FF2B5EF4-FFF2-40B4-BE49-F238E27FC236}">
                <a16:creationId xmlns:a16="http://schemas.microsoft.com/office/drawing/2014/main" id="{6C323333-9EEE-4C90-8FBE-6C95F0F08632}"/>
              </a:ext>
            </a:extLst>
          </p:cNvPr>
          <p:cNvSpPr txBox="1">
            <a:spLocks noChangeArrowheads="1"/>
          </p:cNvSpPr>
          <p:nvPr/>
        </p:nvSpPr>
        <p:spPr bwMode="auto">
          <a:xfrm>
            <a:off x="323852" y="1773240"/>
            <a:ext cx="8602663" cy="415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CC3300"/>
                </a:solidFill>
                <a:cs typeface="Arial" panose="020B0604020202020204" pitchFamily="34" charset="0"/>
              </a:rPr>
              <a:t>MS Office </a:t>
            </a:r>
            <a:r>
              <a:rPr lang="uz" altLang="ru-RU" sz="2400">
                <a:cs typeface="Arial" panose="020B0604020202020204" pitchFamily="34" charset="0"/>
              </a:rPr>
              <a:t>axborot texnologiyalari muntazam funktsiyalarni avtomatlashtiradi. Bular elektron ofis tizimiga birlashtirilgan va </a:t>
            </a:r>
            <a:r>
              <a:rPr lang="uz" altLang="ru-RU" sz="2400" b="1">
                <a:cs typeface="Arial" panose="020B0604020202020204" pitchFamily="34" charset="0"/>
              </a:rPr>
              <a:t>ofis ilovalari deb ataladi </a:t>
            </a:r>
            <a:r>
              <a:rPr lang="uz" altLang="ru-RU" sz="2400">
                <a:cs typeface="Arial" panose="020B0604020202020204" pitchFamily="34" charset="0"/>
              </a:rPr>
              <a:t>.</a:t>
            </a:r>
          </a:p>
          <a:p>
            <a:pPr algn="just" eaLnBrk="1" hangingPunct="1">
              <a:spcBef>
                <a:spcPct val="0"/>
              </a:spcBef>
              <a:buFontTx/>
              <a:buNone/>
            </a:pPr>
            <a:r>
              <a:rPr lang="uz" altLang="ru-RU" sz="2400" b="1" i="1">
                <a:cs typeface="Arial" panose="020B0604020202020204" pitchFamily="34" charset="0"/>
              </a:rPr>
              <a:t>MS Office </a:t>
            </a:r>
            <a:r>
              <a:rPr lang="uz" altLang="ru-RU" sz="2400">
                <a:cs typeface="Arial" panose="020B0604020202020204" pitchFamily="34" charset="0"/>
              </a:rPr>
              <a:t>tarkibiga quyidagilar kiradi: </a:t>
            </a:r>
            <a:r>
              <a:rPr lang="uz" altLang="ru-RU" sz="2400" i="1">
                <a:cs typeface="Arial" panose="020B0604020202020204" pitchFamily="34" charset="0"/>
              </a:rPr>
              <a:t>Word </a:t>
            </a:r>
            <a:r>
              <a:rPr lang="uz" altLang="ru-RU" sz="2400">
                <a:cs typeface="Arial" panose="020B0604020202020204" pitchFamily="34" charset="0"/>
              </a:rPr>
              <a:t>(matn protsessori), </a:t>
            </a:r>
            <a:r>
              <a:rPr lang="uz" altLang="ru-RU" sz="2400" i="1">
                <a:cs typeface="Arial" panose="020B0604020202020204" pitchFamily="34" charset="0"/>
              </a:rPr>
              <a:t>Excel </a:t>
            </a:r>
            <a:r>
              <a:rPr lang="uz" altLang="ru-RU" sz="2400">
                <a:cs typeface="Arial" panose="020B0604020202020204" pitchFamily="34" charset="0"/>
              </a:rPr>
              <a:t>(elektron jadval), </a:t>
            </a:r>
            <a:r>
              <a:rPr lang="uz" altLang="ru-RU" sz="2400" i="1">
                <a:cs typeface="Arial" panose="020B0604020202020204" pitchFamily="34" charset="0"/>
              </a:rPr>
              <a:t>Access </a:t>
            </a:r>
            <a:r>
              <a:rPr lang="uz" altLang="ru-RU" sz="2400">
                <a:cs typeface="Arial" panose="020B0604020202020204" pitchFamily="34" charset="0"/>
              </a:rPr>
              <a:t>(ma'lumotlar bazasini boshqarish tizimi), </a:t>
            </a:r>
            <a:r>
              <a:rPr lang="uz" altLang="ru-RU" sz="2400" i="1">
                <a:cs typeface="Arial" panose="020B0604020202020204" pitchFamily="34" charset="0"/>
              </a:rPr>
              <a:t>PowerPoint </a:t>
            </a:r>
            <a:r>
              <a:rPr lang="uz" altLang="ru-RU" sz="2400">
                <a:cs typeface="Arial" panose="020B0604020202020204" pitchFamily="34" charset="0"/>
              </a:rPr>
              <a:t>(taqdimotlarni tayyorlash), </a:t>
            </a:r>
            <a:r>
              <a:rPr lang="uz" altLang="ru-RU" sz="2400" i="1">
                <a:cs typeface="Arial" panose="020B0604020202020204" pitchFamily="34" charset="0"/>
              </a:rPr>
              <a:t>Outlook Express </a:t>
            </a:r>
            <a:r>
              <a:rPr lang="uz" altLang="ru-RU" sz="2400">
                <a:cs typeface="Arial" panose="020B0604020202020204" pitchFamily="34" charset="0"/>
              </a:rPr>
              <a:t>(elektron pochta va shaxsiy menejer), </a:t>
            </a:r>
            <a:r>
              <a:rPr lang="uz" altLang="ru-RU" sz="2400" i="1">
                <a:cs typeface="Arial" panose="020B0604020202020204" pitchFamily="34" charset="0"/>
              </a:rPr>
              <a:t>Publisher </a:t>
            </a:r>
            <a:r>
              <a:rPr lang="uz" altLang="ru-RU" sz="2400">
                <a:cs typeface="Arial" panose="020B0604020202020204" pitchFamily="34" charset="0"/>
              </a:rPr>
              <a:t>(ish stoli nashriyot tizimi).</a:t>
            </a:r>
            <a:endParaRPr lang="ru-RU" altLang="ru-RU" sz="2400" b="1" i="1">
              <a:cs typeface="Arial" panose="020B0604020202020204" pitchFamily="34" charset="0"/>
            </a:endParaRPr>
          </a:p>
          <a:p>
            <a:pPr algn="just" eaLnBrk="1" hangingPunct="1">
              <a:spcBef>
                <a:spcPct val="0"/>
              </a:spcBef>
              <a:buFontTx/>
              <a:buNone/>
            </a:pPr>
            <a:r>
              <a:rPr lang="uz" altLang="ru-RU" sz="2400" b="1" i="1">
                <a:cs typeface="Arial" panose="020B0604020202020204" pitchFamily="34" charset="0"/>
              </a:rPr>
              <a:t>Word - so'z protsessori </a:t>
            </a:r>
            <a:r>
              <a:rPr lang="uz" altLang="ru-RU" sz="2400">
                <a:cs typeface="Arial" panose="020B0604020202020204" pitchFamily="34" charset="0"/>
              </a:rPr>
              <a:t>- tarixan birinchi va eng ko'p ishlatiladigan dastur.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1772785A-5D41-4791-BCA9-53382775A854}"/>
              </a:ext>
            </a:extLst>
          </p:cNvPr>
          <p:cNvSpPr txBox="1">
            <a:spLocks noChangeArrowheads="1"/>
          </p:cNvSpPr>
          <p:nvPr/>
        </p:nvSpPr>
        <p:spPr bwMode="auto">
          <a:xfrm>
            <a:off x="323852" y="1557338"/>
            <a:ext cx="83851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a:cs typeface="Arial" panose="020B0604020202020204" pitchFamily="34" charset="0"/>
              </a:rPr>
              <a:t>Elektron ofis </a:t>
            </a:r>
            <a:r>
              <a:rPr lang="uz" altLang="ru-RU" sz="2400" b="1" i="1">
                <a:solidFill>
                  <a:srgbClr val="5F5F5F"/>
                </a:solidFill>
                <a:cs typeface="Arial" panose="020B0604020202020204" pitchFamily="34" charset="0"/>
              </a:rPr>
              <a:t>OLE texnologiyasidan foydalanadi </a:t>
            </a:r>
            <a:r>
              <a:rPr lang="uz" altLang="ru-RU" sz="2400">
                <a:cs typeface="Arial" panose="020B0604020202020204" pitchFamily="34" charset="0"/>
              </a:rPr>
              <a:t>, bu sizga turli xil ilovalar tomonidan yaratilgan ob'ektlarni (matnlar, hujjatlar, chizmalar, jadvallar va boshqalar) bir hujjatga bog'lash imkonini beradi.</a:t>
            </a:r>
          </a:p>
          <a:p>
            <a:pPr algn="just" eaLnBrk="1" hangingPunct="1">
              <a:spcBef>
                <a:spcPct val="0"/>
              </a:spcBef>
              <a:buFontTx/>
              <a:buNone/>
            </a:pPr>
            <a:r>
              <a:rPr lang="uz" altLang="ru-RU" sz="2400" i="1">
                <a:cs typeface="Arial" panose="020B0604020202020204" pitchFamily="34" charset="0"/>
              </a:rPr>
              <a:t>Microsoft </a:t>
            </a:r>
            <a:r>
              <a:rPr lang="uz" altLang="ru-RU" sz="2400">
                <a:cs typeface="Arial" panose="020B0604020202020204" pitchFamily="34" charset="0"/>
              </a:rPr>
              <a:t>korporatsiyasi </a:t>
            </a:r>
            <a:r>
              <a:rPr lang="uz" altLang="ru-RU" sz="2400" i="1">
                <a:cs typeface="Arial" panose="020B0604020202020204" pitchFamily="34" charset="0"/>
              </a:rPr>
              <a:t>OLE </a:t>
            </a:r>
            <a:r>
              <a:rPr lang="uz" altLang="ru-RU" sz="2400">
                <a:cs typeface="Arial" panose="020B0604020202020204" pitchFamily="34" charset="0"/>
              </a:rPr>
              <a:t>( </a:t>
            </a:r>
            <a:r>
              <a:rPr lang="uz" altLang="ru-RU" sz="2400" i="1">
                <a:cs typeface="Arial" panose="020B0604020202020204" pitchFamily="34" charset="0"/>
              </a:rPr>
              <a:t>Object Linking and Embedding ) protokolini </a:t>
            </a:r>
            <a:r>
              <a:rPr lang="uz" altLang="ru-RU" sz="2400">
                <a:cs typeface="Arial" panose="020B0604020202020204" pitchFamily="34" charset="0"/>
              </a:rPr>
              <a:t>yaratdi , bu sizga turli ilovalarda yaratilgan hujjatlarni (fragmentlarni) birlashtirish imkonini beradi.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Прямоугольник 1">
            <a:extLst>
              <a:ext uri="{FF2B5EF4-FFF2-40B4-BE49-F238E27FC236}">
                <a16:creationId xmlns:a16="http://schemas.microsoft.com/office/drawing/2014/main" id="{5877CAEE-6F05-41A9-8FE9-21B52BF505F5}"/>
              </a:ext>
            </a:extLst>
          </p:cNvPr>
          <p:cNvSpPr>
            <a:spLocks noChangeArrowheads="1"/>
          </p:cNvSpPr>
          <p:nvPr/>
        </p:nvSpPr>
        <p:spPr bwMode="auto">
          <a:xfrm>
            <a:off x="323852" y="765177"/>
            <a:ext cx="8424863"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i="1" u="sng">
                <a:solidFill>
                  <a:srgbClr val="5F5F5F"/>
                </a:solidFill>
                <a:cs typeface="Arial" panose="020B0604020202020204" pitchFamily="34" charset="0"/>
              </a:rPr>
              <a:t>OLE </a:t>
            </a:r>
            <a:r>
              <a:rPr lang="uz" altLang="ru-RU" sz="2400" b="1" u="sng">
                <a:solidFill>
                  <a:srgbClr val="5F5F5F"/>
                </a:solidFill>
                <a:cs typeface="Arial" panose="020B0604020202020204" pitchFamily="34" charset="0"/>
              </a:rPr>
              <a:t>protokoli quyidagilarni ta'minlaydi:</a:t>
            </a:r>
          </a:p>
          <a:p>
            <a:pPr algn="just" eaLnBrk="1" hangingPunct="1">
              <a:spcBef>
                <a:spcPct val="0"/>
              </a:spcBef>
              <a:buFontTx/>
              <a:buNone/>
            </a:pPr>
            <a:r>
              <a:rPr lang="uz" altLang="ru-RU" sz="2400">
                <a:cs typeface="Arial" panose="020B0604020202020204" pitchFamily="34" charset="0"/>
              </a:rPr>
              <a:t>Kompozit hujjatlar tushunchasi.</a:t>
            </a:r>
          </a:p>
          <a:p>
            <a:pPr algn="just" eaLnBrk="1" hangingPunct="1">
              <a:spcBef>
                <a:spcPct val="0"/>
              </a:spcBef>
              <a:buFontTx/>
              <a:buNone/>
            </a:pPr>
            <a:r>
              <a:rPr lang="uz" altLang="ru-RU" sz="2400">
                <a:cs typeface="Arial" panose="020B0604020202020204" pitchFamily="34" charset="0"/>
              </a:rPr>
              <a:t>Masalan,</a:t>
            </a:r>
          </a:p>
          <a:p>
            <a:pPr algn="just" eaLnBrk="1" hangingPunct="1">
              <a:spcBef>
                <a:spcPct val="0"/>
              </a:spcBef>
              <a:buFontTx/>
              <a:buNone/>
            </a:pPr>
            <a:r>
              <a:rPr lang="uz" altLang="ru-RU" sz="2400" i="1">
                <a:cs typeface="Arial" panose="020B0604020202020204" pitchFamily="34" charset="0"/>
              </a:rPr>
              <a:t>Word </a:t>
            </a:r>
            <a:r>
              <a:rPr lang="uz" altLang="ru-RU" sz="2400">
                <a:cs typeface="Arial" panose="020B0604020202020204" pitchFamily="34" charset="0"/>
              </a:rPr>
              <a:t>hujjatiga </a:t>
            </a:r>
            <a:r>
              <a:rPr lang="uz" altLang="ru-RU" sz="2400" i="1">
                <a:cs typeface="Arial" panose="020B0604020202020204" pitchFamily="34" charset="0"/>
              </a:rPr>
              <a:t>Excel diagrammasi </a:t>
            </a:r>
            <a:r>
              <a:rPr lang="uz" altLang="ru-RU" sz="2400">
                <a:cs typeface="Arial" panose="020B0604020202020204" pitchFamily="34" charset="0"/>
              </a:rPr>
              <a:t>va boshqalarni kiritishingiz mumkin .</a:t>
            </a:r>
          </a:p>
          <a:p>
            <a:pPr algn="just" eaLnBrk="1" hangingPunct="1">
              <a:spcBef>
                <a:spcPct val="0"/>
              </a:spcBef>
              <a:buFontTx/>
              <a:buNone/>
            </a:pPr>
            <a:r>
              <a:rPr lang="uz" altLang="ru-RU" sz="2400">
                <a:cs typeface="Arial" panose="020B0604020202020204" pitchFamily="34" charset="0"/>
              </a:rPr>
              <a:t>Ushbu texnologiya ikkita mumkin bo'lgan komponentga ega: </a:t>
            </a:r>
            <a:r>
              <a:rPr lang="uz" altLang="ru-RU" sz="2400" b="1">
                <a:cs typeface="Arial" panose="020B0604020202020204" pitchFamily="34" charset="0"/>
              </a:rPr>
              <a:t>o'rnatish </a:t>
            </a:r>
            <a:r>
              <a:rPr lang="uz" altLang="ru-RU" sz="2400">
                <a:cs typeface="Arial" panose="020B0604020202020204" pitchFamily="34" charset="0"/>
              </a:rPr>
              <a:t>va </a:t>
            </a:r>
            <a:r>
              <a:rPr lang="uz" altLang="ru-RU" sz="2400" b="1">
                <a:cs typeface="Arial" panose="020B0604020202020204" pitchFamily="34" charset="0"/>
              </a:rPr>
              <a:t>bog'lash </a:t>
            </a:r>
            <a:r>
              <a:rPr lang="uz" altLang="ru-RU" sz="2400">
                <a:cs typeface="Arial" panose="020B0604020202020204" pitchFamily="34" charset="0"/>
              </a:rPr>
              <a:t>. Agar bitta ob'ekt boshqalar </a:t>
            </a:r>
            <a:r>
              <a:rPr lang="uz" altLang="ru-RU" sz="2400" i="1">
                <a:cs typeface="Arial" panose="020B0604020202020204" pitchFamily="34" charset="0"/>
              </a:rPr>
              <a:t>bilan </a:t>
            </a:r>
            <a:r>
              <a:rPr lang="uz" altLang="ru-RU" sz="2400">
                <a:cs typeface="Arial" panose="020B0604020202020204" pitchFamily="34" charset="0"/>
              </a:rPr>
              <a:t>bog'langan bo'lsa , manbani o'zgartirish (u qaerdan kelgan) bog'langan ob'ektni o'zgartiradi. Agar ob'ekt bir nechta hujjatlar </a:t>
            </a:r>
            <a:r>
              <a:rPr lang="uz" altLang="ru-RU" sz="2400" i="1">
                <a:cs typeface="Arial" panose="020B0604020202020204" pitchFamily="34" charset="0"/>
              </a:rPr>
              <a:t>bilan bog'langan bo'lsa </a:t>
            </a:r>
            <a:r>
              <a:rPr lang="uz" altLang="ru-RU" sz="2400">
                <a:cs typeface="Arial" panose="020B0604020202020204" pitchFamily="34" charset="0"/>
              </a:rPr>
              <a:t>, u holda asl nusxadagi o'zgarishlar barcha bog'langan ob'ektlarda aks etadi.</a:t>
            </a:r>
          </a:p>
          <a:p>
            <a:pPr algn="just" eaLnBrk="1" hangingPunct="1">
              <a:spcBef>
                <a:spcPct val="0"/>
              </a:spcBef>
              <a:buFontTx/>
              <a:buNone/>
            </a:pPr>
            <a:r>
              <a:rPr lang="uz" altLang="ru-RU" sz="2400">
                <a:cs typeface="Arial" panose="020B0604020202020204" pitchFamily="34" charset="0"/>
              </a:rPr>
              <a:t>Agar ob'ekt hujjatga " </a:t>
            </a:r>
            <a:r>
              <a:rPr lang="uz" altLang="ru-RU" sz="2400" i="1">
                <a:cs typeface="Arial" panose="020B0604020202020204" pitchFamily="34" charset="0"/>
              </a:rPr>
              <a:t>ko'milgan" bo'lsa, asl nusxaga kiritilgan o'zgartirishlar </a:t>
            </a:r>
            <a:r>
              <a:rPr lang="uz" altLang="ru-RU" sz="2400">
                <a:solidFill>
                  <a:srgbClr val="5F5F5F"/>
                </a:solidFill>
                <a:cs typeface="Arial" panose="020B0604020202020204" pitchFamily="34" charset="0"/>
              </a:rPr>
              <a:t>o'rnatilgan ob'ektni o'zgartirmaydi.</a:t>
            </a:r>
            <a:endParaRPr lang="ru-RU" altLang="ru-RU" sz="240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EB641644-99A3-42A4-B1C8-C21FFBB8D534}"/>
              </a:ext>
            </a:extLst>
          </p:cNvPr>
          <p:cNvSpPr txBox="1">
            <a:spLocks noChangeArrowheads="1"/>
          </p:cNvSpPr>
          <p:nvPr/>
        </p:nvSpPr>
        <p:spPr bwMode="auto">
          <a:xfrm>
            <a:off x="457200" y="1600202"/>
            <a:ext cx="80772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800" b="1">
                <a:solidFill>
                  <a:srgbClr val="993300"/>
                </a:solidFill>
                <a:latin typeface="Times New Roman" panose="02020603050405020304" pitchFamily="18" charset="0"/>
                <a:cs typeface="Arial" panose="020B0604020202020204" pitchFamily="34" charset="0"/>
              </a:rPr>
              <a:t>Microsoft Office </a:t>
            </a:r>
            <a:r>
              <a:rPr lang="uz" altLang="ru-RU" sz="2800">
                <a:latin typeface="Times New Roman" panose="02020603050405020304" pitchFamily="18" charset="0"/>
                <a:cs typeface="Arial" panose="020B0604020202020204" pitchFamily="34" charset="0"/>
              </a:rPr>
              <a:t>to'plami har biri muayyan vazifalar uchun mo'ljallangan va mustaqil ravishda foydalanishga qodir bo'lgan ilovalarni o'z ichiga oladi. </a:t>
            </a:r>
            <a:r>
              <a:rPr lang="uz" altLang="ru-RU" sz="2800" b="1">
                <a:solidFill>
                  <a:srgbClr val="993300"/>
                </a:solidFill>
                <a:latin typeface="Times New Roman" panose="02020603050405020304" pitchFamily="18" charset="0"/>
                <a:cs typeface="Arial" panose="020B0604020202020204" pitchFamily="34" charset="0"/>
              </a:rPr>
              <a:t>Ofis ilovalari to'plamini asosiy va qo'shimchaga bo'lish mumkin </a:t>
            </a:r>
            <a:r>
              <a:rPr lang="uz" altLang="ru-RU" sz="2800">
                <a:latin typeface="Times New Roman" panose="02020603050405020304" pitchFamily="18" charset="0"/>
                <a:cs typeface="Arial" panose="020B060402020202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a:extLst>
              <a:ext uri="{FF2B5EF4-FFF2-40B4-BE49-F238E27FC236}">
                <a16:creationId xmlns:a16="http://schemas.microsoft.com/office/drawing/2014/main" id="{BBF00DC5-8819-4929-8D4E-792261FF19CC}"/>
              </a:ext>
            </a:extLst>
          </p:cNvPr>
          <p:cNvSpPr txBox="1">
            <a:spLocks noChangeArrowheads="1"/>
          </p:cNvSpPr>
          <p:nvPr/>
        </p:nvSpPr>
        <p:spPr bwMode="auto">
          <a:xfrm>
            <a:off x="381000" y="1600200"/>
            <a:ext cx="8305800"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800" b="1">
                <a:latin typeface="Times New Roman" panose="02020603050405020304" pitchFamily="18" charset="0"/>
                <a:cs typeface="Arial" panose="020B0604020202020204" pitchFamily="34" charset="0"/>
              </a:rPr>
              <a:t>Dasturiy ta'minot muhiti</a:t>
            </a:r>
          </a:p>
          <a:p>
            <a:pPr algn="just" eaLnBrk="1" hangingPunct="1">
              <a:spcBef>
                <a:spcPct val="0"/>
              </a:spcBef>
              <a:buFontTx/>
              <a:buNone/>
            </a:pPr>
            <a:r>
              <a:rPr lang="uz" altLang="ru-RU" sz="2400">
                <a:latin typeface="Times New Roman" panose="02020603050405020304" pitchFamily="18" charset="0"/>
                <a:cs typeface="Arial" panose="020B0604020202020204" pitchFamily="34" charset="0"/>
              </a:rPr>
              <a:t>MS Office-da ilovalarni ishlab chiqish uchun asosiy vosita Visual Basic-ga asoslangan yechim, xususan Visual Basic for Application (VBA). Ushbu vositalar to'plamning funksionalligini kengaytirish va muayyan vazifalarga moslashtirish imkonini beradi.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F5D6E58F-F219-47EC-BA3A-9A271DC5F8EE}"/>
              </a:ext>
            </a:extLst>
          </p:cNvPr>
          <p:cNvSpPr txBox="1">
            <a:spLocks noChangeArrowheads="1"/>
          </p:cNvSpPr>
          <p:nvPr/>
        </p:nvSpPr>
        <p:spPr bwMode="auto">
          <a:xfrm>
            <a:off x="539750" y="1295402"/>
            <a:ext cx="80645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a:cs typeface="Arial" panose="020B0604020202020204" pitchFamily="34" charset="0"/>
              </a:rPr>
              <a:t>Microsoft Office ning afzalliklaridan biri operatsion tizim tomonidan taqdim etilgan grafik foydalanuvchi interfeysidan (GUI) foydalanishdir.</a:t>
            </a:r>
          </a:p>
          <a:p>
            <a:pPr algn="just" eaLnBrk="1" hangingPunct="1">
              <a:spcBef>
                <a:spcPct val="0"/>
              </a:spcBef>
              <a:buFontTx/>
              <a:buNone/>
            </a:pPr>
            <a:r>
              <a:rPr lang="uz" altLang="ru-RU" sz="2400">
                <a:cs typeface="Arial" panose="020B0604020202020204" pitchFamily="34" charset="0"/>
              </a:rPr>
              <a:t>Masalan, elementlar oynalar (ilova oynasi; hujjat oynasi; dialog oynasi, forma), asboblar paneli, menyular kabi yirik tuzilmalarga birlashtirilgan.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Прямоугольник 1">
            <a:extLst>
              <a:ext uri="{FF2B5EF4-FFF2-40B4-BE49-F238E27FC236}">
                <a16:creationId xmlns:a16="http://schemas.microsoft.com/office/drawing/2014/main" id="{82B9008C-5267-4DD1-A7E3-508520E14728}"/>
              </a:ext>
            </a:extLst>
          </p:cNvPr>
          <p:cNvSpPr>
            <a:spLocks noChangeArrowheads="1"/>
          </p:cNvSpPr>
          <p:nvPr/>
        </p:nvSpPr>
        <p:spPr bwMode="auto">
          <a:xfrm>
            <a:off x="212725" y="476252"/>
            <a:ext cx="87391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a:latin typeface="Times New Roman" panose="02020603050405020304" pitchFamily="18" charset="0"/>
              </a:rPr>
              <a:t>MS Office to'plamining so'nggi versiyasi 2012 yilda Microsoft Office 2013 nomi bilan chiqarilgan. Ushbu versiya Office 2013 yoki Office 15 sifatida ham tanilgan. Yangi Office SkyDrive bulutli xotirasi bilan integratsiyalashgan, PDF fayllarni qo'llab-quvvatlaydi va onlayn videolarni joylashtirish imkonini beradi.</a:t>
            </a:r>
          </a:p>
        </p:txBody>
      </p:sp>
      <p:pic>
        <p:nvPicPr>
          <p:cNvPr id="78851" name="Picture 2">
            <a:extLst>
              <a:ext uri="{FF2B5EF4-FFF2-40B4-BE49-F238E27FC236}">
                <a16:creationId xmlns:a16="http://schemas.microsoft.com/office/drawing/2014/main" id="{4D5B3300-2EC3-44CC-91E8-23EB350F2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52" y="3068640"/>
            <a:ext cx="5349875" cy="300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9">
            <a:extLst>
              <a:ext uri="{FF2B5EF4-FFF2-40B4-BE49-F238E27FC236}">
                <a16:creationId xmlns:a16="http://schemas.microsoft.com/office/drawing/2014/main" id="{97C0B9FB-1E17-493A-A477-BFA809C7C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5" y="3357563"/>
            <a:ext cx="3741737" cy="210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Прямоугольник 4">
            <a:extLst>
              <a:ext uri="{FF2B5EF4-FFF2-40B4-BE49-F238E27FC236}">
                <a16:creationId xmlns:a16="http://schemas.microsoft.com/office/drawing/2014/main" id="{082BC876-C4D7-442A-951A-49C0A9F3BEB1}"/>
              </a:ext>
            </a:extLst>
          </p:cNvPr>
          <p:cNvSpPr>
            <a:spLocks noChangeArrowheads="1"/>
          </p:cNvSpPr>
          <p:nvPr/>
        </p:nvSpPr>
        <p:spPr bwMode="auto">
          <a:xfrm>
            <a:off x="323852" y="981075"/>
            <a:ext cx="82089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uz" altLang="ru-RU" sz="2800" b="1">
                <a:solidFill>
                  <a:srgbClr val="FF0000"/>
                </a:solidFill>
                <a:latin typeface="Times New Roman" panose="02020603050405020304" pitchFamily="18" charset="0"/>
              </a:rPr>
              <a:t>To'g'ri joyda va kerakli vaqtda ofis</a:t>
            </a:r>
          </a:p>
          <a:p>
            <a:pPr algn="just" eaLnBrk="1" hangingPunct="1">
              <a:spcBef>
                <a:spcPct val="0"/>
              </a:spcBef>
              <a:buFontTx/>
              <a:buNone/>
            </a:pPr>
            <a:r>
              <a:rPr lang="uz" altLang="ru-RU" sz="2800">
                <a:solidFill>
                  <a:srgbClr val="000000"/>
                </a:solidFill>
                <a:latin typeface="Times New Roman" panose="02020603050405020304" pitchFamily="18" charset="0"/>
              </a:rPr>
              <a:t>Yo'lda ishlash uchun shaxsiy kompyuterlar yoki Mac, planshetlar va smartfonlarda har qanday boshqa vaziyatda Office Online-dan foydalaning.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a:extLst>
              <a:ext uri="{FF2B5EF4-FFF2-40B4-BE49-F238E27FC236}">
                <a16:creationId xmlns:a16="http://schemas.microsoft.com/office/drawing/2014/main" id="{3F9C5AB5-2B50-4E01-A181-4185111F94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554" t="30649" r="26549" b="9148"/>
          <a:stretch>
            <a:fillRect/>
          </a:stretch>
        </p:blipFill>
        <p:spPr bwMode="auto">
          <a:xfrm>
            <a:off x="250825" y="188915"/>
            <a:ext cx="8497888" cy="650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Прямоугольник 1">
            <a:extLst>
              <a:ext uri="{FF2B5EF4-FFF2-40B4-BE49-F238E27FC236}">
                <a16:creationId xmlns:a16="http://schemas.microsoft.com/office/drawing/2014/main" id="{45F06A83-4A61-4C8F-B90D-EDFDF71318BD}"/>
              </a:ext>
            </a:extLst>
          </p:cNvPr>
          <p:cNvSpPr>
            <a:spLocks noChangeArrowheads="1"/>
          </p:cNvSpPr>
          <p:nvPr/>
        </p:nvSpPr>
        <p:spPr bwMode="auto">
          <a:xfrm>
            <a:off x="395288" y="981075"/>
            <a:ext cx="8424862"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C00000"/>
                </a:solidFill>
                <a:latin typeface="Times New Roman" panose="02020603050405020304" pitchFamily="18" charset="0"/>
              </a:rPr>
              <a:t>Microsoft Office bir nechta nashrlarda mavjud </a:t>
            </a:r>
            <a:r>
              <a:rPr lang="uz" altLang="ru-RU" sz="2400">
                <a:solidFill>
                  <a:srgbClr val="C00000"/>
                </a:solidFill>
                <a:latin typeface="Times New Roman" panose="02020603050405020304" pitchFamily="18" charset="0"/>
              </a:rPr>
              <a:t>. Nashrlar orasidagi farqlar paket tarkibi va narxini o'z ichiga oladi.</a:t>
            </a:r>
          </a:p>
          <a:p>
            <a:pPr algn="just" eaLnBrk="1" hangingPunct="1">
              <a:spcBef>
                <a:spcPct val="0"/>
              </a:spcBef>
              <a:buFontTx/>
              <a:buNone/>
            </a:pPr>
            <a:r>
              <a:rPr lang="uz" altLang="ru-RU" sz="2400">
                <a:solidFill>
                  <a:srgbClr val="C00000"/>
                </a:solidFill>
                <a:latin typeface="Times New Roman" panose="02020603050405020304" pitchFamily="18" charset="0"/>
              </a:rPr>
              <a:t>Ularning eng to'liqligi quyidagilarni o'z ichiga oladi:</a:t>
            </a:r>
          </a:p>
          <a:p>
            <a:pPr algn="just" eaLnBrk="1" hangingPunct="1">
              <a:spcBef>
                <a:spcPct val="0"/>
              </a:spcBef>
              <a:buFontTx/>
              <a:buNone/>
            </a:pPr>
            <a:r>
              <a:rPr lang="uz" altLang="ru-RU" sz="2400" b="1">
                <a:solidFill>
                  <a:srgbClr val="C00000"/>
                </a:solidFill>
                <a:latin typeface="Times New Roman" panose="02020603050405020304" pitchFamily="18" charset="0"/>
              </a:rPr>
              <a:t>Microsoft Word </a:t>
            </a:r>
            <a:r>
              <a:rPr lang="uz" altLang="ru-RU" sz="2400">
                <a:latin typeface="Times New Roman" panose="02020603050405020304" pitchFamily="18" charset="0"/>
              </a:rPr>
              <a:t>Windows va Apple Mac OS uchun mavjud bo'lgan so'z protsessoridir.</a:t>
            </a:r>
          </a:p>
          <a:p>
            <a:pPr algn="just" eaLnBrk="1" hangingPunct="1">
              <a:spcBef>
                <a:spcPct val="0"/>
              </a:spcBef>
              <a:buFontTx/>
              <a:buNone/>
            </a:pPr>
            <a:r>
              <a:rPr lang="uz" altLang="ru-RU" sz="2400">
                <a:latin typeface="Times New Roman" panose="02020603050405020304" pitchFamily="18" charset="0"/>
              </a:rPr>
              <a:t>Turli murakkablikdagi hujjatlarni tayyorlash imkonini beradi. Mahsulot so'z protsessorlari bozorida etakchi o'rinni egallaydi va uning formatlari ko'pchilik korxonalarda hujjat aylanishida de-fakto standart sifatida qo'llaniladi.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Прямоугольник 1">
            <a:extLst>
              <a:ext uri="{FF2B5EF4-FFF2-40B4-BE49-F238E27FC236}">
                <a16:creationId xmlns:a16="http://schemas.microsoft.com/office/drawing/2014/main" id="{70B096AB-B95C-42CA-AD54-570FA413BD64}"/>
              </a:ext>
            </a:extLst>
          </p:cNvPr>
          <p:cNvSpPr>
            <a:spLocks noChangeArrowheads="1"/>
          </p:cNvSpPr>
          <p:nvPr/>
        </p:nvSpPr>
        <p:spPr bwMode="auto">
          <a:xfrm>
            <a:off x="395288" y="1196975"/>
            <a:ext cx="8424862"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C00000"/>
                </a:solidFill>
                <a:latin typeface="Times New Roman" panose="02020603050405020304" pitchFamily="18" charset="0"/>
              </a:rPr>
              <a:t>Microsoft Excel elektron jadval </a:t>
            </a:r>
            <a:r>
              <a:rPr lang="uz" altLang="ru-RU" sz="2400">
                <a:latin typeface="Times New Roman" panose="02020603050405020304" pitchFamily="18" charset="0"/>
              </a:rPr>
              <a:t>dasturidir . U har qanday murakkablikdagi elektron jadvallarni yaratishni qo'llab-quvvatlaydi va bozorda etakchi o'rinni egallaydi. Windows va Apple Mac OS X uchun mavjud .</a:t>
            </a:r>
          </a:p>
          <a:p>
            <a:pPr algn="just" eaLnBrk="1" hangingPunct="1">
              <a:spcBef>
                <a:spcPct val="0"/>
              </a:spcBef>
              <a:buFontTx/>
              <a:buNone/>
            </a:pPr>
            <a:r>
              <a:rPr lang="uz" altLang="ru-RU" sz="2400" b="1">
                <a:solidFill>
                  <a:srgbClr val="C00000"/>
                </a:solidFill>
                <a:latin typeface="Times New Roman" panose="02020603050405020304" pitchFamily="18" charset="0"/>
              </a:rPr>
              <a:t>Microsoft Outlook </a:t>
            </a:r>
            <a:r>
              <a:rPr lang="uz" altLang="ru-RU" sz="2400">
                <a:latin typeface="Times New Roman" panose="02020603050405020304" pitchFamily="18" charset="0"/>
              </a:rPr>
              <a:t>- bu shaxsiy aloqa ilovasi. Outlook taqvim, vazifalar rejalashtiruvchisi, eslatmalar, elektron pochta menejeri va manzillar kitobini o'z ichiga oladi. Bu onlayn hamkorlikni qo'llab-quvvatlaydi. U Windows va Apple Mac OS X </a:t>
            </a:r>
            <a:endParaRPr lang="ru-RU" altLang="ru-RU" sz="240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Прямоугольник 1">
            <a:extLst>
              <a:ext uri="{FF2B5EF4-FFF2-40B4-BE49-F238E27FC236}">
                <a16:creationId xmlns:a16="http://schemas.microsoft.com/office/drawing/2014/main" id="{6477BFA7-BEB9-447B-B865-315B37D48B67}"/>
              </a:ext>
            </a:extLst>
          </p:cNvPr>
          <p:cNvSpPr>
            <a:spLocks noChangeArrowheads="1"/>
          </p:cNvSpPr>
          <p:nvPr/>
        </p:nvSpPr>
        <p:spPr bwMode="auto">
          <a:xfrm>
            <a:off x="395288" y="1773238"/>
            <a:ext cx="83439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C00000"/>
                </a:solidFill>
                <a:latin typeface="Times New Roman" panose="02020603050405020304" pitchFamily="18" charset="0"/>
              </a:rPr>
              <a:t>Microsoft PowerPoint </a:t>
            </a:r>
            <a:r>
              <a:rPr lang="uz" altLang="ru-RU" sz="2400">
                <a:latin typeface="Times New Roman" panose="02020603050405020304" pitchFamily="18" charset="0"/>
              </a:rPr>
              <a:t>- bu Microsoft Windows va Apple Mac OS X uchun taqdimot dasturi.</a:t>
            </a:r>
          </a:p>
          <a:p>
            <a:pPr algn="just" eaLnBrk="1" hangingPunct="1">
              <a:spcBef>
                <a:spcPct val="0"/>
              </a:spcBef>
              <a:buFontTx/>
              <a:buNone/>
            </a:pPr>
            <a:r>
              <a:rPr lang="uz" altLang="ru-RU" sz="2400" b="1">
                <a:solidFill>
                  <a:srgbClr val="C00000"/>
                </a:solidFill>
                <a:latin typeface="Times New Roman" panose="02020603050405020304" pitchFamily="18" charset="0"/>
              </a:rPr>
              <a:t>Microsoft Access </a:t>
            </a:r>
            <a:r>
              <a:rPr lang="uz" altLang="ru-RU" sz="2400">
                <a:latin typeface="Times New Roman" panose="02020603050405020304" pitchFamily="18" charset="0"/>
              </a:rPr>
              <a:t>- bu ma'lumotlar bazalarini yaratish va boshqarish uchun dastur.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Прямоугольник 1">
            <a:extLst>
              <a:ext uri="{FF2B5EF4-FFF2-40B4-BE49-F238E27FC236}">
                <a16:creationId xmlns:a16="http://schemas.microsoft.com/office/drawing/2014/main" id="{630B054C-C421-41FD-A300-D04B77B845E5}"/>
              </a:ext>
            </a:extLst>
          </p:cNvPr>
          <p:cNvSpPr>
            <a:spLocks noChangeArrowheads="1"/>
          </p:cNvSpPr>
          <p:nvPr/>
        </p:nvSpPr>
        <p:spPr bwMode="auto">
          <a:xfrm>
            <a:off x="250827" y="1125540"/>
            <a:ext cx="8678863"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400">
                <a:solidFill>
                  <a:srgbClr val="C00000"/>
                </a:solidFill>
                <a:latin typeface="Times New Roman" panose="02020603050405020304" pitchFamily="18" charset="0"/>
              </a:rPr>
              <a:t>Microsoft Publisher </a:t>
            </a:r>
            <a:r>
              <a:rPr lang="uz" altLang="ru-RU" sz="2400">
                <a:latin typeface="Times New Roman" panose="02020603050405020304" pitchFamily="18" charset="0"/>
              </a:rPr>
              <a:t>- nashrlarni tayyorlash uchun dastur.</a:t>
            </a:r>
          </a:p>
          <a:p>
            <a:pPr eaLnBrk="1" hangingPunct="1">
              <a:spcBef>
                <a:spcPct val="0"/>
              </a:spcBef>
              <a:buFontTx/>
              <a:buNone/>
            </a:pPr>
            <a:r>
              <a:rPr lang="uz" altLang="ru-RU" sz="2400">
                <a:solidFill>
                  <a:srgbClr val="C00000"/>
                </a:solidFill>
                <a:latin typeface="Times New Roman" panose="02020603050405020304" pitchFamily="18" charset="0"/>
              </a:rPr>
              <a:t>Microsoft Visio </a:t>
            </a:r>
            <a:r>
              <a:rPr lang="uz" altLang="ru-RU" sz="2400">
                <a:latin typeface="Times New Roman" panose="02020603050405020304" pitchFamily="18" charset="0"/>
              </a:rPr>
              <a:t>, diagrammalash dasturi, tushunchalar va ma'lumotlarni diagrammalarga aylantirish imkonini beradi.</a:t>
            </a:r>
          </a:p>
          <a:p>
            <a:pPr eaLnBrk="1" hangingPunct="1">
              <a:spcBef>
                <a:spcPct val="0"/>
              </a:spcBef>
              <a:buFontTx/>
              <a:buNone/>
            </a:pPr>
            <a:r>
              <a:rPr lang="uz" altLang="ru-RU" sz="2400">
                <a:solidFill>
                  <a:srgbClr val="C00000"/>
                </a:solidFill>
                <a:latin typeface="Times New Roman" panose="02020603050405020304" pitchFamily="18" charset="0"/>
              </a:rPr>
              <a:t>Microsoft Project </a:t>
            </a:r>
            <a:r>
              <a:rPr lang="uz" altLang="ru-RU" sz="2400">
                <a:latin typeface="Times New Roman" panose="02020603050405020304" pitchFamily="18" charset="0"/>
              </a:rPr>
              <a:t>- loyihalarni boshqarish.</a:t>
            </a:r>
          </a:p>
          <a:p>
            <a:pPr eaLnBrk="1" hangingPunct="1">
              <a:spcBef>
                <a:spcPct val="0"/>
              </a:spcBef>
              <a:buFontTx/>
              <a:buNone/>
            </a:pPr>
            <a:r>
              <a:rPr lang="uz" altLang="ru-RU" sz="2400">
                <a:solidFill>
                  <a:srgbClr val="C00000"/>
                </a:solidFill>
                <a:latin typeface="Times New Roman" panose="02020603050405020304" pitchFamily="18" charset="0"/>
              </a:rPr>
              <a:t>Microsoft OneNote </a:t>
            </a:r>
            <a:r>
              <a:rPr lang="uz" altLang="ru-RU" sz="2400">
                <a:latin typeface="Times New Roman" panose="02020603050405020304" pitchFamily="18" charset="0"/>
              </a:rPr>
              <a:t>- bu eslatma olish dasturi.</a:t>
            </a:r>
          </a:p>
          <a:p>
            <a:pPr eaLnBrk="1" hangingPunct="1">
              <a:spcBef>
                <a:spcPct val="0"/>
              </a:spcBef>
              <a:buFontTx/>
              <a:buNone/>
            </a:pPr>
            <a:r>
              <a:rPr lang="uz" altLang="ru-RU" sz="2400">
                <a:solidFill>
                  <a:srgbClr val="C00000"/>
                </a:solidFill>
                <a:latin typeface="Times New Roman" panose="02020603050405020304" pitchFamily="18" charset="0"/>
              </a:rPr>
              <a:t>Microsoft Picture Manager </a:t>
            </a:r>
            <a:r>
              <a:rPr lang="uz" altLang="ru-RU" sz="2400">
                <a:latin typeface="Times New Roman" panose="02020603050405020304" pitchFamily="18" charset="0"/>
              </a:rPr>
              <a:t>- rasmlar bilan ishlash.</a:t>
            </a:r>
            <a:endParaRPr lang="en-US" altLang="ru-RU" sz="2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Прямоугольник 1">
            <a:extLst>
              <a:ext uri="{FF2B5EF4-FFF2-40B4-BE49-F238E27FC236}">
                <a16:creationId xmlns:a16="http://schemas.microsoft.com/office/drawing/2014/main" id="{A65223FE-5B3D-49C5-A357-981F92E48FA9}"/>
              </a:ext>
            </a:extLst>
          </p:cNvPr>
          <p:cNvSpPr>
            <a:spLocks noChangeArrowheads="1"/>
          </p:cNvSpPr>
          <p:nvPr/>
        </p:nvSpPr>
        <p:spPr bwMode="auto">
          <a:xfrm>
            <a:off x="304802" y="1295402"/>
            <a:ext cx="8424863"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FF0000"/>
                </a:solidFill>
                <a:latin typeface="Times New Roman" panose="02020603050405020304" pitchFamily="18" charset="0"/>
              </a:rPr>
              <a:t>Microsoft Project 2000 </a:t>
            </a:r>
            <a:r>
              <a:rPr lang="uz" altLang="ru-RU" sz="2400">
                <a:latin typeface="Times New Roman" panose="02020603050405020304" pitchFamily="18" charset="0"/>
              </a:rPr>
              <a:t>,</a:t>
            </a:r>
          </a:p>
          <a:p>
            <a:pPr algn="just" eaLnBrk="1" hangingPunct="1">
              <a:spcBef>
                <a:spcPct val="0"/>
              </a:spcBef>
              <a:buFontTx/>
              <a:buNone/>
            </a:pPr>
            <a:r>
              <a:rPr lang="uz" altLang="ru-RU" sz="2400">
                <a:latin typeface="Times New Roman" panose="02020603050405020304" pitchFamily="18" charset="0"/>
              </a:rPr>
              <a:t>Dunyoda eng ko'p qo'llaniladigan loyihani rejalashtirish tizimi bo'lgan dasturning o'ziga xos xususiyatlari uning soddaligi va foydalanuvchilarga qulay interfeysidir. Ko'pgina kompaniyalar undan kichik loyihalarni rejalashtirish va monitoring qilish uchun Microsoft ilovasi sifatida foydalanadilar.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Прямоугольник 1">
            <a:extLst>
              <a:ext uri="{FF2B5EF4-FFF2-40B4-BE49-F238E27FC236}">
                <a16:creationId xmlns:a16="http://schemas.microsoft.com/office/drawing/2014/main" id="{DE90EA03-87A3-49C0-B3C7-7C1D198C1155}"/>
              </a:ext>
            </a:extLst>
          </p:cNvPr>
          <p:cNvSpPr>
            <a:spLocks noChangeArrowheads="1"/>
          </p:cNvSpPr>
          <p:nvPr/>
        </p:nvSpPr>
        <p:spPr bwMode="auto">
          <a:xfrm>
            <a:off x="381000" y="1219200"/>
            <a:ext cx="83058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400" b="1">
                <a:latin typeface="Times New Roman" panose="02020603050405020304" pitchFamily="18" charset="0"/>
              </a:rPr>
              <a:t>Dastur sizga quyidagi vazifalarni hal qilishga imkon beradi:</a:t>
            </a:r>
            <a:r>
              <a:rPr lang="uz" altLang="ru-RU" sz="2400">
                <a:latin typeface="Times New Roman" panose="02020603050405020304" pitchFamily="18" charset="0"/>
              </a:rPr>
              <a:t> </a:t>
            </a:r>
          </a:p>
          <a:p>
            <a:pPr eaLnBrk="1" hangingPunct="1">
              <a:spcBef>
                <a:spcPct val="0"/>
              </a:spcBef>
              <a:buFont typeface="Wingdings" panose="05000000000000000000" pitchFamily="2" charset="2"/>
              <a:buChar char="q"/>
            </a:pPr>
            <a:r>
              <a:rPr lang="uz" altLang="ru-RU" sz="2400">
                <a:latin typeface="Times New Roman" panose="02020603050405020304" pitchFamily="18" charset="0"/>
              </a:rPr>
              <a:t>Loyihani bosqichma-bosqich ishlab chiqish imkoniyati.</a:t>
            </a:r>
          </a:p>
          <a:p>
            <a:pPr eaLnBrk="1" hangingPunct="1">
              <a:spcBef>
                <a:spcPct val="0"/>
              </a:spcBef>
              <a:buFont typeface="Wingdings" panose="05000000000000000000" pitchFamily="2" charset="2"/>
              <a:buChar char="q"/>
            </a:pPr>
            <a:r>
              <a:rPr lang="uz" altLang="ru-RU" sz="2400">
                <a:latin typeface="Times New Roman" panose="02020603050405020304" pitchFamily="18" charset="0"/>
              </a:rPr>
              <a:t>Vazifalarni yaratish, resurslarni belgilash, loyiha muddatlarini belgilash.</a:t>
            </a:r>
          </a:p>
          <a:p>
            <a:pPr eaLnBrk="1" hangingPunct="1">
              <a:spcBef>
                <a:spcPct val="0"/>
              </a:spcBef>
              <a:buFont typeface="Wingdings" panose="05000000000000000000" pitchFamily="2" charset="2"/>
              <a:buChar char="q"/>
            </a:pPr>
            <a:r>
              <a:rPr lang="uz" altLang="ru-RU" sz="2400">
                <a:latin typeface="Times New Roman" panose="02020603050405020304" pitchFamily="18" charset="0"/>
              </a:rPr>
              <a:t>Imkoniyatlar ish jadvallarini rejalashtirish, ularning bajarilishini kuzatish (vaqt jadvallari, topshiriqlar ro'yxatini ko'rish va boshqalar) va alohida loyihalar bo'yicha ma'lumotlarni tahlil qilish uchun taqdim etiladi.</a:t>
            </a:r>
          </a:p>
          <a:p>
            <a:pPr eaLnBrk="1" hangingPunct="1">
              <a:spcBef>
                <a:spcPct val="0"/>
              </a:spcBef>
              <a:buFontTx/>
              <a:buNone/>
            </a:pPr>
            <a:r>
              <a:rPr lang="uz" altLang="ru-RU" sz="2400">
                <a:latin typeface="Times New Roman" panose="02020603050405020304" pitchFamily="18" charset="0"/>
              </a:rPr>
              <a:t>Microsoft Project loyiha ishtirokchilari o'rtasida loyiha ma'lumotlarini almashish imkonini beradi.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Прямоугольник 2">
            <a:extLst>
              <a:ext uri="{FF2B5EF4-FFF2-40B4-BE49-F238E27FC236}">
                <a16:creationId xmlns:a16="http://schemas.microsoft.com/office/drawing/2014/main" id="{8E0B3500-9702-434D-BDA0-A17F9A0CB9D5}"/>
              </a:ext>
            </a:extLst>
          </p:cNvPr>
          <p:cNvSpPr>
            <a:spLocks noChangeArrowheads="1"/>
          </p:cNvSpPr>
          <p:nvPr/>
        </p:nvSpPr>
        <p:spPr bwMode="auto">
          <a:xfrm>
            <a:off x="323852" y="692152"/>
            <a:ext cx="85693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a:latin typeface="Times New Roman" panose="02020603050405020304" pitchFamily="18" charset="0"/>
              </a:rPr>
              <a:t>MS Project-da loyiha rejasini vizuallashtirish uchun asosiy vosita Gantt diagrammasi hisoblanadi. Ushbu diagramma gorizontal ravishda ishlaydigan vaqt jadvali va vertikal ravishda ishlaydigan vazifalar ro'yxatiga ega grafikdir.</a:t>
            </a:r>
          </a:p>
        </p:txBody>
      </p:sp>
      <p:pic>
        <p:nvPicPr>
          <p:cNvPr id="89091" name="Picture 4" descr="http://psycabi.net/images/4625598.jpeg">
            <a:extLst>
              <a:ext uri="{FF2B5EF4-FFF2-40B4-BE49-F238E27FC236}">
                <a16:creationId xmlns:a16="http://schemas.microsoft.com/office/drawing/2014/main" id="{AC731F8B-8346-4948-8075-A7E9A7E15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2852740"/>
            <a:ext cx="534035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Прямоугольник 1">
            <a:extLst>
              <a:ext uri="{FF2B5EF4-FFF2-40B4-BE49-F238E27FC236}">
                <a16:creationId xmlns:a16="http://schemas.microsoft.com/office/drawing/2014/main" id="{BA4B60BF-4043-416E-8826-6049A6D7265C}"/>
              </a:ext>
            </a:extLst>
          </p:cNvPr>
          <p:cNvSpPr>
            <a:spLocks noChangeArrowheads="1"/>
          </p:cNvSpPr>
          <p:nvPr/>
        </p:nvSpPr>
        <p:spPr bwMode="auto">
          <a:xfrm>
            <a:off x="323852" y="333375"/>
            <a:ext cx="856932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400">
                <a:latin typeface="Times New Roman" panose="02020603050405020304" pitchFamily="18" charset="0"/>
              </a:rPr>
              <a:t>Microsoft mahsulotlarning butun qatorini chiqardi: Microsoft Project Standard 2002, Microsoft Project Professional 2002, Microsoft Project Server 2002.</a:t>
            </a:r>
          </a:p>
          <a:p>
            <a:pPr eaLnBrk="1" hangingPunct="1">
              <a:spcBef>
                <a:spcPct val="0"/>
              </a:spcBef>
              <a:buFontTx/>
              <a:buNone/>
            </a:pPr>
            <a:r>
              <a:rPr lang="uz" altLang="ru-RU" sz="2400">
                <a:latin typeface="Times New Roman" panose="02020603050405020304" pitchFamily="18" charset="0"/>
              </a:rPr>
              <a:t>Uchta stsenariy uchun mahsulot qatorining turli kombinatsiyalaridan foydalanish taklif etiladi:</a:t>
            </a:r>
          </a:p>
          <a:p>
            <a:pPr lvl="1" eaLnBrk="1" hangingPunct="1">
              <a:spcBef>
                <a:spcPct val="0"/>
              </a:spcBef>
              <a:buFontTx/>
              <a:buNone/>
            </a:pPr>
            <a:r>
              <a:rPr lang="uz" altLang="ru-RU" sz="2400">
                <a:latin typeface="Times New Roman" panose="02020603050405020304" pitchFamily="18" charset="0"/>
              </a:rPr>
              <a:t>yagona foydalanuvchilar uchun yechim;</a:t>
            </a:r>
          </a:p>
          <a:p>
            <a:pPr lvl="1" eaLnBrk="1" hangingPunct="1">
              <a:spcBef>
                <a:spcPct val="0"/>
              </a:spcBef>
              <a:buFontTx/>
              <a:buNone/>
            </a:pPr>
            <a:r>
              <a:rPr lang="uz" altLang="ru-RU" sz="2400">
                <a:latin typeface="Times New Roman" panose="02020603050405020304" pitchFamily="18" charset="0"/>
              </a:rPr>
              <a:t>ishchi guruhlar uchun yechim;</a:t>
            </a:r>
          </a:p>
          <a:p>
            <a:pPr lvl="1" eaLnBrk="1" hangingPunct="1">
              <a:spcBef>
                <a:spcPct val="0"/>
              </a:spcBef>
              <a:buFontTx/>
              <a:buNone/>
            </a:pPr>
            <a:r>
              <a:rPr lang="uz" altLang="ru-RU" sz="2400">
                <a:latin typeface="Times New Roman" panose="02020603050405020304" pitchFamily="18" charset="0"/>
              </a:rPr>
              <a:t>korporativ loyihalarni boshqarish uchun yechim.</a:t>
            </a:r>
          </a:p>
        </p:txBody>
      </p:sp>
      <p:pic>
        <p:nvPicPr>
          <p:cNvPr id="90115" name="Picture 2" descr="Организованность">
            <a:extLst>
              <a:ext uri="{FF2B5EF4-FFF2-40B4-BE49-F238E27FC236}">
                <a16:creationId xmlns:a16="http://schemas.microsoft.com/office/drawing/2014/main" id="{1F844257-3A5C-4E52-89A6-70C526A85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357563"/>
            <a:ext cx="5545138"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Прямоугольник 1">
            <a:extLst>
              <a:ext uri="{FF2B5EF4-FFF2-40B4-BE49-F238E27FC236}">
                <a16:creationId xmlns:a16="http://schemas.microsoft.com/office/drawing/2014/main" id="{D588ED6C-C797-4911-B76E-3FD7E031BDF3}"/>
              </a:ext>
            </a:extLst>
          </p:cNvPr>
          <p:cNvSpPr>
            <a:spLocks noChangeArrowheads="1"/>
          </p:cNvSpPr>
          <p:nvPr/>
        </p:nvSpPr>
        <p:spPr bwMode="auto">
          <a:xfrm>
            <a:off x="250827" y="1700213"/>
            <a:ext cx="8570913"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a:solidFill>
                  <a:srgbClr val="C00000"/>
                </a:solidFill>
                <a:latin typeface="Times New Roman" panose="02020603050405020304" pitchFamily="18" charset="0"/>
              </a:rPr>
              <a:t>Microsoft SharePoint Designer </a:t>
            </a:r>
            <a:r>
              <a:rPr lang="uz" altLang="ru-RU" sz="2400">
                <a:latin typeface="Times New Roman" panose="02020603050405020304" pitchFamily="18" charset="0"/>
              </a:rPr>
              <a:t>- bu Microsoft SharePoint platformasida ilovalar yaratish vositasi .</a:t>
            </a:r>
          </a:p>
          <a:p>
            <a:pPr algn="just" eaLnBrk="1" hangingPunct="1">
              <a:spcBef>
                <a:spcPct val="0"/>
              </a:spcBef>
              <a:buFontTx/>
              <a:buNone/>
            </a:pPr>
            <a:r>
              <a:rPr lang="uz" altLang="ru-RU" sz="2400">
                <a:latin typeface="Times New Roman" panose="02020603050405020304" pitchFamily="18" charset="0"/>
              </a:rPr>
              <a:t>Ilgari Microsoft Office-ga Microsoft </a:t>
            </a:r>
            <a:r>
              <a:rPr lang="uz" altLang="ru-RU" sz="2400">
                <a:solidFill>
                  <a:srgbClr val="C00000"/>
                </a:solidFill>
                <a:latin typeface="Times New Roman" panose="02020603050405020304" pitchFamily="18" charset="0"/>
              </a:rPr>
              <a:t>FrontPage </a:t>
            </a:r>
            <a:r>
              <a:rPr lang="uz" altLang="ru-RU" sz="2400">
                <a:latin typeface="Times New Roman" panose="02020603050405020304" pitchFamily="18" charset="0"/>
              </a:rPr>
              <a:t>( veb-saytlar yaratish dasturi) kiritilgan , ammo Microsoft ushbu ilovani Office- dan olib tashlashga va uni ishlab chiqishni to'xtatishga qaror qildi.</a:t>
            </a:r>
          </a:p>
          <a:p>
            <a:pPr algn="just" eaLnBrk="1" hangingPunct="1">
              <a:spcBef>
                <a:spcPct val="0"/>
              </a:spcBef>
              <a:buFontTx/>
              <a:buNone/>
            </a:pPr>
            <a:r>
              <a:rPr lang="uz" altLang="ru-RU" sz="2400">
                <a:latin typeface="Times New Roman" panose="02020603050405020304" pitchFamily="18" charset="0"/>
              </a:rPr>
              <a:t>Microsoft Office 2007 da FrontPage o'rniga Microsoft </a:t>
            </a:r>
            <a:r>
              <a:rPr lang="uz" altLang="ru-RU" sz="2400">
                <a:solidFill>
                  <a:srgbClr val="C00000"/>
                </a:solidFill>
                <a:latin typeface="Times New Roman" panose="02020603050405020304" pitchFamily="18" charset="0"/>
              </a:rPr>
              <a:t>SharePoint Designer </a:t>
            </a:r>
            <a:endParaRPr lang="ru-RU" altLang="ru-RU" sz="2400">
              <a:solidFill>
                <a:srgbClr val="C00000"/>
              </a:solidFill>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Прямоугольник 1">
            <a:extLst>
              <a:ext uri="{FF2B5EF4-FFF2-40B4-BE49-F238E27FC236}">
                <a16:creationId xmlns:a16="http://schemas.microsoft.com/office/drawing/2014/main" id="{A77DDBA2-9FF4-4B7E-9EF5-C97C9DC6148D}"/>
              </a:ext>
            </a:extLst>
          </p:cNvPr>
          <p:cNvSpPr>
            <a:spLocks noChangeArrowheads="1"/>
          </p:cNvSpPr>
          <p:nvPr/>
        </p:nvSpPr>
        <p:spPr bwMode="auto">
          <a:xfrm>
            <a:off x="323850" y="1373190"/>
            <a:ext cx="835183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a:latin typeface="Times New Roman" panose="02020603050405020304" pitchFamily="18" charset="0"/>
              </a:rPr>
              <a:t>foydalanuvchilarga hamkorlik qilish imkoniyatlarini taqdim etadigan veb-saytlar va korporativ portallarni yaratish uchun ishlatilishi mumkin bo'lgan </a:t>
            </a:r>
            <a:r>
              <a:rPr lang="uz" altLang="ru-RU" sz="2400" b="1">
                <a:solidFill>
                  <a:srgbClr val="C00000"/>
                </a:solidFill>
                <a:latin typeface="Times New Roman" panose="02020603050405020304" pitchFamily="18" charset="0"/>
              </a:rPr>
              <a:t>mahsulot . </a:t>
            </a:r>
            <a:r>
              <a:rPr lang="uz" altLang="ru-RU" sz="2400">
                <a:latin typeface="Times New Roman" panose="02020603050405020304" pitchFamily="18" charset="0"/>
              </a:rPr>
              <a:t>SharePoint platformasida yaratilgan veb-saytlar </a:t>
            </a:r>
            <a:r>
              <a:rPr lang="uz" altLang="ru-RU" sz="2400" b="1">
                <a:solidFill>
                  <a:srgbClr val="C00000"/>
                </a:solidFill>
                <a:latin typeface="Times New Roman" panose="02020603050405020304" pitchFamily="18" charset="0"/>
              </a:rPr>
              <a:t>axborot, bilim va hujjatlar ombori sifatida ishlatilishi mumkin.</a:t>
            </a:r>
            <a:endParaRPr lang="ru-RU" altLang="ru-RU" sz="2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Прямоугольник 2">
            <a:extLst>
              <a:ext uri="{FF2B5EF4-FFF2-40B4-BE49-F238E27FC236}">
                <a16:creationId xmlns:a16="http://schemas.microsoft.com/office/drawing/2014/main" id="{06AC925E-4C01-4934-A6E3-D026BAC95FEB}"/>
              </a:ext>
            </a:extLst>
          </p:cNvPr>
          <p:cNvSpPr>
            <a:spLocks noChangeArrowheads="1"/>
          </p:cNvSpPr>
          <p:nvPr/>
        </p:nvSpPr>
        <p:spPr bwMode="auto">
          <a:xfrm>
            <a:off x="4500565" y="620713"/>
            <a:ext cx="44418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000000"/>
                </a:solidFill>
                <a:latin typeface="Times New Roman" panose="02020603050405020304" pitchFamily="18" charset="0"/>
              </a:rPr>
              <a:t>OneNote </a:t>
            </a:r>
            <a:r>
              <a:rPr lang="uz" altLang="ru-RU" sz="2400">
                <a:solidFill>
                  <a:srgbClr val="000000"/>
                </a:solidFill>
                <a:latin typeface="Times New Roman" panose="02020603050405020304" pitchFamily="18" charset="0"/>
              </a:rPr>
              <a:t>( </a:t>
            </a:r>
            <a:r>
              <a:rPr lang="uz" altLang="ru-RU" sz="2400" b="1">
                <a:solidFill>
                  <a:srgbClr val="000000"/>
                </a:solidFill>
                <a:latin typeface="Times New Roman" panose="02020603050405020304" pitchFamily="18" charset="0"/>
              </a:rPr>
              <a:t>eslatmalar) </a:t>
            </a:r>
            <a:r>
              <a:rPr lang="uz" altLang="ru-RU" sz="2400">
                <a:solidFill>
                  <a:srgbClr val="000000"/>
                </a:solidFill>
                <a:latin typeface="Times New Roman" panose="02020603050405020304" pitchFamily="18" charset="0"/>
              </a:rPr>
              <a:t>kompyuter, Mac, telefon, planshetga o'rnatilishi mumkin va siz barcha g'oyalaringizni OneDrive onlayn xizmatida saqlashingiz va ularga doimiy kirish imkoniga ega bo'lishingiz mumkin.</a:t>
            </a:r>
          </a:p>
          <a:p>
            <a:pPr algn="just" eaLnBrk="1" hangingPunct="1">
              <a:spcBef>
                <a:spcPct val="0"/>
              </a:spcBef>
              <a:buFontTx/>
              <a:buNone/>
            </a:pPr>
            <a:r>
              <a:rPr lang="uz" altLang="ru-RU" sz="2400">
                <a:solidFill>
                  <a:srgbClr val="000000"/>
                </a:solidFill>
                <a:latin typeface="Times New Roman" panose="02020603050405020304" pitchFamily="18" charset="0"/>
              </a:rPr>
              <a:t>Siz eskiz yaratishingiz, havolalar, veb-sahifalar, fotosuratlar, videolar, jadvallar qo'shishingiz va fayllarni biriktirishingiz mumkin.</a:t>
            </a:r>
          </a:p>
          <a:p>
            <a:pPr algn="just" eaLnBrk="1" hangingPunct="1">
              <a:spcBef>
                <a:spcPct val="0"/>
              </a:spcBef>
              <a:buFontTx/>
              <a:buNone/>
            </a:pPr>
            <a:r>
              <a:rPr lang="uz" altLang="ru-RU" sz="2400">
                <a:solidFill>
                  <a:srgbClr val="000000"/>
                </a:solidFill>
                <a:latin typeface="Times New Roman" panose="02020603050405020304" pitchFamily="18" charset="0"/>
              </a:rPr>
              <a:t>OneNote-da siz barmoqlaringiz, qalamingiz yoki sichqonchangiz yordamida chizishingiz, o'chirishingiz va tahrirlashingiz mumkin.</a:t>
            </a:r>
          </a:p>
        </p:txBody>
      </p:sp>
      <p:pic>
        <p:nvPicPr>
          <p:cNvPr id="93187" name="Picture 2">
            <a:extLst>
              <a:ext uri="{FF2B5EF4-FFF2-40B4-BE49-F238E27FC236}">
                <a16:creationId xmlns:a16="http://schemas.microsoft.com/office/drawing/2014/main" id="{4C08D3AD-DD7E-48D3-94C2-C57975CC3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052640"/>
            <a:ext cx="3957638" cy="245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8" name="Picture 3">
            <a:extLst>
              <a:ext uri="{FF2B5EF4-FFF2-40B4-BE49-F238E27FC236}">
                <a16:creationId xmlns:a16="http://schemas.microsoft.com/office/drawing/2014/main" id="{C302AC3D-1A4C-4E11-B9B4-3D5E84808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690" y="692152"/>
            <a:ext cx="22764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Прямоугольник 1">
            <a:extLst>
              <a:ext uri="{FF2B5EF4-FFF2-40B4-BE49-F238E27FC236}">
                <a16:creationId xmlns:a16="http://schemas.microsoft.com/office/drawing/2014/main" id="{29DA97DA-46C7-4EDF-AF17-A941BCCFAB10}"/>
              </a:ext>
            </a:extLst>
          </p:cNvPr>
          <p:cNvSpPr>
            <a:spLocks noChangeArrowheads="1"/>
          </p:cNvSpPr>
          <p:nvPr/>
        </p:nvSpPr>
        <p:spPr bwMode="auto">
          <a:xfrm>
            <a:off x="4859338" y="319090"/>
            <a:ext cx="4140200" cy="600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spcBef>
                <a:spcPct val="0"/>
              </a:spcBef>
              <a:buFontTx/>
              <a:buNone/>
            </a:pPr>
            <a:r>
              <a:rPr lang="uz" altLang="ru-RU" sz="2400" b="1">
                <a:solidFill>
                  <a:srgbClr val="000000"/>
                </a:solidFill>
                <a:latin typeface="Times New Roman" panose="02020603050405020304" pitchFamily="18" charset="0"/>
              </a:rPr>
              <a:t>Office Online </a:t>
            </a:r>
            <a:r>
              <a:rPr lang="uz" altLang="ru-RU" sz="2400">
                <a:solidFill>
                  <a:srgbClr val="000000"/>
                </a:solidFill>
                <a:latin typeface="Times New Roman" panose="02020603050405020304" pitchFamily="18" charset="0"/>
              </a:rPr>
              <a:t>Office ilovalarini birlashtiradi va real vaqt rejimida birgalikda mualliflik qilishga imkon beradi. Office Online yordamida siz umumiy hujjatlar, taqdimotlar, elektron jadvallar va noutbuklar ustida hamkorlik qilishingiz mumkin.</a:t>
            </a:r>
          </a:p>
          <a:p>
            <a:pPr algn="just" eaLnBrk="1" hangingPunct="1">
              <a:spcBef>
                <a:spcPct val="0"/>
              </a:spcBef>
              <a:buFontTx/>
              <a:buNone/>
            </a:pPr>
            <a:r>
              <a:rPr lang="uz" altLang="ru-RU" sz="2400">
                <a:solidFill>
                  <a:srgbClr val="000000"/>
                </a:solidFill>
                <a:latin typeface="Times New Roman" panose="02020603050405020304" pitchFamily="18" charset="0"/>
              </a:rPr>
              <a:t>Hujjatlar, elektron jadvallar va taqdimotlarni onlayn yoki Officening ish stoli versiyasidan foydalanib yarating. Ularni OneDrive onlayn xotirasiga saqlang.</a:t>
            </a:r>
          </a:p>
        </p:txBody>
      </p:sp>
      <p:pic>
        <p:nvPicPr>
          <p:cNvPr id="94211" name="Picture 2">
            <a:extLst>
              <a:ext uri="{FF2B5EF4-FFF2-40B4-BE49-F238E27FC236}">
                <a16:creationId xmlns:a16="http://schemas.microsoft.com/office/drawing/2014/main" id="{532E6F61-573B-4F86-B239-BA6DCF5C8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8" y="2008188"/>
            <a:ext cx="4387850"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Прямоугольник 1">
            <a:extLst>
              <a:ext uri="{FF2B5EF4-FFF2-40B4-BE49-F238E27FC236}">
                <a16:creationId xmlns:a16="http://schemas.microsoft.com/office/drawing/2014/main" id="{B2A26469-8818-435B-BA38-DF1015C301E1}"/>
              </a:ext>
            </a:extLst>
          </p:cNvPr>
          <p:cNvSpPr>
            <a:spLocks noChangeArrowheads="1"/>
          </p:cNvSpPr>
          <p:nvPr/>
        </p:nvSpPr>
        <p:spPr bwMode="auto">
          <a:xfrm>
            <a:off x="203202" y="66675"/>
            <a:ext cx="87852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uz" altLang="ru-RU" sz="2400" b="1">
                <a:solidFill>
                  <a:srgbClr val="C00000"/>
                </a:solidFill>
                <a:latin typeface="Times New Roman" panose="02020603050405020304" pitchFamily="18" charset="0"/>
              </a:rPr>
              <a:t>Tegishli mahsulotlar</a:t>
            </a:r>
          </a:p>
          <a:p>
            <a:pPr eaLnBrk="1" hangingPunct="1">
              <a:spcBef>
                <a:spcPct val="0"/>
              </a:spcBef>
              <a:buFontTx/>
              <a:buNone/>
            </a:pPr>
            <a:r>
              <a:rPr lang="uz" altLang="ru-RU" sz="2400">
                <a:solidFill>
                  <a:srgbClr val="C00000"/>
                </a:solidFill>
                <a:latin typeface="Times New Roman" panose="02020603050405020304" pitchFamily="18" charset="0"/>
              </a:rPr>
              <a:t>Ayirboshlash </a:t>
            </a:r>
            <a:r>
              <a:rPr lang="uz" altLang="ru-RU" sz="2400">
                <a:solidFill>
                  <a:srgbClr val="000000"/>
                </a:solidFill>
                <a:latin typeface="Times New Roman" panose="02020603050405020304" pitchFamily="18" charset="0"/>
              </a:rPr>
              <a:t>- Korporativ toifadagi, korporativ ma'lumotlarni himoya qiluvchi yuqori samarali elektron pochta.</a:t>
            </a:r>
            <a:endParaRPr lang="en-US" altLang="ru-RU" sz="2400">
              <a:solidFill>
                <a:srgbClr val="000000"/>
              </a:solidFill>
              <a:latin typeface="Times New Roman" panose="02020603050405020304" pitchFamily="18" charset="0"/>
            </a:endParaRPr>
          </a:p>
          <a:p>
            <a:pPr algn="just" eaLnBrk="1" hangingPunct="1">
              <a:spcBef>
                <a:spcPct val="0"/>
              </a:spcBef>
              <a:buFontTx/>
              <a:buNone/>
            </a:pPr>
            <a:r>
              <a:rPr lang="uz" altLang="ru-RU" sz="2400">
                <a:solidFill>
                  <a:srgbClr val="C00000"/>
                </a:solidFill>
                <a:latin typeface="Times New Roman" panose="02020603050405020304" pitchFamily="18" charset="0"/>
              </a:rPr>
              <a:t>Lync </a:t>
            </a:r>
            <a:r>
              <a:rPr lang="uz" altLang="ru-RU" sz="2400">
                <a:solidFill>
                  <a:srgbClr val="000000"/>
                </a:solidFill>
                <a:latin typeface="Times New Roman" panose="02020603050405020304" pitchFamily="18" charset="0"/>
              </a:rPr>
              <a:t>( </a:t>
            </a:r>
            <a:r>
              <a:rPr lang="uz" altLang="ru-RU" sz="2400">
                <a:latin typeface="Times New Roman" panose="02020603050405020304" pitchFamily="18" charset="0"/>
              </a:rPr>
              <a:t>ilgari </a:t>
            </a:r>
            <a:r>
              <a:rPr lang="uz" altLang="ru-RU" sz="2400">
                <a:solidFill>
                  <a:srgbClr val="C00000"/>
                </a:solidFill>
                <a:latin typeface="Times New Roman" panose="02020603050405020304" pitchFamily="18" charset="0"/>
              </a:rPr>
              <a:t>Microsoft Communicator </a:t>
            </a:r>
            <a:r>
              <a:rPr lang="uz" altLang="ru-RU" sz="2400">
                <a:latin typeface="Times New Roman" panose="02020603050405020304" pitchFamily="18" charset="0"/>
              </a:rPr>
              <a:t>) odamlar o'rtasida keng qamrovli muloqotni tashkil qilish uchun mo'ljallangan bo'lib, tezkor xabar almashish, shuningdek, ovozli va video suhbatlar orqali muloqot qilish imkoniyatini beradi.</a:t>
            </a:r>
          </a:p>
        </p:txBody>
      </p:sp>
      <p:pic>
        <p:nvPicPr>
          <p:cNvPr id="95235" name="Picture 2">
            <a:extLst>
              <a:ext uri="{FF2B5EF4-FFF2-40B4-BE49-F238E27FC236}">
                <a16:creationId xmlns:a16="http://schemas.microsoft.com/office/drawing/2014/main" id="{F62BE497-48D0-43C0-8D6F-EA32FE5F7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7106"/>
          <a:stretch>
            <a:fillRect/>
          </a:stretch>
        </p:blipFill>
        <p:spPr bwMode="auto">
          <a:xfrm>
            <a:off x="1979615" y="3357565"/>
            <a:ext cx="5970587"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a:extLst>
              <a:ext uri="{FF2B5EF4-FFF2-40B4-BE49-F238E27FC236}">
                <a16:creationId xmlns:a16="http://schemas.microsoft.com/office/drawing/2014/main" id="{C71EE1A5-8582-486D-9794-AEEC16F20C74}"/>
              </a:ext>
            </a:extLst>
          </p:cNvPr>
          <p:cNvSpPr txBox="1">
            <a:spLocks noChangeArrowheads="1"/>
          </p:cNvSpPr>
          <p:nvPr/>
        </p:nvSpPr>
        <p:spPr bwMode="auto">
          <a:xfrm>
            <a:off x="457200" y="0"/>
            <a:ext cx="8305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uz" altLang="ru-RU" sz="2800" b="1">
                <a:solidFill>
                  <a:srgbClr val="000000"/>
                </a:solidFill>
                <a:cs typeface="Arial" panose="020B0604020202020204" pitchFamily="34" charset="0"/>
              </a:rPr>
              <a:t>MS Office dasturlari quyidagi o'ziga xos xususiyatlar bilan tavsiflanadi:</a:t>
            </a:r>
          </a:p>
          <a:p>
            <a:pPr algn="ctr" eaLnBrk="1" hangingPunct="1">
              <a:spcBef>
                <a:spcPct val="0"/>
              </a:spcBef>
            </a:pPr>
            <a:r>
              <a:rPr lang="uz" altLang="ru-RU" sz="2800">
                <a:solidFill>
                  <a:srgbClr val="000000"/>
                </a:solidFill>
                <a:cs typeface="Arial" panose="020B0604020202020204" pitchFamily="34" charset="0"/>
              </a:rPr>
              <a:t>ma'lumotlarning muvofiqligi;</a:t>
            </a:r>
          </a:p>
          <a:p>
            <a:pPr algn="ctr" eaLnBrk="1" hangingPunct="1">
              <a:spcBef>
                <a:spcPct val="0"/>
              </a:spcBef>
            </a:pPr>
            <a:r>
              <a:rPr lang="uz" altLang="ru-RU" sz="2800">
                <a:solidFill>
                  <a:srgbClr val="000000"/>
                </a:solidFill>
                <a:cs typeface="Arial" panose="020B0604020202020204" pitchFamily="34" charset="0"/>
              </a:rPr>
              <a:t>yagona interfeys;</a:t>
            </a:r>
          </a:p>
          <a:p>
            <a:pPr algn="ctr" eaLnBrk="1" hangingPunct="1">
              <a:spcBef>
                <a:spcPct val="0"/>
              </a:spcBef>
            </a:pPr>
            <a:r>
              <a:rPr lang="uz" altLang="ru-RU" sz="2800">
                <a:solidFill>
                  <a:srgbClr val="000000"/>
                </a:solidFill>
                <a:cs typeface="Arial" panose="020B0604020202020204" pitchFamily="34" charset="0"/>
              </a:rPr>
              <a:t>birlashtirilgan dasturlash vositalari.</a:t>
            </a:r>
          </a:p>
        </p:txBody>
      </p:sp>
      <p:sp>
        <p:nvSpPr>
          <p:cNvPr id="96259" name="Text Box 3">
            <a:extLst>
              <a:ext uri="{FF2B5EF4-FFF2-40B4-BE49-F238E27FC236}">
                <a16:creationId xmlns:a16="http://schemas.microsoft.com/office/drawing/2014/main" id="{43D61CB8-C6C3-4363-8021-7982D5A77919}"/>
              </a:ext>
            </a:extLst>
          </p:cNvPr>
          <p:cNvSpPr txBox="1">
            <a:spLocks noChangeArrowheads="1"/>
          </p:cNvSpPr>
          <p:nvPr/>
        </p:nvSpPr>
        <p:spPr bwMode="auto">
          <a:xfrm>
            <a:off x="304800" y="2667002"/>
            <a:ext cx="85344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uz" altLang="ru-RU" sz="2800" b="1">
                <a:solidFill>
                  <a:srgbClr val="000000"/>
                </a:solidFill>
                <a:cs typeface="Arial" panose="020B0604020202020204" pitchFamily="34" charset="0"/>
              </a:rPr>
              <a:t>Microsoft Office hujjatlari</a:t>
            </a:r>
          </a:p>
          <a:p>
            <a:pPr algn="just" eaLnBrk="1" hangingPunct="1">
              <a:spcBef>
                <a:spcPct val="0"/>
              </a:spcBef>
              <a:buFontTx/>
              <a:buNone/>
            </a:pPr>
            <a:r>
              <a:rPr lang="uz" altLang="ru-RU" sz="2800">
                <a:solidFill>
                  <a:srgbClr val="000000"/>
                </a:solidFill>
                <a:cs typeface="Arial" panose="020B0604020202020204" pitchFamily="34" charset="0"/>
              </a:rPr>
              <a:t>Microsoft Office-dagi ma'lumotlar birligi hujjat deb ataladi.</a:t>
            </a:r>
          </a:p>
          <a:p>
            <a:pPr algn="just" eaLnBrk="1" hangingPunct="1">
              <a:spcBef>
                <a:spcPct val="0"/>
              </a:spcBef>
              <a:buFontTx/>
              <a:buNone/>
            </a:pPr>
            <a:r>
              <a:rPr lang="uz" altLang="ru-RU" sz="2800">
                <a:solidFill>
                  <a:srgbClr val="000000"/>
                </a:solidFill>
                <a:cs typeface="Arial" panose="020B0604020202020204" pitchFamily="34" charset="0"/>
              </a:rPr>
              <a:t>Hujjatlar saqlanadigan ma'lumotlarning turlari bo'yicha tasniflanadi. Odatda, har xil turdagi hujjatlar turli Microsoft Office ilovalari tomonidan qayta ishlanadi.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3568" y="116632"/>
            <a:ext cx="7772400" cy="1470025"/>
          </a:xfrm>
        </p:spPr>
        <p:txBody>
          <a:bodyPr/>
          <a:lstStyle/>
          <a:p>
            <a:r>
              <a:rPr lang="ru-RU" sz="4400" dirty="0"/>
              <a:t>Matn muharrirlari</a:t>
            </a:r>
            <a:br>
              <a:rPr lang="ru-RU" dirty="0"/>
            </a:br>
            <a:endParaRPr lang="ru-RU" dirty="0"/>
          </a:p>
        </p:txBody>
      </p:sp>
      <p:pic>
        <p:nvPicPr>
          <p:cNvPr id="1028" name="Picture 4" descr="C:\Users\user\Desktop\editortex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315" y="1387654"/>
            <a:ext cx="7133141" cy="33746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Подзаголовок 4">
            <a:extLst>
              <a:ext uri="{FF2B5EF4-FFF2-40B4-BE49-F238E27FC236}">
                <a16:creationId xmlns:a16="http://schemas.microsoft.com/office/drawing/2014/main" id="{3F0713F7-6346-472E-9306-0E96899C1AD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5878244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1000"/>
                                        <p:tgtEl>
                                          <p:spTgt spid="1028"/>
                                        </p:tgtEl>
                                      </p:cBhvr>
                                    </p:animEffect>
                                    <p:anim calcmode="lin" valueType="num">
                                      <p:cBhvr>
                                        <p:cTn id="13" dur="1000" fill="hold"/>
                                        <p:tgtEl>
                                          <p:spTgt spid="1028"/>
                                        </p:tgtEl>
                                        <p:attrNameLst>
                                          <p:attrName>ppt_x</p:attrName>
                                        </p:attrNameLst>
                                      </p:cBhvr>
                                      <p:tavLst>
                                        <p:tav tm="0">
                                          <p:val>
                                            <p:strVal val="#ppt_x"/>
                                          </p:val>
                                        </p:tav>
                                        <p:tav tm="100000">
                                          <p:val>
                                            <p:strVal val="#ppt_x"/>
                                          </p:val>
                                        </p:tav>
                                      </p:tavLst>
                                    </p:anim>
                                    <p:anim calcmode="lin" valueType="num">
                                      <p:cBhvr>
                                        <p:cTn id="14"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539552" y="188640"/>
            <a:ext cx="7924800" cy="4114800"/>
          </a:xfrm>
        </p:spPr>
        <p:txBody>
          <a:bodyPr>
            <a:normAutofit/>
          </a:bodyPr>
          <a:lstStyle/>
          <a:p>
            <a:r>
              <a:rPr lang="ru-RU" sz="2400" dirty="0" err="1"/>
              <a:t>Matn</a:t>
            </a:r>
            <a:r>
              <a:rPr lang="ru-RU" sz="2400" dirty="0"/>
              <a:t> </a:t>
            </a:r>
            <a:r>
              <a:rPr lang="ru-RU" sz="2400" dirty="0" err="1"/>
              <a:t>muharrir</a:t>
            </a:r>
            <a:r>
              <a:rPr lang="ru-RU" sz="2400" dirty="0"/>
              <a:t>  mustaqil kompyuter dasturi yoki dasturiy kompleks komponenti (masalan, integratsiyalashgan ishlab chiqish muhitining manba kodi muharriri yoki brauzerda kirish oynasi), umuman matnli ma'lumotlarni va xususan matnli fayllarni yaratish va o'zgartirish uchun mo'ljallangan</a:t>
            </a:r>
          </a:p>
        </p:txBody>
      </p:sp>
      <p:pic>
        <p:nvPicPr>
          <p:cNvPr id="2054"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b="4613"/>
          <a:stretch/>
        </p:blipFill>
        <p:spPr bwMode="auto">
          <a:xfrm>
            <a:off x="1475656" y="2708920"/>
            <a:ext cx="6192688" cy="36918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64205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54"/>
                                        </p:tgtEl>
                                        <p:attrNameLst>
                                          <p:attrName>style.visibility</p:attrName>
                                        </p:attrNameLst>
                                      </p:cBhvr>
                                      <p:to>
                                        <p:strVal val="visible"/>
                                      </p:to>
                                    </p:set>
                                    <p:animEffect transition="in" filter="wheel(1)">
                                      <p:cBhvr>
                                        <p:cTn id="12" dur="20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t>Matn muharrirlarining turlari</a:t>
            </a:r>
            <a:br>
              <a:rPr lang="ru-RU" dirty="0"/>
            </a:br>
            <a:endParaRPr lang="ru-RU" dirty="0"/>
          </a:p>
        </p:txBody>
      </p:sp>
      <p:sp>
        <p:nvSpPr>
          <p:cNvPr id="3" name="Объект 2"/>
          <p:cNvSpPr>
            <a:spLocks noGrp="1"/>
          </p:cNvSpPr>
          <p:nvPr>
            <p:ph sz="quarter" idx="13"/>
          </p:nvPr>
        </p:nvSpPr>
        <p:spPr>
          <a:xfrm>
            <a:off x="611560" y="1340768"/>
            <a:ext cx="7924800" cy="4114800"/>
          </a:xfrm>
        </p:spPr>
        <p:txBody>
          <a:bodyPr/>
          <a:lstStyle/>
          <a:p>
            <a:r>
              <a:rPr lang="ru-RU" sz="2800" dirty="0">
                <a:latin typeface="Times New Roman" panose="02020603050405020304" pitchFamily="18" charset="0"/>
                <a:cs typeface="Times New Roman" panose="02020603050405020304" pitchFamily="18" charset="0"/>
              </a:rPr>
              <a:t>Matn muharriri </a:t>
            </a:r>
            <a:r>
              <a:rPr lang="en-US" sz="2800" dirty="0">
                <a:latin typeface="Times New Roman" panose="02020603050405020304" pitchFamily="18" charset="0"/>
                <a:cs typeface="Times New Roman" panose="02020603050405020304" pitchFamily="18" charset="0"/>
              </a:rPr>
              <a:t>Word</a:t>
            </a:r>
          </a:p>
          <a:p>
            <a:r>
              <a:rPr lang="en-US" sz="2800" dirty="0" err="1">
                <a:latin typeface="Times New Roman" panose="02020603050405020304" pitchFamily="18" charset="0"/>
                <a:cs typeface="Times New Roman" panose="02020603050405020304" pitchFamily="18" charset="0"/>
              </a:rPr>
              <a:t>LibreOffice</a:t>
            </a:r>
            <a:r>
              <a:rPr lang="en-US" sz="2800" dirty="0">
                <a:latin typeface="Times New Roman" panose="02020603050405020304" pitchFamily="18" charset="0"/>
                <a:cs typeface="Times New Roman" panose="02020603050405020304" pitchFamily="18" charset="0"/>
              </a:rPr>
              <a:t> Writer</a:t>
            </a:r>
            <a:endParaRPr lang="ru-RU" sz="2800" dirty="0">
              <a:latin typeface="Times New Roman" panose="02020603050405020304" pitchFamily="18" charset="0"/>
              <a:cs typeface="Times New Roman" panose="02020603050405020304" pitchFamily="18" charset="0"/>
            </a:endParaRPr>
          </a:p>
          <a:p>
            <a:r>
              <a:rPr lang="ru-RU" sz="2800" dirty="0"/>
              <a:t>Notepad matn muharriri</a:t>
            </a:r>
          </a:p>
          <a:p>
            <a:r>
              <a:rPr lang="ru-RU" sz="2800" dirty="0"/>
              <a:t>Matn muharriri </a:t>
            </a:r>
            <a:r>
              <a:rPr lang="en-US" sz="2800" dirty="0"/>
              <a:t>Notepad</a:t>
            </a:r>
          </a:p>
          <a:p>
            <a:endParaRPr lang="ru-RU" dirty="0">
              <a:latin typeface="Times New Roman" panose="02020603050405020304" pitchFamily="18" charset="0"/>
              <a:cs typeface="Times New Roman" panose="02020603050405020304" pitchFamily="18" charset="0"/>
            </a:endParaRPr>
          </a:p>
        </p:txBody>
      </p:sp>
      <p:pic>
        <p:nvPicPr>
          <p:cNvPr id="3078" name="Picture 6" descr="C:\Users\user\Desktop\W.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6" y="4153028"/>
            <a:ext cx="2088232" cy="2236598"/>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C:\Users\user\Desktop\2000px-LibreOffice_Writer_icon_3.3.1_48_px.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9054" y="4157101"/>
            <a:ext cx="2160240" cy="226219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user\Desktop\0_b58cf_713cca71_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9294" y="4157101"/>
            <a:ext cx="2507219" cy="2262190"/>
          </a:xfrm>
          <a:prstGeom prst="rect">
            <a:avLst/>
          </a:prstGeom>
          <a:noFill/>
          <a:extLst>
            <a:ext uri="{909E8E84-426E-40DD-AFC4-6F175D3DCCD1}">
              <a14:hiddenFill xmlns:a14="http://schemas.microsoft.com/office/drawing/2010/main">
                <a:solidFill>
                  <a:srgbClr val="FFFFFF"/>
                </a:solidFill>
              </a14:hiddenFill>
            </a:ext>
          </a:extLst>
        </p:spPr>
      </p:pic>
      <p:pic>
        <p:nvPicPr>
          <p:cNvPr id="3081" name="Picture 9" descr="C:\Users\user\Desktop\editortext-notepa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8204" y="4157100"/>
            <a:ext cx="2267744" cy="2262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71757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078"/>
                                        </p:tgtEl>
                                        <p:attrNameLst>
                                          <p:attrName>style.visibility</p:attrName>
                                        </p:attrNameLst>
                                      </p:cBhvr>
                                      <p:to>
                                        <p:strVal val="visible"/>
                                      </p:to>
                                    </p:set>
                                    <p:anim calcmode="lin" valueType="num">
                                      <p:cBhvr additive="base">
                                        <p:cTn id="16" dur="500" fill="hold"/>
                                        <p:tgtEl>
                                          <p:spTgt spid="3078"/>
                                        </p:tgtEl>
                                        <p:attrNameLst>
                                          <p:attrName>ppt_x</p:attrName>
                                        </p:attrNameLst>
                                      </p:cBhvr>
                                      <p:tavLst>
                                        <p:tav tm="0">
                                          <p:val>
                                            <p:strVal val="#ppt_x"/>
                                          </p:val>
                                        </p:tav>
                                        <p:tav tm="100000">
                                          <p:val>
                                            <p:strVal val="#ppt_x"/>
                                          </p:val>
                                        </p:tav>
                                      </p:tavLst>
                                    </p:anim>
                                    <p:anim calcmode="lin" valueType="num">
                                      <p:cBhvr additive="base">
                                        <p:cTn id="17"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079"/>
                                        </p:tgtEl>
                                        <p:attrNameLst>
                                          <p:attrName>style.visibility</p:attrName>
                                        </p:attrNameLst>
                                      </p:cBhvr>
                                      <p:to>
                                        <p:strVal val="visible"/>
                                      </p:to>
                                    </p:set>
                                    <p:animEffect transition="in" filter="fade">
                                      <p:cBhvr>
                                        <p:cTn id="27" dur="1000"/>
                                        <p:tgtEl>
                                          <p:spTgt spid="3079"/>
                                        </p:tgtEl>
                                      </p:cBhvr>
                                    </p:animEffect>
                                    <p:anim calcmode="lin" valueType="num">
                                      <p:cBhvr>
                                        <p:cTn id="28" dur="1000" fill="hold"/>
                                        <p:tgtEl>
                                          <p:spTgt spid="3079"/>
                                        </p:tgtEl>
                                        <p:attrNameLst>
                                          <p:attrName>ppt_x</p:attrName>
                                        </p:attrNameLst>
                                      </p:cBhvr>
                                      <p:tavLst>
                                        <p:tav tm="0">
                                          <p:val>
                                            <p:strVal val="#ppt_x"/>
                                          </p:val>
                                        </p:tav>
                                        <p:tav tm="100000">
                                          <p:val>
                                            <p:strVal val="#ppt_x"/>
                                          </p:val>
                                        </p:tav>
                                      </p:tavLst>
                                    </p:anim>
                                    <p:anim calcmode="lin" valueType="num">
                                      <p:cBhvr>
                                        <p:cTn id="29" dur="1000" fill="hold"/>
                                        <p:tgtEl>
                                          <p:spTgt spid="307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circle(in)">
                                      <p:cBhvr>
                                        <p:cTn id="34" dur="2000"/>
                                        <p:tgtEl>
                                          <p:spTgt spid="3">
                                            <p:txEl>
                                              <p:pRg st="2" end="2"/>
                                            </p:txEl>
                                          </p:spTgt>
                                        </p:tgtEl>
                                      </p:cBhvr>
                                    </p:animEffect>
                                  </p:childTnLst>
                                </p:cTn>
                              </p:par>
                              <p:par>
                                <p:cTn id="35" presetID="6" presetClass="entr" presetSubtype="16" fill="hold" nodeType="withEffect">
                                  <p:stCondLst>
                                    <p:cond delay="0"/>
                                  </p:stCondLst>
                                  <p:childTnLst>
                                    <p:set>
                                      <p:cBhvr>
                                        <p:cTn id="36" dur="1" fill="hold">
                                          <p:stCondLst>
                                            <p:cond delay="0"/>
                                          </p:stCondLst>
                                        </p:cTn>
                                        <p:tgtEl>
                                          <p:spTgt spid="3080"/>
                                        </p:tgtEl>
                                        <p:attrNameLst>
                                          <p:attrName>style.visibility</p:attrName>
                                        </p:attrNameLst>
                                      </p:cBhvr>
                                      <p:to>
                                        <p:strVal val="visible"/>
                                      </p:to>
                                    </p:set>
                                    <p:animEffect transition="in" filter="circle(in)">
                                      <p:cBhvr>
                                        <p:cTn id="37" dur="2000"/>
                                        <p:tgtEl>
                                          <p:spTgt spid="308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barn(inVertical)">
                                      <p:cBhvr>
                                        <p:cTn id="42" dur="500"/>
                                        <p:tgtEl>
                                          <p:spTgt spid="3">
                                            <p:txEl>
                                              <p:pRg st="3" end="3"/>
                                            </p:txEl>
                                          </p:spTgt>
                                        </p:tgtEl>
                                      </p:cBhvr>
                                    </p:animEffect>
                                  </p:childTnLst>
                                </p:cTn>
                              </p:par>
                              <p:par>
                                <p:cTn id="43" presetID="16" presetClass="entr" presetSubtype="21" fill="hold" nodeType="withEffect">
                                  <p:stCondLst>
                                    <p:cond delay="0"/>
                                  </p:stCondLst>
                                  <p:childTnLst>
                                    <p:set>
                                      <p:cBhvr>
                                        <p:cTn id="44" dur="1" fill="hold">
                                          <p:stCondLst>
                                            <p:cond delay="0"/>
                                          </p:stCondLst>
                                        </p:cTn>
                                        <p:tgtEl>
                                          <p:spTgt spid="3081"/>
                                        </p:tgtEl>
                                        <p:attrNameLst>
                                          <p:attrName>style.visibility</p:attrName>
                                        </p:attrNameLst>
                                      </p:cBhvr>
                                      <p:to>
                                        <p:strVal val="visible"/>
                                      </p:to>
                                    </p:set>
                                    <p:animEffect transition="in" filter="barn(inVertical)">
                                      <p:cBhvr>
                                        <p:cTn id="45" dur="500"/>
                                        <p:tgtEl>
                                          <p:spTgt spid="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3200" dirty="0">
                <a:latin typeface="Times New Roman" panose="02020603050405020304" pitchFamily="18" charset="0"/>
                <a:cs typeface="Times New Roman" panose="02020603050405020304" pitchFamily="18" charset="0"/>
              </a:rPr>
              <a:t>Matn muharriri </a:t>
            </a:r>
            <a:r>
              <a:rPr lang="en-US" sz="3200" dirty="0">
                <a:latin typeface="Times New Roman" panose="02020603050405020304" pitchFamily="18" charset="0"/>
                <a:cs typeface="Times New Roman" panose="02020603050405020304" pitchFamily="18" charset="0"/>
              </a:rPr>
              <a:t>Word</a:t>
            </a:r>
            <a:br>
              <a:rPr lang="en-US" sz="3200" dirty="0">
                <a:latin typeface="Times New Roman" panose="02020603050405020304" pitchFamily="18" charset="0"/>
                <a:cs typeface="Times New Roman" panose="02020603050405020304" pitchFamily="18" charset="0"/>
              </a:rPr>
            </a:br>
            <a:endParaRPr lang="ru-RU" dirty="0"/>
          </a:p>
        </p:txBody>
      </p:sp>
      <p:sp>
        <p:nvSpPr>
          <p:cNvPr id="3" name="Объект 2"/>
          <p:cNvSpPr>
            <a:spLocks noGrp="1"/>
          </p:cNvSpPr>
          <p:nvPr>
            <p:ph sz="quarter" idx="13"/>
          </p:nvPr>
        </p:nvSpPr>
        <p:spPr>
          <a:xfrm>
            <a:off x="611560" y="1124744"/>
            <a:ext cx="7924800" cy="3888432"/>
          </a:xfrm>
        </p:spPr>
        <p:txBody>
          <a:bodyPr/>
          <a:lstStyle/>
          <a:p>
            <a:r>
              <a:rPr lang="en-US" sz="2000" dirty="0"/>
              <a:t>Microsoft Word — </a:t>
            </a:r>
            <a:r>
              <a:rPr lang="ru-RU" sz="2000" dirty="0"/>
              <a:t>matnli hujjatlarni yaratish, ko'rish va tahrirlash uchun mo'ljallangan matn protsessori, jadval matritsasi algoritmlarining eng oddiy shakllaridan mahalliy foydalanish bilan. Korporatsiya tomonidan chiqarilgan </a:t>
            </a:r>
            <a:r>
              <a:rPr lang="en-US" sz="2000" dirty="0"/>
              <a:t>Microsoft </a:t>
            </a:r>
            <a:r>
              <a:rPr lang="ru-RU" sz="2000" dirty="0"/>
              <a:t>paketning bir qismi sifatida </a:t>
            </a:r>
            <a:r>
              <a:rPr lang="en-US" sz="2000" dirty="0"/>
              <a:t>Microsoft Office. </a:t>
            </a:r>
            <a:r>
              <a:rPr lang="ru-RU" sz="2000" dirty="0"/>
              <a:t>Birinchi versiya Richard Brodi tomonidan yozilgan</a:t>
            </a:r>
            <a:r>
              <a:rPr lang="en-US" sz="2000" dirty="0"/>
              <a:t> </a:t>
            </a:r>
            <a:r>
              <a:rPr lang="ru-RU" sz="2000" dirty="0"/>
              <a:t>uchun </a:t>
            </a:r>
            <a:r>
              <a:rPr lang="en-US" sz="2000" dirty="0"/>
              <a:t>IBM PC, </a:t>
            </a:r>
            <a:r>
              <a:rPr lang="ru-RU" sz="2000" dirty="0"/>
              <a:t>foydalanish </a:t>
            </a:r>
            <a:r>
              <a:rPr lang="en-US" sz="2000" dirty="0"/>
              <a:t>DOS, </a:t>
            </a:r>
            <a:r>
              <a:rPr lang="ru-RU" sz="2000" dirty="0"/>
              <a:t>1983 yilda. Keyinchalik </a:t>
            </a:r>
            <a:r>
              <a:rPr lang="en-US" sz="2000" dirty="0"/>
              <a:t>Apple Macintosh (1984), SCO UNIX </a:t>
            </a:r>
            <a:r>
              <a:rPr lang="ru-RU" sz="2000" dirty="0"/>
              <a:t>va </a:t>
            </a:r>
            <a:r>
              <a:rPr lang="en-US" sz="2000" dirty="0"/>
              <a:t>Microsoft Windows (1989). </a:t>
            </a:r>
            <a:r>
              <a:rPr lang="ru-RU" sz="2000" dirty="0"/>
              <a:t>Joriy versiya </a:t>
            </a:r>
            <a:r>
              <a:rPr lang="en-US" sz="2000" dirty="0"/>
              <a:t>Microsoft Office Word 2013 </a:t>
            </a:r>
            <a:r>
              <a:rPr lang="ru-RU" sz="2000" dirty="0"/>
              <a:t>uchun </a:t>
            </a:r>
            <a:r>
              <a:rPr lang="en-US" sz="2000" dirty="0"/>
              <a:t>Windows </a:t>
            </a:r>
            <a:r>
              <a:rPr lang="ru-RU" sz="2000" dirty="0"/>
              <a:t>va </a:t>
            </a:r>
            <a:r>
              <a:rPr lang="en-US" sz="2000" dirty="0"/>
              <a:t>Microsoft Office Word 2011 </a:t>
            </a:r>
            <a:r>
              <a:rPr lang="ru-RU" sz="2000" dirty="0"/>
              <a:t>uchun </a:t>
            </a:r>
            <a:r>
              <a:rPr lang="en-US" sz="2000" dirty="0"/>
              <a:t>Mac.</a:t>
            </a:r>
          </a:p>
          <a:p>
            <a:endParaRPr lang="ru-RU" dirty="0"/>
          </a:p>
        </p:txBody>
      </p:sp>
      <p:pic>
        <p:nvPicPr>
          <p:cNvPr id="4"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4613"/>
          <a:stretch/>
        </p:blipFill>
        <p:spPr bwMode="auto">
          <a:xfrm>
            <a:off x="1043608" y="4100632"/>
            <a:ext cx="4104456" cy="24469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pic>
        <p:nvPicPr>
          <p:cNvPr id="5" name="Picture 6" descr="C:\Users\user\Desktop\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60" y="4100632"/>
            <a:ext cx="2520280" cy="24469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47174657"/>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ircle(in)">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0"/>
            <a:ext cx="7924800" cy="1143000"/>
          </a:xfrm>
        </p:spPr>
        <p:txBody>
          <a:bodyPr/>
          <a:lstStyle/>
          <a:p>
            <a:pPr algn="ctr"/>
            <a:r>
              <a:rPr lang="en-US" sz="3600" dirty="0" err="1"/>
              <a:t>LibreOffice</a:t>
            </a:r>
            <a:r>
              <a:rPr lang="en-US" sz="3600" dirty="0"/>
              <a:t> Writer</a:t>
            </a:r>
            <a:endParaRPr lang="ru-RU" sz="3600" dirty="0"/>
          </a:p>
        </p:txBody>
      </p:sp>
      <p:sp>
        <p:nvSpPr>
          <p:cNvPr id="3" name="Объект 2"/>
          <p:cNvSpPr>
            <a:spLocks noGrp="1"/>
          </p:cNvSpPr>
          <p:nvPr>
            <p:ph sz="quarter" idx="13"/>
          </p:nvPr>
        </p:nvSpPr>
        <p:spPr/>
        <p:txBody>
          <a:bodyPr>
            <a:normAutofit/>
          </a:bodyPr>
          <a:lstStyle/>
          <a:p>
            <a:r>
              <a:rPr lang="en-US" sz="2400" dirty="0" err="1"/>
              <a:t>LibreOffice</a:t>
            </a:r>
            <a:r>
              <a:rPr lang="en-US" sz="2400" dirty="0"/>
              <a:t> Writer — </a:t>
            </a:r>
            <a:r>
              <a:rPr lang="ru-RU" sz="2400" dirty="0"/>
              <a:t>so'z protsessori va vizual muharrir </a:t>
            </a:r>
            <a:r>
              <a:rPr lang="en-US" sz="2400" dirty="0"/>
              <a:t>HTML, </a:t>
            </a:r>
            <a:r>
              <a:rPr lang="ru-RU" sz="2400" dirty="0"/>
              <a:t>ofis to'plamining bir qismi </a:t>
            </a:r>
            <a:r>
              <a:rPr lang="en-US" sz="2400" dirty="0" err="1"/>
              <a:t>LibreOffice</a:t>
            </a:r>
            <a:r>
              <a:rPr lang="en-US" sz="2400" dirty="0"/>
              <a:t>. </a:t>
            </a:r>
            <a:r>
              <a:rPr lang="ru-RU" sz="2400" dirty="0"/>
              <a:t>Bu so'z protsessorining bir bo'lagi </a:t>
            </a:r>
            <a:r>
              <a:rPr lang="en-US" sz="2400" dirty="0"/>
              <a:t>OpenOffice.org Writer. </a:t>
            </a:r>
            <a:r>
              <a:rPr lang="en-US" sz="2400" dirty="0" err="1"/>
              <a:t>LibreOffice</a:t>
            </a:r>
            <a:r>
              <a:rPr lang="en-US" sz="2400" dirty="0"/>
              <a:t> Writer </a:t>
            </a:r>
            <a:r>
              <a:rPr lang="ru-RU" sz="2400" dirty="0"/>
              <a:t>bepul litsenziya asosida tarqatiladi</a:t>
            </a:r>
          </a:p>
        </p:txBody>
      </p:sp>
      <p:pic>
        <p:nvPicPr>
          <p:cNvPr id="4" name="Picture 7" descr="C:\Users\user\Desktop\2000px-LibreOffice_Writer_icon_3.3.1_48_px.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8104" y="3645024"/>
            <a:ext cx="2952328" cy="301791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098" name="Picture 2" descr="C:\Users\user\Desktop\LibreOffice_Writer_3_3_2_e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645024"/>
            <a:ext cx="4355976" cy="301791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6637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1)">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randombar(horizontal)">
                                      <p:cBhvr>
                                        <p:cTn id="17" dur="500"/>
                                        <p:tgtEl>
                                          <p:spTgt spid="409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3200" dirty="0"/>
              <a:t>Notepad matn muharriri</a:t>
            </a:r>
            <a:br>
              <a:rPr lang="ru-RU" sz="3200" dirty="0"/>
            </a:br>
            <a:endParaRPr lang="ru-RU" dirty="0"/>
          </a:p>
        </p:txBody>
      </p:sp>
      <p:sp>
        <p:nvSpPr>
          <p:cNvPr id="3" name="Объект 2"/>
          <p:cNvSpPr>
            <a:spLocks noGrp="1"/>
          </p:cNvSpPr>
          <p:nvPr>
            <p:ph sz="quarter" idx="13"/>
          </p:nvPr>
        </p:nvSpPr>
        <p:spPr>
          <a:xfrm>
            <a:off x="611560" y="1196752"/>
            <a:ext cx="7924800" cy="4114800"/>
          </a:xfrm>
        </p:spPr>
        <p:txBody>
          <a:bodyPr>
            <a:normAutofit/>
          </a:bodyPr>
          <a:lstStyle/>
          <a:p>
            <a:r>
              <a:rPr lang="ru-RU" sz="2400" dirty="0"/>
              <a:t>Notepad EDIT oyna sinfidan foydalanadi. 2000 yilda chiqarilgan </a:t>
            </a:r>
            <a:r>
              <a:rPr lang="ru-RU" sz="2400" dirty="0" err="1"/>
              <a:t>Windows</a:t>
            </a:r>
            <a:r>
              <a:rPr lang="ru-RU" sz="2400" dirty="0"/>
              <a:t> ME faqat eng asosiy funktsiyalarni qo'llab-quvvatladi, ko'plab funktsiyalar faqat menyudan mavjud edi va maksimal fayl hajmi 64 kilobaytni tashkil etdi (Edit sinf chegarasi). Hozirgi vaqtda muharrir kontekstni almashtirishni qo'llab-quvvatlaydi, tezkor tugmalar (masalan, </a:t>
            </a:r>
            <a:r>
              <a:rPr lang="ru-RU" sz="2400" dirty="0" err="1"/>
              <a:t>Ctrl</a:t>
            </a:r>
            <a:r>
              <a:rPr lang="ru-RU" sz="2400" dirty="0"/>
              <a:t>- S faylni saqlash uchun), 64 Kb chegarasi olib tashlandi va Unicode qo'llab-quvvatlashi qo'shildi.</a:t>
            </a:r>
          </a:p>
        </p:txBody>
      </p:sp>
      <p:pic>
        <p:nvPicPr>
          <p:cNvPr id="4" name="Picture 8" descr="C:\Users\user\Desktop\0_b58cf_713cca71_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4365104"/>
            <a:ext cx="2507219" cy="22621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122" name="Picture 2" descr="C:\Users\user\Desktop\11-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365104"/>
            <a:ext cx="3615308" cy="22621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2880458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22"/>
                                        </p:tgtEl>
                                        <p:attrNameLst>
                                          <p:attrName>style.visibility</p:attrName>
                                        </p:attrNameLst>
                                      </p:cBhvr>
                                      <p:to>
                                        <p:strVal val="visible"/>
                                      </p:to>
                                    </p:set>
                                    <p:anim calcmode="lin" valueType="num">
                                      <p:cBhvr additive="base">
                                        <p:cTn id="17" dur="500" fill="hold"/>
                                        <p:tgtEl>
                                          <p:spTgt spid="5122"/>
                                        </p:tgtEl>
                                        <p:attrNameLst>
                                          <p:attrName>ppt_x</p:attrName>
                                        </p:attrNameLst>
                                      </p:cBhvr>
                                      <p:tavLst>
                                        <p:tav tm="0">
                                          <p:val>
                                            <p:strVal val="#ppt_x"/>
                                          </p:val>
                                        </p:tav>
                                        <p:tav tm="100000">
                                          <p:val>
                                            <p:strVal val="#ppt_x"/>
                                          </p:val>
                                        </p:tav>
                                      </p:tavLst>
                                    </p:anim>
                                    <p:anim calcmode="lin" valueType="num">
                                      <p:cBhvr additive="base">
                                        <p:cTn id="1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randombar(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3200" dirty="0"/>
              <a:t>Matn muharriri </a:t>
            </a:r>
            <a:r>
              <a:rPr lang="en-US" sz="3200" dirty="0"/>
              <a:t>Notepad</a:t>
            </a:r>
            <a:br>
              <a:rPr lang="en-US" sz="3200" dirty="0"/>
            </a:br>
            <a:endParaRPr lang="ru-RU" dirty="0"/>
          </a:p>
        </p:txBody>
      </p:sp>
      <p:sp>
        <p:nvSpPr>
          <p:cNvPr id="3" name="Объект 2"/>
          <p:cNvSpPr>
            <a:spLocks noGrp="1"/>
          </p:cNvSpPr>
          <p:nvPr>
            <p:ph sz="quarter" idx="13"/>
          </p:nvPr>
        </p:nvSpPr>
        <p:spPr/>
        <p:txBody>
          <a:bodyPr>
            <a:normAutofit/>
          </a:bodyPr>
          <a:lstStyle/>
          <a:p>
            <a:r>
              <a:rPr lang="ru-RU" sz="2000" dirty="0" err="1"/>
              <a:t>Notepad</a:t>
            </a:r>
            <a:r>
              <a:rPr lang="ru-RU" sz="2000" dirty="0"/>
              <a:t>++ - bepul va ochiq manbali matn muharriri </a:t>
            </a:r>
            <a:r>
              <a:rPr lang="ru-RU" sz="2000" dirty="0" err="1"/>
              <a:t>Windows</a:t>
            </a:r>
            <a:r>
              <a:rPr lang="ru-RU" sz="2000" dirty="0"/>
              <a:t> ko'p sonli dasturlash va belgilash tillarining sintaksisini ta'kidlash bilan. 100 dan ortiq formatlarni ochishni qo'llab-quvvatlaydi. Komponentga asoslangan </a:t>
            </a:r>
            <a:r>
              <a:rPr lang="ru-RU" sz="2000" dirty="0" err="1"/>
              <a:t>Scintilla</a:t>
            </a:r>
            <a:r>
              <a:rPr lang="ru-RU" sz="2000" dirty="0"/>
              <a:t>, STL yordamida C++ da yozilgan, shuningdek </a:t>
            </a:r>
            <a:r>
              <a:rPr lang="ru-RU" sz="2000" dirty="0" err="1"/>
              <a:t>Windows</a:t>
            </a:r>
            <a:r>
              <a:rPr lang="ru-RU" sz="2000" dirty="0"/>
              <a:t> API va GNU litsenziyasi ostida tarqatiladi </a:t>
            </a:r>
            <a:r>
              <a:rPr lang="ru-RU" sz="2000" dirty="0" err="1"/>
              <a:t>General</a:t>
            </a:r>
            <a:r>
              <a:rPr lang="ru-RU" sz="2000" dirty="0"/>
              <a:t> </a:t>
            </a:r>
            <a:r>
              <a:rPr lang="ru-RU" sz="2000" dirty="0" err="1"/>
              <a:t>Public</a:t>
            </a:r>
            <a:r>
              <a:rPr lang="ru-RU" sz="2000" dirty="0"/>
              <a:t> </a:t>
            </a:r>
            <a:r>
              <a:rPr lang="ru-RU" sz="2000" dirty="0" err="1"/>
              <a:t>License</a:t>
            </a:r>
            <a:r>
              <a:rPr lang="ru-RU" sz="2000" dirty="0"/>
              <a:t>. Dasturning asosiy funktsiyalari plaginlar va kompilyatorlar va protsessorlardan oldingi kabi uchinchi tomon modullari bilan kengaytirilishi mumkin.</a:t>
            </a:r>
          </a:p>
        </p:txBody>
      </p:sp>
      <p:pic>
        <p:nvPicPr>
          <p:cNvPr id="4" name="Picture 9" descr="C:\Users\user\Desktop\editortext-notepa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0914" y="4221087"/>
            <a:ext cx="3024336" cy="25649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146" name="Picture 2" descr="C:\Users\user\Desktop\Notep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397350"/>
            <a:ext cx="3764582" cy="22123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97114995"/>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146"/>
                                        </p:tgtEl>
                                        <p:attrNameLst>
                                          <p:attrName>style.visibility</p:attrName>
                                        </p:attrNameLst>
                                      </p:cBhvr>
                                      <p:to>
                                        <p:strVal val="visible"/>
                                      </p:to>
                                    </p:set>
                                    <p:animEffect transition="in" filter="wipe(down)">
                                      <p:cBhvr>
                                        <p:cTn id="17" dur="500"/>
                                        <p:tgtEl>
                                          <p:spTgt spid="614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ircle(in)">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4" name="Rectangle 4">
            <a:extLst>
              <a:ext uri="{FF2B5EF4-FFF2-40B4-BE49-F238E27FC236}">
                <a16:creationId xmlns:a16="http://schemas.microsoft.com/office/drawing/2014/main" id="{8883CE63-19FE-4A78-8048-915102620A2C}"/>
              </a:ext>
            </a:extLst>
          </p:cNvPr>
          <p:cNvSpPr>
            <a:spLocks noChangeArrowheads="1"/>
          </p:cNvSpPr>
          <p:nvPr/>
        </p:nvSpPr>
        <p:spPr bwMode="auto">
          <a:xfrm>
            <a:off x="533400" y="2286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ru-RU" sz="4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Matn muharrirlarining turlari </a:t>
            </a:r>
          </a:p>
        </p:txBody>
      </p:sp>
      <p:sp>
        <p:nvSpPr>
          <p:cNvPr id="158726" name="Rectangle 6">
            <a:extLst>
              <a:ext uri="{FF2B5EF4-FFF2-40B4-BE49-F238E27FC236}">
                <a16:creationId xmlns:a16="http://schemas.microsoft.com/office/drawing/2014/main" id="{2E972107-CDD4-4D85-870D-1662FA86E98B}"/>
              </a:ext>
            </a:extLst>
          </p:cNvPr>
          <p:cNvSpPr>
            <a:spLocks noChangeArrowheads="1"/>
          </p:cNvSpPr>
          <p:nvPr/>
        </p:nvSpPr>
        <p:spPr bwMode="auto">
          <a:xfrm>
            <a:off x="0" y="5254625"/>
            <a:ext cx="89916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342900" eaLnBrk="0" hangingPunct="0">
              <a:tabLst>
                <a:tab pos="530225" algn="l"/>
              </a:tabLst>
              <a:defRPr>
                <a:solidFill>
                  <a:schemeClr val="tx1"/>
                </a:solidFill>
                <a:latin typeface="Arial" panose="020B0604020202020204" pitchFamily="34" charset="0"/>
              </a:defRPr>
            </a:lvl1pPr>
            <a:lvl2pPr marL="742950" indent="-285750" eaLnBrk="0" hangingPunct="0">
              <a:tabLst>
                <a:tab pos="530225" algn="l"/>
              </a:tabLst>
              <a:defRPr>
                <a:solidFill>
                  <a:schemeClr val="tx1"/>
                </a:solidFill>
                <a:latin typeface="Arial" panose="020B0604020202020204" pitchFamily="34" charset="0"/>
              </a:defRPr>
            </a:lvl2pPr>
            <a:lvl3pPr marL="1143000" indent="-228600" eaLnBrk="0" hangingPunct="0">
              <a:tabLst>
                <a:tab pos="530225" algn="l"/>
              </a:tabLst>
              <a:defRPr>
                <a:solidFill>
                  <a:schemeClr val="tx1"/>
                </a:solidFill>
                <a:latin typeface="Arial" panose="020B0604020202020204" pitchFamily="34" charset="0"/>
              </a:defRPr>
            </a:lvl3pPr>
            <a:lvl4pPr marL="1600200" indent="-228600" eaLnBrk="0" hangingPunct="0">
              <a:tabLst>
                <a:tab pos="530225" algn="l"/>
              </a:tabLst>
              <a:defRPr>
                <a:solidFill>
                  <a:schemeClr val="tx1"/>
                </a:solidFill>
                <a:latin typeface="Arial" panose="020B0604020202020204" pitchFamily="34" charset="0"/>
              </a:defRPr>
            </a:lvl4pPr>
            <a:lvl5pPr marL="2057400" indent="-228600" eaLnBrk="0" hangingPunct="0">
              <a:tabLst>
                <a:tab pos="530225"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530225"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530225"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530225"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530225" algn="l"/>
              </a:tabLst>
              <a:defRPr>
                <a:solidFill>
                  <a:schemeClr val="tx1"/>
                </a:solidFill>
                <a:latin typeface="Arial" panose="020B0604020202020204" pitchFamily="34" charset="0"/>
              </a:defRPr>
            </a:lvl9pPr>
          </a:lstStyle>
          <a:p>
            <a:pPr marL="0" marR="0" lvl="0" indent="342900" algn="l" defTabSz="914400" rtl="0" eaLnBrk="1" fontAlgn="auto" latinLnBrk="0" hangingPunct="1">
              <a:lnSpc>
                <a:spcPct val="100000"/>
              </a:lnSpc>
              <a:spcBef>
                <a:spcPts val="0"/>
              </a:spcBef>
              <a:spcAft>
                <a:spcPts val="0"/>
              </a:spcAft>
              <a:buClrTx/>
              <a:buSzTx/>
              <a:buFontTx/>
              <a:buNone/>
              <a:tabLst>
                <a:tab pos="530225" algn="l"/>
              </a:tabLst>
              <a:defRPr/>
            </a:pPr>
            <a:r>
              <a:rPr kumimoji="0" lang="ru-RU" altLang="ja-JP" sz="1800" b="1" i="1" u="none" strike="noStrike" kern="1200" cap="none" spc="0" normalizeH="0" baseline="0" noProof="0">
                <a:ln>
                  <a:noFill/>
                </a:ln>
                <a:solidFill>
                  <a:srgbClr val="0000FF"/>
                </a:solidFill>
                <a:effectLst/>
                <a:uLnTx/>
                <a:uFillTx/>
                <a:latin typeface="Arial" panose="020B0604020202020204" pitchFamily="34" charset="0"/>
                <a:cs typeface="+mn-cs"/>
              </a:rPr>
              <a:t>Ilmiy hujjatlar to'plami uchun muharrirlar</a:t>
            </a:r>
            <a:r>
              <a:rPr kumimoji="0" lang="ru-RU" altLang="ja-JP" sz="1800" b="0" i="1" u="none" strike="noStrike" kern="1200" cap="none" spc="0" normalizeH="0" baseline="0" noProof="0">
                <a:ln>
                  <a:noFill/>
                </a:ln>
                <a:solidFill>
                  <a:srgbClr val="FFFFFF"/>
                </a:solidFill>
                <a:effectLst/>
                <a:uLnTx/>
                <a:uFillTx/>
                <a:latin typeface="Arial" panose="020B0604020202020204" pitchFamily="34" charset="0"/>
                <a:cs typeface="+mn-cs"/>
              </a:rPr>
              <a:t> </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 formulalar, jadvallar va boshqalar bilan ilmiy ishlar matnlarini tayyorlash uchun.</a:t>
            </a:r>
          </a:p>
          <a:p>
            <a:pPr marL="0" marR="0" lvl="0" indent="342900" algn="l" defTabSz="914400" rtl="0" eaLnBrk="1" fontAlgn="auto" latinLnBrk="0" hangingPunct="1">
              <a:lnSpc>
                <a:spcPct val="100000"/>
              </a:lnSpc>
              <a:spcBef>
                <a:spcPts val="0"/>
              </a:spcBef>
              <a:spcAft>
                <a:spcPts val="0"/>
              </a:spcAft>
              <a:buClrTx/>
              <a:buSzTx/>
              <a:buFontTx/>
              <a:buNone/>
              <a:tabLst>
                <a:tab pos="530225" algn="l"/>
              </a:tabLst>
              <a:defRPr/>
            </a:pP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Ilmiy hujjatlar muharrirlari rasm, matematik belgilar, chizma elementlari, shriftlar to'plamini yaratish uchun keng grafik imkoniyatlarga ega. Bularga CH muharrirlari kiradi </a:t>
            </a:r>
            <a:r>
              <a:rPr kumimoji="0" lang="en-US" altLang="ja-JP" sz="1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WRITER</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 Ular va boshqalar.</a:t>
            </a:r>
          </a:p>
        </p:txBody>
      </p:sp>
      <p:sp>
        <p:nvSpPr>
          <p:cNvPr id="158727" name="Text Box 7">
            <a:extLst>
              <a:ext uri="{FF2B5EF4-FFF2-40B4-BE49-F238E27FC236}">
                <a16:creationId xmlns:a16="http://schemas.microsoft.com/office/drawing/2014/main" id="{750C91B1-5105-4CC3-8E89-3B5F15DFC664}"/>
              </a:ext>
            </a:extLst>
          </p:cNvPr>
          <p:cNvSpPr txBox="1">
            <a:spLocks noChangeArrowheads="1"/>
          </p:cNvSpPr>
          <p:nvPr/>
        </p:nvSpPr>
        <p:spPr bwMode="auto">
          <a:xfrm>
            <a:off x="0" y="2362200"/>
            <a:ext cx="89916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ja-JP" sz="1800" b="1" i="1" u="none" strike="noStrike" kern="1200" cap="none" spc="0" normalizeH="0" baseline="0" noProof="0">
                <a:ln>
                  <a:noFill/>
                </a:ln>
                <a:solidFill>
                  <a:srgbClr val="0000FF"/>
                </a:solidFill>
                <a:effectLst/>
                <a:uLnTx/>
                <a:uFillTx/>
                <a:latin typeface="Arial" panose="020B0604020202020204" pitchFamily="34" charset="0"/>
                <a:cs typeface="+mn-cs"/>
              </a:rPr>
              <a:t>Hujjat muharrirlari</a:t>
            </a:r>
            <a:r>
              <a:rPr kumimoji="0" lang="ru-RU" altLang="ja-JP" sz="1800" b="0" i="1" u="none" strike="noStrike" kern="1200" cap="none" spc="0" normalizeH="0" baseline="0" noProof="0">
                <a:ln>
                  <a:noFill/>
                </a:ln>
                <a:solidFill>
                  <a:srgbClr val="FFFFFF"/>
                </a:solidFill>
                <a:effectLst/>
                <a:uLnTx/>
                <a:uFillTx/>
                <a:latin typeface="Arial" panose="020B0604020202020204" pitchFamily="34" charset="0"/>
                <a:cs typeface="+mn-cs"/>
              </a:rPr>
              <a:t> </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 hujjat tuzilishiga ega bo'lgan matnlar bilan ishlashga yo'naltirilgan, ya'ni.bo'limlar, sahifalar, paragraflar, jumlalar va boshqalardan iborat. hammasi bo'lib, eng oddiyidan juda kuchli va murakkabgacha bo'lgan bir necha o'nlab hujjatlar muharrirlari mavjud: leksika, MS Word, MS WordPad.</a:t>
            </a: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58728" name="Rectangle 8">
            <a:extLst>
              <a:ext uri="{FF2B5EF4-FFF2-40B4-BE49-F238E27FC236}">
                <a16:creationId xmlns:a16="http://schemas.microsoft.com/office/drawing/2014/main" id="{8AFFD046-A15E-4F3C-8581-5B11ABEF2D28}"/>
              </a:ext>
            </a:extLst>
          </p:cNvPr>
          <p:cNvSpPr>
            <a:spLocks noChangeArrowheads="1"/>
          </p:cNvSpPr>
          <p:nvPr/>
        </p:nvSpPr>
        <p:spPr bwMode="auto">
          <a:xfrm>
            <a:off x="0" y="3581400"/>
            <a:ext cx="87630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ja-JP" sz="1800" b="1" i="1" u="none" strike="noStrike" kern="1200" cap="none" spc="0" normalizeH="0" baseline="0" noProof="0">
                <a:ln>
                  <a:noFill/>
                </a:ln>
                <a:solidFill>
                  <a:srgbClr val="0000FF"/>
                </a:solidFill>
                <a:effectLst/>
                <a:uLnTx/>
                <a:uFillTx/>
                <a:latin typeface="Arial" panose="020B0604020202020204" pitchFamily="34" charset="0"/>
                <a:cs typeface="+mn-cs"/>
              </a:rPr>
              <a:t>Nashriyot tizimlari</a:t>
            </a:r>
            <a:r>
              <a:rPr kumimoji="0" lang="ru-RU" altLang="ja-JP" sz="1800" b="0" i="1" u="none" strike="noStrike" kern="1200" cap="none" spc="0" normalizeH="0" baseline="0" noProof="0">
                <a:ln>
                  <a:noFill/>
                </a:ln>
                <a:solidFill>
                  <a:srgbClr val="FFFFFF"/>
                </a:solidFill>
                <a:effectLst/>
                <a:uLnTx/>
                <a:uFillTx/>
                <a:latin typeface="Arial" panose="020B0604020202020204" pitchFamily="34" charset="0"/>
                <a:cs typeface="+mn-cs"/>
              </a:rPr>
              <a:t> </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 reklama risolalarini tayyorlash, jurnallar, kitoblarni loyihalash. Lazerli printerlarda tayyorlash va chop etish va yuqori sifatli murakkab hujjatlarni foto qog'ozga chiqarish imkonini beradi.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Nashriyot tizimlariga kitoblar, jurnallar, gazetalarni joylashtirish uchun mo'ljallangan dasturlar to'plami kiradi: </a:t>
            </a:r>
            <a:r>
              <a:rPr kumimoji="0" lang="en-US" altLang="ja-JP" sz="1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Page Maker</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 </a:t>
            </a:r>
            <a:r>
              <a:rPr kumimoji="0" lang="en-US" altLang="ja-JP" sz="1800" b="0"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Venturf Publisher</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a:t>
            </a: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58729" name="Text Box 9">
            <a:extLst>
              <a:ext uri="{FF2B5EF4-FFF2-40B4-BE49-F238E27FC236}">
                <a16:creationId xmlns:a16="http://schemas.microsoft.com/office/drawing/2014/main" id="{6A595318-EC1C-4E3B-9300-02D5E82D193F}"/>
              </a:ext>
            </a:extLst>
          </p:cNvPr>
          <p:cNvSpPr txBox="1">
            <a:spLocks noChangeArrowheads="1"/>
          </p:cNvSpPr>
          <p:nvPr/>
        </p:nvSpPr>
        <p:spPr bwMode="auto">
          <a:xfrm>
            <a:off x="0" y="1066800"/>
            <a:ext cx="89916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ja-JP" sz="1800" b="1" i="1" u="none" strike="noStrike" kern="1200" cap="none" spc="0" normalizeH="0" baseline="0" noProof="0">
                <a:ln>
                  <a:noFill/>
                </a:ln>
                <a:solidFill>
                  <a:srgbClr val="0000FF"/>
                </a:solidFill>
                <a:effectLst/>
                <a:uLnTx/>
                <a:uFillTx/>
                <a:latin typeface="Arial" panose="020B0604020202020204" pitchFamily="34" charset="0"/>
                <a:cs typeface="+mn-cs"/>
              </a:rPr>
              <a:t>Matn muharrirlari</a:t>
            </a:r>
            <a:r>
              <a:rPr kumimoji="0" lang="ru-RU" altLang="ja-JP" sz="1800" b="0" i="1" u="none" strike="noStrike" kern="1200" cap="none" spc="0" normalizeH="0" baseline="0" noProof="0">
                <a:ln>
                  <a:noFill/>
                </a:ln>
                <a:solidFill>
                  <a:srgbClr val="FFFFFF"/>
                </a:solidFill>
                <a:effectLst/>
                <a:uLnTx/>
                <a:uFillTx/>
                <a:latin typeface="Arial" panose="020B0604020202020204" pitchFamily="34" charset="0"/>
                <a:cs typeface="+mn-cs"/>
              </a:rPr>
              <a:t> </a:t>
            </a:r>
            <a:r>
              <a:rPr kumimoji="0" lang="ru-RU" altLang="ja-JP" sz="1800" b="0" i="0" u="none" strike="noStrike" kern="1200" cap="none" spc="0" normalizeH="0" baseline="0" noProof="0">
                <a:ln>
                  <a:noFill/>
                </a:ln>
                <a:solidFill>
                  <a:srgbClr val="FFFFFF"/>
                </a:solidFill>
                <a:effectLst/>
                <a:uLnTx/>
                <a:uFillTx/>
                <a:latin typeface="Arial" panose="020B0604020202020204" pitchFamily="34" charset="0"/>
                <a:cs typeface="+mn-cs"/>
              </a:rPr>
              <a:t>- eng oddiy matnlarni terish va tahrirlash uchun eng oddiy dasturlar (ular ma'lum bir dasturlash tilida dasturlarni tahrirlash uchun mo'ljallangan. Ko'pincha ular dasturlash tizimiga kiritilgan: Turbo (Borland) Paskal, Multi-Edit va Brief. </a:t>
            </a: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box(out)">
                                      <p:cBhvr>
                                        <p:cTn id="7" dur="500"/>
                                        <p:tgtEl>
                                          <p:spTgt spid="1587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8729"/>
                                        </p:tgtEl>
                                        <p:attrNameLst>
                                          <p:attrName>style.visibility</p:attrName>
                                        </p:attrNameLst>
                                      </p:cBhvr>
                                      <p:to>
                                        <p:strVal val="visible"/>
                                      </p:to>
                                    </p:set>
                                    <p:animEffect transition="in" filter="box(out)">
                                      <p:cBhvr>
                                        <p:cTn id="12" dur="500"/>
                                        <p:tgtEl>
                                          <p:spTgt spid="1587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8727"/>
                                        </p:tgtEl>
                                        <p:attrNameLst>
                                          <p:attrName>style.visibility</p:attrName>
                                        </p:attrNameLst>
                                      </p:cBhvr>
                                      <p:to>
                                        <p:strVal val="visible"/>
                                      </p:to>
                                    </p:set>
                                    <p:animEffect transition="in" filter="box(out)">
                                      <p:cBhvr>
                                        <p:cTn id="17" dur="500"/>
                                        <p:tgtEl>
                                          <p:spTgt spid="1587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8728"/>
                                        </p:tgtEl>
                                        <p:attrNameLst>
                                          <p:attrName>style.visibility</p:attrName>
                                        </p:attrNameLst>
                                      </p:cBhvr>
                                      <p:to>
                                        <p:strVal val="visible"/>
                                      </p:to>
                                    </p:set>
                                    <p:animEffect transition="in" filter="box(out)">
                                      <p:cBhvr>
                                        <p:cTn id="22" dur="500"/>
                                        <p:tgtEl>
                                          <p:spTgt spid="1587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8726"/>
                                        </p:tgtEl>
                                        <p:attrNameLst>
                                          <p:attrName>style.visibility</p:attrName>
                                        </p:attrNameLst>
                                      </p:cBhvr>
                                      <p:to>
                                        <p:strVal val="visible"/>
                                      </p:to>
                                    </p:set>
                                    <p:animEffect transition="in" filter="box(out)">
                                      <p:cBhvr>
                                        <p:cTn id="27" dur="500"/>
                                        <p:tgtEl>
                                          <p:spTgt spid="158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p:bldP spid="158726" grpId="0"/>
      <p:bldP spid="158727" grpId="0"/>
      <p:bldP spid="158728" grpId="0"/>
      <p:bldP spid="15872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3D7A25A-B61A-46F4-9EBB-AE8870EFC31A}"/>
              </a:ext>
            </a:extLst>
          </p:cNvPr>
          <p:cNvSpPr>
            <a:spLocks noGrp="1" noChangeArrowheads="1"/>
          </p:cNvSpPr>
          <p:nvPr>
            <p:ph type="title"/>
          </p:nvPr>
        </p:nvSpPr>
        <p:spPr/>
        <p:txBody>
          <a:bodyPr/>
          <a:lstStyle/>
          <a:p>
            <a:pPr eaLnBrk="1" hangingPunct="1"/>
            <a:r>
              <a:rPr lang="ru-RU" altLang="ru-RU"/>
              <a:t>Tahrirlash -</a:t>
            </a:r>
          </a:p>
        </p:txBody>
      </p:sp>
      <p:sp>
        <p:nvSpPr>
          <p:cNvPr id="8195" name="Rectangle 3">
            <a:extLst>
              <a:ext uri="{FF2B5EF4-FFF2-40B4-BE49-F238E27FC236}">
                <a16:creationId xmlns:a16="http://schemas.microsoft.com/office/drawing/2014/main" id="{2D5EEF00-6FE9-4DF9-82DB-2DF1A05951A4}"/>
              </a:ext>
            </a:extLst>
          </p:cNvPr>
          <p:cNvSpPr>
            <a:spLocks noGrp="1" noChangeArrowheads="1"/>
          </p:cNvSpPr>
          <p:nvPr>
            <p:ph type="body" idx="1"/>
          </p:nvPr>
        </p:nvSpPr>
        <p:spPr/>
        <p:txBody>
          <a:bodyPr/>
          <a:lstStyle/>
          <a:p>
            <a:pPr eaLnBrk="1" hangingPunct="1">
              <a:buFont typeface="Wingdings" panose="05000000000000000000" pitchFamily="2" charset="2"/>
              <a:buNone/>
            </a:pPr>
            <a:r>
              <a:rPr lang="ru-RU" altLang="ru-RU"/>
              <a:t>	hujjatdagi ob'ektlarni tuzatish, o'chirish, ko'chirish, kiritish jarayoni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B9D3BB3-12AE-44B3-B825-438F8D7F13F1}"/>
              </a:ext>
            </a:extLst>
          </p:cNvPr>
          <p:cNvSpPr>
            <a:spLocks noGrp="1" noChangeArrowheads="1"/>
          </p:cNvSpPr>
          <p:nvPr>
            <p:ph type="title"/>
          </p:nvPr>
        </p:nvSpPr>
        <p:spPr/>
        <p:txBody>
          <a:bodyPr/>
          <a:lstStyle/>
          <a:p>
            <a:pPr eaLnBrk="1" hangingPunct="1"/>
            <a:r>
              <a:rPr lang="ru-RU" altLang="ru-RU"/>
              <a:t>Formatlash -</a:t>
            </a:r>
          </a:p>
        </p:txBody>
      </p:sp>
      <p:sp>
        <p:nvSpPr>
          <p:cNvPr id="9219" name="Rectangle 3">
            <a:extLst>
              <a:ext uri="{FF2B5EF4-FFF2-40B4-BE49-F238E27FC236}">
                <a16:creationId xmlns:a16="http://schemas.microsoft.com/office/drawing/2014/main" id="{9B306273-F90D-4021-B50C-0CA90E06E686}"/>
              </a:ext>
            </a:extLst>
          </p:cNvPr>
          <p:cNvSpPr>
            <a:spLocks noGrp="1" noChangeArrowheads="1"/>
          </p:cNvSpPr>
          <p:nvPr>
            <p:ph type="body" idx="1"/>
          </p:nvPr>
        </p:nvSpPr>
        <p:spPr/>
        <p:txBody>
          <a:bodyPr/>
          <a:lstStyle/>
          <a:p>
            <a:pPr eaLnBrk="1" hangingPunct="1">
              <a:buFont typeface="Wingdings" panose="05000000000000000000" pitchFamily="2" charset="2"/>
              <a:buNone/>
            </a:pPr>
            <a:r>
              <a:rPr lang="ru-RU" altLang="ru-RU" dirty="0"/>
              <a:t>	talablarga muvofiq hujjatni rasmiylashtirish jarayoni.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759FF904-D007-4F06-AA11-45E98D136BF0}"/>
              </a:ext>
            </a:extLst>
          </p:cNvPr>
          <p:cNvSpPr txBox="1">
            <a:spLocks noChangeArrowheads="1"/>
          </p:cNvSpPr>
          <p:nvPr/>
        </p:nvSpPr>
        <p:spPr bwMode="auto">
          <a:xfrm>
            <a:off x="914400" y="2057400"/>
            <a:ext cx="7543800"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3200" b="1" i="0" u="none" strike="noStrike" kern="1200" cap="none" spc="0" normalizeH="0" baseline="0" noProof="0">
                <a:ln>
                  <a:noFill/>
                </a:ln>
                <a:solidFill>
                  <a:srgbClr val="FFFFFF"/>
                </a:solidFill>
                <a:effectLst/>
                <a:uLnTx/>
                <a:uFillTx/>
                <a:latin typeface="Arial" panose="020B0604020202020204" pitchFamily="34" charset="0"/>
                <a:ea typeface="+mn-ea"/>
                <a:cs typeface="+mn-cs"/>
              </a:rPr>
              <a:t>Hujjat</a:t>
            </a:r>
            <a:r>
              <a:rPr kumimoji="0" lang="ru-RU" altLang="ru-RU" sz="32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 bu uni aniqlashga imkon beradigan tafsilotlar bilan moddiy muhitda qayd etilgan ma'lumot.</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32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DCE02F6-0A4D-4B8F-AA51-32D8811B2848}"/>
              </a:ext>
            </a:extLst>
          </p:cNvPr>
          <p:cNvSpPr>
            <a:spLocks noChangeArrowheads="1"/>
          </p:cNvSpPr>
          <p:nvPr/>
        </p:nvSpPr>
        <p:spPr bwMode="auto">
          <a:xfrm>
            <a:off x="304800" y="2362200"/>
            <a:ext cx="85280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altLang="ru-RU" sz="3600" b="1" i="0" u="none" strike="noStrike" kern="1200" cap="none" spc="0" normalizeH="0" baseline="0" noProof="0">
                <a:ln>
                  <a:noFill/>
                </a:ln>
                <a:solidFill>
                  <a:srgbClr val="FFFFFF"/>
                </a:solidFill>
                <a:effectLst/>
                <a:uLnTx/>
                <a:uFillTx/>
                <a:latin typeface="Arial" panose="020B0604020202020204" pitchFamily="34" charset="0"/>
                <a:ea typeface="+mn-ea"/>
                <a:cs typeface="+mn-cs"/>
              </a:rPr>
              <a:t>Hujjat-bu xususiyatlar (xususiyatlar) to'plamiga ega bo'lgan ob'ekt.</a:t>
            </a:r>
          </a:p>
        </p:txBody>
      </p:sp>
      <p:pic>
        <p:nvPicPr>
          <p:cNvPr id="11267" name="Picture 3" descr="Book">
            <a:extLst>
              <a:ext uri="{FF2B5EF4-FFF2-40B4-BE49-F238E27FC236}">
                <a16:creationId xmlns:a16="http://schemas.microsoft.com/office/drawing/2014/main" id="{D6DA70AE-CE4B-4827-A1DC-F20F73BA159D}"/>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970463"/>
            <a:ext cx="20955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700D8144-4946-4012-9A49-A2EABFA82FAA}"/>
              </a:ext>
            </a:extLst>
          </p:cNvPr>
          <p:cNvSpPr>
            <a:spLocks noChangeArrowheads="1"/>
          </p:cNvSpPr>
          <p:nvPr/>
        </p:nvSpPr>
        <p:spPr bwMode="auto">
          <a:xfrm>
            <a:off x="609600" y="2222500"/>
            <a:ext cx="7234238"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tabLst>
                <a:tab pos="441325" algn="l"/>
                <a:tab pos="817563" algn="l"/>
              </a:tabLst>
              <a:defRPr>
                <a:solidFill>
                  <a:schemeClr val="tx1"/>
                </a:solidFill>
                <a:latin typeface="Arial" panose="020B0604020202020204" pitchFamily="34" charset="0"/>
              </a:defRPr>
            </a:lvl1pPr>
            <a:lvl2pPr marL="742950" indent="-285750" eaLnBrk="0" hangingPunct="0">
              <a:tabLst>
                <a:tab pos="441325" algn="l"/>
                <a:tab pos="817563" algn="l"/>
              </a:tabLst>
              <a:defRPr>
                <a:solidFill>
                  <a:schemeClr val="tx1"/>
                </a:solidFill>
                <a:latin typeface="Arial" panose="020B0604020202020204" pitchFamily="34" charset="0"/>
              </a:defRPr>
            </a:lvl2pPr>
            <a:lvl3pPr marL="1143000" indent="-228600" eaLnBrk="0" hangingPunct="0">
              <a:tabLst>
                <a:tab pos="441325" algn="l"/>
                <a:tab pos="817563" algn="l"/>
              </a:tabLst>
              <a:defRPr>
                <a:solidFill>
                  <a:schemeClr val="tx1"/>
                </a:solidFill>
                <a:latin typeface="Arial" panose="020B0604020202020204" pitchFamily="34" charset="0"/>
              </a:defRPr>
            </a:lvl3pPr>
            <a:lvl4pPr marL="1600200" indent="-228600" eaLnBrk="0" hangingPunct="0">
              <a:tabLst>
                <a:tab pos="441325" algn="l"/>
                <a:tab pos="817563" algn="l"/>
              </a:tabLst>
              <a:defRPr>
                <a:solidFill>
                  <a:schemeClr val="tx1"/>
                </a:solidFill>
                <a:latin typeface="Arial" panose="020B0604020202020204" pitchFamily="34" charset="0"/>
              </a:defRPr>
            </a:lvl4pPr>
            <a:lvl5pPr marL="2057400" indent="-228600" eaLnBrk="0" hangingPunct="0">
              <a:tabLst>
                <a:tab pos="441325" algn="l"/>
                <a:tab pos="817563"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41325" algn="l"/>
                <a:tab pos="817563"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41325" algn="l"/>
                <a:tab pos="817563"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41325" algn="l"/>
                <a:tab pos="817563"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41325" algn="l"/>
                <a:tab pos="817563" algn="l"/>
              </a:tabLs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tab pos="441325" algn="l"/>
                <a:tab pos="817563" algn="l"/>
              </a:tabLst>
              <a:defRPr/>
            </a:pPr>
            <a:r>
              <a:rPr kumimoji="0" lang="ru-RU" altLang="ja-JP" sz="1800" b="1" i="0" u="none" strike="noStrike" kern="1200" cap="none" spc="0" normalizeH="0" baseline="0" noProof="0">
                <a:ln>
                  <a:noFill/>
                </a:ln>
                <a:solidFill>
                  <a:srgbClr val="0000FF"/>
                </a:solidFill>
                <a:effectLst/>
                <a:uLnTx/>
                <a:uFillTx/>
                <a:latin typeface="Arial" panose="020B0604020202020204" pitchFamily="34" charset="0"/>
                <a:cs typeface="+mn-cs"/>
              </a:rPr>
              <a:t>Matn muharriri imkoniyatlari:</a:t>
            </a:r>
            <a:endParaRPr kumimoji="0" lang="ru-RU" altLang="ja-JP" sz="1800" b="0" i="0" u="none" strike="noStrike" kern="1200" cap="none" spc="0" normalizeH="0" baseline="0" noProof="0">
              <a:ln>
                <a:noFill/>
              </a:ln>
              <a:solidFill>
                <a:srgbClr val="0000FF"/>
              </a:solidFill>
              <a:effectLst/>
              <a:uLnTx/>
              <a:uFillTx/>
              <a:latin typeface="Arial" panose="020B060402020202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Turli tillarda matn kiritish.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Matnni qog'ozga chop etish.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Harflarni, matn qismlarini olib tashlash.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Parchalarni uzatish va nusxalash.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Kerakli qismni qidiring.</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Bir so'zni boshqasiga avtomatik almashtirish.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Tarkib jadvallarini avtomatik tuzish.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Imlo tekshiruvi va sinonimlarni tanlash.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Turli shriftlarda chop etish.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Jadvallar, formulalar va boshqalarni joylashtiring.</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O'zboshimchalik bilan qator oralig'ini belgilash.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Avtomatik sahifalarni raqamlash.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Sahifalarning yuqori va pastki sarlavhalarini (sarlavhalar va altbilgilar) chop etish.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Paragraf qirralarini tekislash.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Bir nechta ustunlarda yozish.</a:t>
            </a: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Blip>
                <a:blip r:embed="rId2"/>
              </a:buBlip>
              <a:tabLst>
                <a:tab pos="441325" algn="l"/>
                <a:tab pos="817563" algn="l"/>
              </a:tabLst>
              <a:defRPr/>
            </a:pPr>
            <a:r>
              <a:rPr kumimoji="0" lang="ru-RU" altLang="ja-JP" sz="1600" b="1" i="1" u="none" strike="noStrike" kern="1200" cap="none" spc="0" normalizeH="0" baseline="0" noProof="0">
                <a:ln>
                  <a:noFill/>
                </a:ln>
                <a:solidFill>
                  <a:srgbClr val="FFFFFF"/>
                </a:solidFill>
                <a:effectLst/>
                <a:uLnTx/>
                <a:uFillTx/>
                <a:latin typeface="Arial" panose="020B0604020202020204" pitchFamily="34" charset="0"/>
                <a:cs typeface="+mn-cs"/>
              </a:rPr>
              <a:t>   Matndagi harflarni" cho'zish "va ularni bir-biriga" bosish".</a:t>
            </a:r>
          </a:p>
        </p:txBody>
      </p:sp>
      <p:sp>
        <p:nvSpPr>
          <p:cNvPr id="178179" name="Text Box 3">
            <a:extLst>
              <a:ext uri="{FF2B5EF4-FFF2-40B4-BE49-F238E27FC236}">
                <a16:creationId xmlns:a16="http://schemas.microsoft.com/office/drawing/2014/main" id="{1EF0C54D-096D-4143-B0E3-742B905C2271}"/>
              </a:ext>
            </a:extLst>
          </p:cNvPr>
          <p:cNvSpPr txBox="1">
            <a:spLocks noChangeArrowheads="1"/>
          </p:cNvSpPr>
          <p:nvPr/>
        </p:nvSpPr>
        <p:spPr bwMode="auto">
          <a:xfrm>
            <a:off x="609600" y="381000"/>
            <a:ext cx="8153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ja-JP" sz="2400" b="1" i="0" u="none" strike="noStrike" kern="1200" cap="none" spc="0" normalizeH="0" baseline="0" noProof="0">
                <a:ln>
                  <a:noFill/>
                </a:ln>
                <a:solidFill>
                  <a:srgbClr val="FF0000"/>
                </a:solidFill>
                <a:effectLst/>
                <a:uLnTx/>
                <a:uFillTx/>
                <a:latin typeface="Arial" panose="020B0604020202020204" pitchFamily="34" charset="0"/>
                <a:cs typeface="+mn-cs"/>
              </a:rPr>
              <a:t>Matn muharriri xususiyatlari:</a:t>
            </a:r>
          </a:p>
          <a:p>
            <a:pPr marL="0" marR="0" lvl="0" indent="0" algn="l" defTabSz="914400" rtl="0" eaLnBrk="1" fontAlgn="auto" latinLnBrk="0" hangingPunct="1">
              <a:lnSpc>
                <a:spcPct val="100000"/>
              </a:lnSpc>
              <a:spcBef>
                <a:spcPts val="0"/>
              </a:spcBef>
              <a:spcAft>
                <a:spcPts val="0"/>
              </a:spcAft>
              <a:buClrTx/>
              <a:buSzTx/>
              <a:buFontTx/>
              <a:buBlip>
                <a:blip r:embed="rId3"/>
              </a:buBlip>
              <a:tabLst/>
              <a:defRPr/>
            </a:pPr>
            <a:r>
              <a:rPr kumimoji="0" lang="ru-RU" altLang="ja-JP" sz="2000" b="0" i="0" u="none" strike="noStrike" kern="1200" cap="none" spc="0" normalizeH="0" baseline="0" noProof="0">
                <a:ln>
                  <a:noFill/>
                </a:ln>
                <a:solidFill>
                  <a:srgbClr val="FFFFFF"/>
                </a:solidFill>
                <a:effectLst/>
                <a:uLnTx/>
                <a:uFillTx/>
                <a:latin typeface="Arial" panose="020B0604020202020204" pitchFamily="34" charset="0"/>
                <a:cs typeface="+mn-cs"/>
              </a:rPr>
              <a:t>Turli tillarda matn kiritish va tahrirlash.</a:t>
            </a:r>
          </a:p>
          <a:p>
            <a:pPr marL="0" marR="0" lvl="0" indent="0" algn="l" defTabSz="914400" rtl="0" eaLnBrk="1" fontAlgn="auto" latinLnBrk="0" hangingPunct="1">
              <a:lnSpc>
                <a:spcPct val="100000"/>
              </a:lnSpc>
              <a:spcBef>
                <a:spcPts val="0"/>
              </a:spcBef>
              <a:spcAft>
                <a:spcPts val="0"/>
              </a:spcAft>
              <a:buClrTx/>
              <a:buSzTx/>
              <a:buFontTx/>
              <a:buBlip>
                <a:blip r:embed="rId3"/>
              </a:buBlip>
              <a:tabLst/>
              <a:defRPr/>
            </a:pPr>
            <a:r>
              <a:rPr kumimoji="0" lang="ru-RU" altLang="ja-JP" sz="2000" b="0" i="0" u="none" strike="noStrike" kern="1200" cap="none" spc="0" normalizeH="0" baseline="0" noProof="0">
                <a:ln>
                  <a:noFill/>
                </a:ln>
                <a:solidFill>
                  <a:srgbClr val="FFFFFF"/>
                </a:solidFill>
                <a:effectLst/>
                <a:uLnTx/>
                <a:uFillTx/>
                <a:latin typeface="Arial" panose="020B0604020202020204" pitchFamily="34" charset="0"/>
                <a:cs typeface="+mn-cs"/>
              </a:rPr>
              <a:t>Matnni qog'ozga chop etish.</a:t>
            </a:r>
          </a:p>
          <a:p>
            <a:pPr marL="0" marR="0" lvl="0" indent="0" algn="l" defTabSz="914400" rtl="0" eaLnBrk="1" fontAlgn="auto" latinLnBrk="0" hangingPunct="1">
              <a:lnSpc>
                <a:spcPct val="100000"/>
              </a:lnSpc>
              <a:spcBef>
                <a:spcPts val="0"/>
              </a:spcBef>
              <a:spcAft>
                <a:spcPts val="0"/>
              </a:spcAft>
              <a:buClrTx/>
              <a:buSzTx/>
              <a:buFontTx/>
              <a:buBlip>
                <a:blip r:embed="rId3"/>
              </a:buBlip>
              <a:tabLst/>
              <a:defRPr/>
            </a:pPr>
            <a:r>
              <a:rPr kumimoji="0" lang="ru-RU" altLang="ja-JP" sz="2000" b="0" i="0" u="none" strike="noStrike" kern="1200" cap="none" spc="0" normalizeH="0" baseline="0" noProof="0">
                <a:ln>
                  <a:noFill/>
                </a:ln>
                <a:solidFill>
                  <a:srgbClr val="FFFFFF"/>
                </a:solidFill>
                <a:effectLst/>
                <a:uLnTx/>
                <a:uFillTx/>
                <a:latin typeface="Arial" panose="020B0604020202020204" pitchFamily="34" charset="0"/>
                <a:cs typeface="+mn-cs"/>
              </a:rPr>
              <a:t>Matnni kompyuterga saqlash (ma'lumotni saqlash qurilmasida).</a:t>
            </a:r>
          </a:p>
          <a:p>
            <a:pPr marL="0" marR="0" lvl="0" indent="0" algn="l" defTabSz="914400" rtl="0" eaLnBrk="1" fontAlgn="auto" latinLnBrk="0" hangingPunct="1">
              <a:lnSpc>
                <a:spcPct val="100000"/>
              </a:lnSpc>
              <a:spcBef>
                <a:spcPts val="0"/>
              </a:spcBef>
              <a:spcAft>
                <a:spcPts val="0"/>
              </a:spcAft>
              <a:buClrTx/>
              <a:buSzTx/>
              <a:buFontTx/>
              <a:buBlip>
                <a:blip r:embed="rId3"/>
              </a:buBlip>
              <a:tabLst/>
              <a:defRPr/>
            </a:pPr>
            <a:r>
              <a:rPr kumimoji="0" lang="ru-RU" altLang="ja-JP" sz="2000" b="0" i="0" u="none" strike="noStrike" kern="1200" cap="none" spc="0" normalizeH="0" baseline="0" noProof="0">
                <a:ln>
                  <a:noFill/>
                </a:ln>
                <a:solidFill>
                  <a:srgbClr val="FFFFFF"/>
                </a:solidFill>
                <a:effectLst/>
                <a:uLnTx/>
                <a:uFillTx/>
                <a:latin typeface="Arial" panose="020B0604020202020204" pitchFamily="34" charset="0"/>
                <a:cs typeface="+mn-cs"/>
              </a:rPr>
              <a:t>Matnni loyihalash.</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20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0" presetClass="entr" presetSubtype="0" decel="100000" fill="hold" nodeType="afterEffect">
                                  <p:stCondLst>
                                    <p:cond delay="0"/>
                                  </p:stCondLst>
                                  <p:childTnLst>
                                    <p:set>
                                      <p:cBhvr>
                                        <p:cTn id="6" dur="1" fill="hold">
                                          <p:stCondLst>
                                            <p:cond delay="0"/>
                                          </p:stCondLst>
                                        </p:cTn>
                                        <p:tgtEl>
                                          <p:spTgt spid="178179">
                                            <p:txEl>
                                              <p:pRg st="0" end="0"/>
                                            </p:txEl>
                                          </p:spTgt>
                                        </p:tgtEl>
                                        <p:attrNameLst>
                                          <p:attrName>style.visibility</p:attrName>
                                        </p:attrNameLst>
                                      </p:cBhvr>
                                      <p:to>
                                        <p:strVal val="visible"/>
                                      </p:to>
                                    </p:set>
                                    <p:anim calcmode="lin" valueType="num">
                                      <p:cBhvr>
                                        <p:cTn id="7" dur="500" fill="hold"/>
                                        <p:tgtEl>
                                          <p:spTgt spid="178179">
                                            <p:txEl>
                                              <p:pRg st="0" end="0"/>
                                            </p:txEl>
                                          </p:spTgt>
                                        </p:tgtEl>
                                        <p:attrNameLst>
                                          <p:attrName>ppt_w</p:attrName>
                                        </p:attrNameLst>
                                      </p:cBhvr>
                                      <p:tavLst>
                                        <p:tav tm="0">
                                          <p:val>
                                            <p:strVal val="#ppt_w+.3"/>
                                          </p:val>
                                        </p:tav>
                                        <p:tav tm="100000">
                                          <p:val>
                                            <p:strVal val="#ppt_w"/>
                                          </p:val>
                                        </p:tav>
                                      </p:tavLst>
                                    </p:anim>
                                    <p:anim calcmode="lin" valueType="num">
                                      <p:cBhvr>
                                        <p:cTn id="8" dur="500" fill="hold"/>
                                        <p:tgtEl>
                                          <p:spTgt spid="178179">
                                            <p:txEl>
                                              <p:pRg st="0" end="0"/>
                                            </p:txEl>
                                          </p:spTgt>
                                        </p:tgtEl>
                                        <p:attrNameLst>
                                          <p:attrName>ppt_h</p:attrName>
                                        </p:attrNameLst>
                                      </p:cBhvr>
                                      <p:tavLst>
                                        <p:tav tm="0">
                                          <p:val>
                                            <p:strVal val="#ppt_h"/>
                                          </p:val>
                                        </p:tav>
                                        <p:tav tm="100000">
                                          <p:val>
                                            <p:strVal val="#ppt_h"/>
                                          </p:val>
                                        </p:tav>
                                      </p:tavLst>
                                    </p:anim>
                                    <p:animEffect transition="in" filter="fade">
                                      <p:cBhvr>
                                        <p:cTn id="9" dur="500"/>
                                        <p:tgtEl>
                                          <p:spTgt spid="17817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178179">
                                            <p:txEl>
                                              <p:pRg st="1" end="1"/>
                                            </p:txEl>
                                          </p:spTgt>
                                        </p:tgtEl>
                                        <p:attrNameLst>
                                          <p:attrName>style.visibility</p:attrName>
                                        </p:attrNameLst>
                                      </p:cBhvr>
                                      <p:to>
                                        <p:strVal val="visible"/>
                                      </p:to>
                                    </p:set>
                                    <p:anim calcmode="lin" valueType="num">
                                      <p:cBhvr>
                                        <p:cTn id="14" dur="500" fill="hold"/>
                                        <p:tgtEl>
                                          <p:spTgt spid="178179">
                                            <p:txEl>
                                              <p:pRg st="1" end="1"/>
                                            </p:txEl>
                                          </p:spTgt>
                                        </p:tgtEl>
                                        <p:attrNameLst>
                                          <p:attrName>ppt_w</p:attrName>
                                        </p:attrNameLst>
                                      </p:cBhvr>
                                      <p:tavLst>
                                        <p:tav tm="0">
                                          <p:val>
                                            <p:strVal val="#ppt_w+.3"/>
                                          </p:val>
                                        </p:tav>
                                        <p:tav tm="100000">
                                          <p:val>
                                            <p:strVal val="#ppt_w"/>
                                          </p:val>
                                        </p:tav>
                                      </p:tavLst>
                                    </p:anim>
                                    <p:anim calcmode="lin" valueType="num">
                                      <p:cBhvr>
                                        <p:cTn id="15" dur="500" fill="hold"/>
                                        <p:tgtEl>
                                          <p:spTgt spid="178179">
                                            <p:txEl>
                                              <p:pRg st="1" end="1"/>
                                            </p:txEl>
                                          </p:spTgt>
                                        </p:tgtEl>
                                        <p:attrNameLst>
                                          <p:attrName>ppt_h</p:attrName>
                                        </p:attrNameLst>
                                      </p:cBhvr>
                                      <p:tavLst>
                                        <p:tav tm="0">
                                          <p:val>
                                            <p:strVal val="#ppt_h"/>
                                          </p:val>
                                        </p:tav>
                                        <p:tav tm="100000">
                                          <p:val>
                                            <p:strVal val="#ppt_h"/>
                                          </p:val>
                                        </p:tav>
                                      </p:tavLst>
                                    </p:anim>
                                    <p:animEffect transition="in" filter="fade">
                                      <p:cBhvr>
                                        <p:cTn id="16" dur="500"/>
                                        <p:tgtEl>
                                          <p:spTgt spid="17817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0" presetClass="entr" presetSubtype="0" decel="100000" fill="hold" nodeType="clickEffect">
                                  <p:stCondLst>
                                    <p:cond delay="0"/>
                                  </p:stCondLst>
                                  <p:childTnLst>
                                    <p:set>
                                      <p:cBhvr>
                                        <p:cTn id="20" dur="1" fill="hold">
                                          <p:stCondLst>
                                            <p:cond delay="0"/>
                                          </p:stCondLst>
                                        </p:cTn>
                                        <p:tgtEl>
                                          <p:spTgt spid="178179">
                                            <p:txEl>
                                              <p:pRg st="2" end="2"/>
                                            </p:txEl>
                                          </p:spTgt>
                                        </p:tgtEl>
                                        <p:attrNameLst>
                                          <p:attrName>style.visibility</p:attrName>
                                        </p:attrNameLst>
                                      </p:cBhvr>
                                      <p:to>
                                        <p:strVal val="visible"/>
                                      </p:to>
                                    </p:set>
                                    <p:anim calcmode="lin" valueType="num">
                                      <p:cBhvr>
                                        <p:cTn id="21" dur="500" fill="hold"/>
                                        <p:tgtEl>
                                          <p:spTgt spid="178179">
                                            <p:txEl>
                                              <p:pRg st="2" end="2"/>
                                            </p:txEl>
                                          </p:spTgt>
                                        </p:tgtEl>
                                        <p:attrNameLst>
                                          <p:attrName>ppt_w</p:attrName>
                                        </p:attrNameLst>
                                      </p:cBhvr>
                                      <p:tavLst>
                                        <p:tav tm="0">
                                          <p:val>
                                            <p:strVal val="#ppt_w+.3"/>
                                          </p:val>
                                        </p:tav>
                                        <p:tav tm="100000">
                                          <p:val>
                                            <p:strVal val="#ppt_w"/>
                                          </p:val>
                                        </p:tav>
                                      </p:tavLst>
                                    </p:anim>
                                    <p:anim calcmode="lin" valueType="num">
                                      <p:cBhvr>
                                        <p:cTn id="22" dur="500" fill="hold"/>
                                        <p:tgtEl>
                                          <p:spTgt spid="178179">
                                            <p:txEl>
                                              <p:pRg st="2" end="2"/>
                                            </p:txEl>
                                          </p:spTgt>
                                        </p:tgtEl>
                                        <p:attrNameLst>
                                          <p:attrName>ppt_h</p:attrName>
                                        </p:attrNameLst>
                                      </p:cBhvr>
                                      <p:tavLst>
                                        <p:tav tm="0">
                                          <p:val>
                                            <p:strVal val="#ppt_h"/>
                                          </p:val>
                                        </p:tav>
                                        <p:tav tm="100000">
                                          <p:val>
                                            <p:strVal val="#ppt_h"/>
                                          </p:val>
                                        </p:tav>
                                      </p:tavLst>
                                    </p:anim>
                                    <p:animEffect transition="in" filter="fade">
                                      <p:cBhvr>
                                        <p:cTn id="23" dur="500"/>
                                        <p:tgtEl>
                                          <p:spTgt spid="17817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0" presetClass="entr" presetSubtype="0" decel="100000" fill="hold" nodeType="clickEffect">
                                  <p:stCondLst>
                                    <p:cond delay="0"/>
                                  </p:stCondLst>
                                  <p:childTnLst>
                                    <p:set>
                                      <p:cBhvr>
                                        <p:cTn id="27" dur="1" fill="hold">
                                          <p:stCondLst>
                                            <p:cond delay="0"/>
                                          </p:stCondLst>
                                        </p:cTn>
                                        <p:tgtEl>
                                          <p:spTgt spid="178179">
                                            <p:txEl>
                                              <p:pRg st="3" end="3"/>
                                            </p:txEl>
                                          </p:spTgt>
                                        </p:tgtEl>
                                        <p:attrNameLst>
                                          <p:attrName>style.visibility</p:attrName>
                                        </p:attrNameLst>
                                      </p:cBhvr>
                                      <p:to>
                                        <p:strVal val="visible"/>
                                      </p:to>
                                    </p:set>
                                    <p:anim calcmode="lin" valueType="num">
                                      <p:cBhvr>
                                        <p:cTn id="28" dur="500" fill="hold"/>
                                        <p:tgtEl>
                                          <p:spTgt spid="178179">
                                            <p:txEl>
                                              <p:pRg st="3" end="3"/>
                                            </p:txEl>
                                          </p:spTgt>
                                        </p:tgtEl>
                                        <p:attrNameLst>
                                          <p:attrName>ppt_w</p:attrName>
                                        </p:attrNameLst>
                                      </p:cBhvr>
                                      <p:tavLst>
                                        <p:tav tm="0">
                                          <p:val>
                                            <p:strVal val="#ppt_w+.3"/>
                                          </p:val>
                                        </p:tav>
                                        <p:tav tm="100000">
                                          <p:val>
                                            <p:strVal val="#ppt_w"/>
                                          </p:val>
                                        </p:tav>
                                      </p:tavLst>
                                    </p:anim>
                                    <p:anim calcmode="lin" valueType="num">
                                      <p:cBhvr>
                                        <p:cTn id="29" dur="500" fill="hold"/>
                                        <p:tgtEl>
                                          <p:spTgt spid="178179">
                                            <p:txEl>
                                              <p:pRg st="3" end="3"/>
                                            </p:txEl>
                                          </p:spTgt>
                                        </p:tgtEl>
                                        <p:attrNameLst>
                                          <p:attrName>ppt_h</p:attrName>
                                        </p:attrNameLst>
                                      </p:cBhvr>
                                      <p:tavLst>
                                        <p:tav tm="0">
                                          <p:val>
                                            <p:strVal val="#ppt_h"/>
                                          </p:val>
                                        </p:tav>
                                        <p:tav tm="100000">
                                          <p:val>
                                            <p:strVal val="#ppt_h"/>
                                          </p:val>
                                        </p:tav>
                                      </p:tavLst>
                                    </p:anim>
                                    <p:animEffect transition="in" filter="fade">
                                      <p:cBhvr>
                                        <p:cTn id="30" dur="500"/>
                                        <p:tgtEl>
                                          <p:spTgt spid="178179">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0" presetClass="entr" presetSubtype="0" decel="100000" fill="hold" nodeType="clickEffect">
                                  <p:stCondLst>
                                    <p:cond delay="0"/>
                                  </p:stCondLst>
                                  <p:childTnLst>
                                    <p:set>
                                      <p:cBhvr>
                                        <p:cTn id="34" dur="1" fill="hold">
                                          <p:stCondLst>
                                            <p:cond delay="0"/>
                                          </p:stCondLst>
                                        </p:cTn>
                                        <p:tgtEl>
                                          <p:spTgt spid="178179">
                                            <p:txEl>
                                              <p:pRg st="4" end="4"/>
                                            </p:txEl>
                                          </p:spTgt>
                                        </p:tgtEl>
                                        <p:attrNameLst>
                                          <p:attrName>style.visibility</p:attrName>
                                        </p:attrNameLst>
                                      </p:cBhvr>
                                      <p:to>
                                        <p:strVal val="visible"/>
                                      </p:to>
                                    </p:set>
                                    <p:anim calcmode="lin" valueType="num">
                                      <p:cBhvr>
                                        <p:cTn id="35" dur="500" fill="hold"/>
                                        <p:tgtEl>
                                          <p:spTgt spid="178179">
                                            <p:txEl>
                                              <p:pRg st="4" end="4"/>
                                            </p:txEl>
                                          </p:spTgt>
                                        </p:tgtEl>
                                        <p:attrNameLst>
                                          <p:attrName>ppt_w</p:attrName>
                                        </p:attrNameLst>
                                      </p:cBhvr>
                                      <p:tavLst>
                                        <p:tav tm="0">
                                          <p:val>
                                            <p:strVal val="#ppt_w+.3"/>
                                          </p:val>
                                        </p:tav>
                                        <p:tav tm="100000">
                                          <p:val>
                                            <p:strVal val="#ppt_w"/>
                                          </p:val>
                                        </p:tav>
                                      </p:tavLst>
                                    </p:anim>
                                    <p:anim calcmode="lin" valueType="num">
                                      <p:cBhvr>
                                        <p:cTn id="36" dur="500" fill="hold"/>
                                        <p:tgtEl>
                                          <p:spTgt spid="178179">
                                            <p:txEl>
                                              <p:pRg st="4" end="4"/>
                                            </p:txEl>
                                          </p:spTgt>
                                        </p:tgtEl>
                                        <p:attrNameLst>
                                          <p:attrName>ppt_h</p:attrName>
                                        </p:attrNameLst>
                                      </p:cBhvr>
                                      <p:tavLst>
                                        <p:tav tm="0">
                                          <p:val>
                                            <p:strVal val="#ppt_h"/>
                                          </p:val>
                                        </p:tav>
                                        <p:tav tm="100000">
                                          <p:val>
                                            <p:strVal val="#ppt_h"/>
                                          </p:val>
                                        </p:tav>
                                      </p:tavLst>
                                    </p:anim>
                                    <p:animEffect transition="in" filter="fade">
                                      <p:cBhvr>
                                        <p:cTn id="37" dur="500"/>
                                        <p:tgtEl>
                                          <p:spTgt spid="178179">
                                            <p:txEl>
                                              <p:pRg st="4" end="4"/>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grpId="0" nodeType="clickEffect">
                                  <p:stCondLst>
                                    <p:cond delay="0"/>
                                  </p:stCondLst>
                                  <p:childTnLst>
                                    <p:set>
                                      <p:cBhvr>
                                        <p:cTn id="41" dur="1" fill="hold">
                                          <p:stCondLst>
                                            <p:cond delay="0"/>
                                          </p:stCondLst>
                                        </p:cTn>
                                        <p:tgtEl>
                                          <p:spTgt spid="178178"/>
                                        </p:tgtEl>
                                        <p:attrNameLst>
                                          <p:attrName>style.visibility</p:attrName>
                                        </p:attrNameLst>
                                      </p:cBhvr>
                                      <p:to>
                                        <p:strVal val="visible"/>
                                      </p:to>
                                    </p:set>
                                    <p:anim calcmode="lin" valueType="num">
                                      <p:cBhvr>
                                        <p:cTn id="42" dur="1000" fill="hold"/>
                                        <p:tgtEl>
                                          <p:spTgt spid="178178"/>
                                        </p:tgtEl>
                                        <p:attrNameLst>
                                          <p:attrName>ppt_w</p:attrName>
                                        </p:attrNameLst>
                                      </p:cBhvr>
                                      <p:tavLst>
                                        <p:tav tm="0">
                                          <p:val>
                                            <p:fltVal val="0"/>
                                          </p:val>
                                        </p:tav>
                                        <p:tav tm="100000">
                                          <p:val>
                                            <p:strVal val="#ppt_w"/>
                                          </p:val>
                                        </p:tav>
                                      </p:tavLst>
                                    </p:anim>
                                    <p:anim calcmode="lin" valueType="num">
                                      <p:cBhvr>
                                        <p:cTn id="43" dur="1000" fill="hold"/>
                                        <p:tgtEl>
                                          <p:spTgt spid="1781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94E014DA-5F2A-479B-AC5A-39FA22A69C96}"/>
              </a:ext>
            </a:extLst>
          </p:cNvPr>
          <p:cNvPicPr>
            <a:picLocks noChangeAspect="1"/>
          </p:cNvPicPr>
          <p:nvPr/>
        </p:nvPicPr>
        <p:blipFill>
          <a:blip r:embed="rId2"/>
          <a:stretch>
            <a:fillRect/>
          </a:stretch>
        </p:blipFill>
        <p:spPr>
          <a:xfrm>
            <a:off x="611560" y="595312"/>
            <a:ext cx="9144000" cy="5667375"/>
          </a:xfrm>
          <a:prstGeom prst="rect">
            <a:avLst/>
          </a:prstGeom>
        </p:spPr>
      </p:pic>
      <p:pic>
        <p:nvPicPr>
          <p:cNvPr id="164870" name="Picture 6">
            <a:extLst>
              <a:ext uri="{FF2B5EF4-FFF2-40B4-BE49-F238E27FC236}">
                <a16:creationId xmlns:a16="http://schemas.microsoft.com/office/drawing/2014/main" id="{CF058B75-2A5B-4A32-B1F0-0F5EB00EC60F}"/>
              </a:ext>
            </a:extLst>
          </p:cNvPr>
          <p:cNvPicPr>
            <a:picLocks noChangeAspect="1" noChangeArrowheads="1"/>
          </p:cNvPicPr>
          <p:nvPr/>
        </p:nvPicPr>
        <p:blipFill>
          <a:blip r:embed="rId3">
            <a:lum contrast="12000"/>
            <a:extLst>
              <a:ext uri="{28A0092B-C50C-407E-A947-70E740481C1C}">
                <a14:useLocalDpi xmlns:a14="http://schemas.microsoft.com/office/drawing/2010/main" val="0"/>
              </a:ext>
            </a:extLst>
          </a:blip>
          <a:srcRect l="4233" t="16736" r="15344" b="9624"/>
          <a:stretch>
            <a:fillRect/>
          </a:stretch>
        </p:blipFill>
        <p:spPr bwMode="auto">
          <a:xfrm>
            <a:off x="7380312" y="1196752"/>
            <a:ext cx="923810" cy="106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64870"/>
                                        </p:tgtEl>
                                        <p:attrNameLst>
                                          <p:attrName>style.visibility</p:attrName>
                                        </p:attrNameLst>
                                      </p:cBhvr>
                                      <p:to>
                                        <p:strVal val="visible"/>
                                      </p:to>
                                    </p:set>
                                    <p:animEffect transition="in" filter="box(out)">
                                      <p:cBhvr>
                                        <p:cTn id="7" dur="500"/>
                                        <p:tgtEl>
                                          <p:spTgt spid="164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701" name="Picture 5" descr="word-okno">
            <a:extLst>
              <a:ext uri="{FF2B5EF4-FFF2-40B4-BE49-F238E27FC236}">
                <a16:creationId xmlns:a16="http://schemas.microsoft.com/office/drawing/2014/main" id="{9915E8BC-D6A7-4E8E-9107-7DF81072C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3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Rectangle 4">
            <a:extLst>
              <a:ext uri="{FF2B5EF4-FFF2-40B4-BE49-F238E27FC236}">
                <a16:creationId xmlns:a16="http://schemas.microsoft.com/office/drawing/2014/main" id="{65D4BDC8-91E1-4CAB-943B-C07E42C74976}"/>
              </a:ext>
            </a:extLst>
          </p:cNvPr>
          <p:cNvSpPr>
            <a:spLocks noChangeArrowheads="1"/>
          </p:cNvSpPr>
          <p:nvPr/>
        </p:nvSpPr>
        <p:spPr bwMode="auto">
          <a:xfrm>
            <a:off x="251520" y="2996952"/>
            <a:ext cx="6172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altLang="ru-RU" sz="4800" b="1" i="1" u="none" strike="noStrike" kern="1200" cap="none" spc="0" normalizeH="0" baseline="0" noProof="0" dirty="0">
                <a:ln>
                  <a:noFill/>
                </a:ln>
                <a:solidFill>
                  <a:srgbClr val="FF0000"/>
                </a:solidFill>
                <a:effectLst/>
                <a:uLnTx/>
                <a:uFillTx/>
                <a:latin typeface="Cascadia Code" panose="020B0609020000020004" pitchFamily="49" charset="0"/>
                <a:ea typeface="Cascadia Code" panose="020B0609020000020004" pitchFamily="49" charset="0"/>
                <a:cs typeface="Cascadia Code" panose="020B0609020000020004" pitchFamily="49" charset="0"/>
              </a:rPr>
              <a:t>Interfeys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altLang="ru-RU" sz="4800" b="1" i="1" u="none" strike="noStrike" kern="1200" cap="none" spc="0" normalizeH="0" baseline="0" noProof="0" dirty="0">
                <a:ln>
                  <a:noFill/>
                </a:ln>
                <a:solidFill>
                  <a:srgbClr val="FF0000"/>
                </a:solidFill>
                <a:effectLst/>
                <a:uLnTx/>
                <a:uFillTx/>
                <a:latin typeface="Cascadia Code" panose="020B0609020000020004" pitchFamily="49" charset="0"/>
                <a:ea typeface="Cascadia Code" panose="020B0609020000020004" pitchFamily="49" charset="0"/>
                <a:cs typeface="Cascadia Code" panose="020B0609020000020004" pitchFamily="49" charset="0"/>
              </a:rPr>
              <a:t>muharrir </a:t>
            </a:r>
            <a:br>
              <a:rPr kumimoji="0" lang="en-US" altLang="ru-RU" sz="4800" b="1" i="1" u="none" strike="noStrike" kern="1200" cap="none" spc="0" normalizeH="0" baseline="0" noProof="0" dirty="0">
                <a:ln>
                  <a:noFill/>
                </a:ln>
                <a:solidFill>
                  <a:srgbClr val="FF0000"/>
                </a:solidFill>
                <a:effectLst/>
                <a:uLnTx/>
                <a:uFillTx/>
                <a:latin typeface="Algerian" panose="04020705040A02060702" pitchFamily="82" charset="0"/>
                <a:ea typeface="Cascadia Code" panose="020B0609020000020004" pitchFamily="49" charset="0"/>
                <a:cs typeface="Cascadia Code" panose="020B0609020000020004" pitchFamily="49" charset="0"/>
              </a:rPr>
            </a:br>
            <a:r>
              <a:rPr kumimoji="0" lang="en-US" altLang="ru-RU" sz="4800" b="1" i="1" u="none" strike="noStrike" kern="1200" cap="none" spc="0" normalizeH="0" baseline="0" noProof="0" dirty="0">
                <a:ln>
                  <a:noFill/>
                </a:ln>
                <a:solidFill>
                  <a:srgbClr val="FF0000"/>
                </a:solidFill>
                <a:effectLst/>
                <a:uLnTx/>
                <a:uFillTx/>
                <a:latin typeface="Algerian" panose="04020705040A02060702" pitchFamily="82" charset="0"/>
                <a:ea typeface="Cascadia Code" panose="020B0609020000020004" pitchFamily="49" charset="0"/>
                <a:cs typeface="Cascadia Code" panose="020B0609020000020004" pitchFamily="49" charset="0"/>
              </a:rPr>
              <a:t>Microsoft Word</a:t>
            </a:r>
            <a:endParaRPr kumimoji="0" lang="ru-RU" altLang="ru-RU" sz="4800" b="1" i="1" u="none" strike="noStrike" kern="1200" cap="none" spc="0" normalizeH="0" baseline="0" noProof="0" dirty="0">
              <a:ln>
                <a:noFill/>
              </a:ln>
              <a:solidFill>
                <a:srgbClr val="FF0000"/>
              </a:solidFill>
              <a:effectLst/>
              <a:uLnTx/>
              <a:uFillTx/>
              <a:latin typeface="Cascadia Code" panose="020B0609020000020004" pitchFamily="49" charset="0"/>
              <a:ea typeface="Cascadia Code" panose="020B0609020000020004" pitchFamily="49" charset="0"/>
              <a:cs typeface="Cascadia Code" panose="020B06090200000200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57701"/>
                                        </p:tgtEl>
                                        <p:attrNameLst>
                                          <p:attrName>style.visibility</p:attrName>
                                        </p:attrNameLst>
                                      </p:cBhvr>
                                      <p:to>
                                        <p:strVal val="visible"/>
                                      </p:to>
                                    </p:set>
                                    <p:animEffect transition="in" filter="dissolve">
                                      <p:cBhvr>
                                        <p:cTn id="7" dur="500"/>
                                        <p:tgtEl>
                                          <p:spTgt spid="157701"/>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57700"/>
                                        </p:tgtEl>
                                        <p:attrNameLst>
                                          <p:attrName>style.visibility</p:attrName>
                                        </p:attrNameLst>
                                      </p:cBhvr>
                                      <p:to>
                                        <p:strVal val="visible"/>
                                      </p:to>
                                    </p:set>
                                    <p:animEffect transition="in" filter="dissolve">
                                      <p:cBhvr>
                                        <p:cTn id="11" dur="500"/>
                                        <p:tgtEl>
                                          <p:spTgt spid="157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EC33733-DE3A-4D16-8355-A4D4A7D81BB0}"/>
              </a:ext>
            </a:extLst>
          </p:cNvPr>
          <p:cNvSpPr>
            <a:spLocks noGrp="1" noChangeArrowheads="1"/>
          </p:cNvSpPr>
          <p:nvPr>
            <p:ph type="title"/>
          </p:nvPr>
        </p:nvSpPr>
        <p:spPr/>
        <p:txBody>
          <a:bodyPr/>
          <a:lstStyle/>
          <a:p>
            <a:pPr algn="ctr" eaLnBrk="1" hangingPunct="1"/>
            <a:r>
              <a:rPr lang="ru-RU" altLang="ru-RU" sz="4000"/>
              <a:t>Hujjatning asosiy ob'ektlari </a:t>
            </a:r>
            <a:r>
              <a:rPr lang="ru-RU" altLang="ja-JP" sz="4000"/>
              <a:t>MS Word</a:t>
            </a:r>
            <a:r>
              <a:rPr lang="ru-RU" altLang="ru-RU" sz="4000"/>
              <a:t> :</a:t>
            </a:r>
          </a:p>
        </p:txBody>
      </p:sp>
      <p:sp>
        <p:nvSpPr>
          <p:cNvPr id="26627" name="Rectangle 3">
            <a:extLst>
              <a:ext uri="{FF2B5EF4-FFF2-40B4-BE49-F238E27FC236}">
                <a16:creationId xmlns:a16="http://schemas.microsoft.com/office/drawing/2014/main" id="{9226F85E-995E-4096-87F6-675800313660}"/>
              </a:ext>
            </a:extLst>
          </p:cNvPr>
          <p:cNvSpPr>
            <a:spLocks noGrp="1" noChangeArrowheads="1"/>
          </p:cNvSpPr>
          <p:nvPr>
            <p:ph type="body" idx="1"/>
          </p:nvPr>
        </p:nvSpPr>
        <p:spPr>
          <a:xfrm>
            <a:off x="685800" y="1905000"/>
            <a:ext cx="8229600" cy="4038600"/>
          </a:xfrm>
        </p:spPr>
        <p:txBody>
          <a:bodyPr>
            <a:normAutofit lnSpcReduction="10000"/>
          </a:bodyPr>
          <a:lstStyle/>
          <a:p>
            <a:pPr eaLnBrk="1" hangingPunct="1"/>
            <a:r>
              <a:rPr lang="ru-RU" altLang="ru-RU" sz="2800" b="1"/>
              <a:t>Ramz </a:t>
            </a:r>
            <a:r>
              <a:rPr lang="ru-RU" altLang="ru-RU" sz="1800" b="1"/>
              <a:t>(</a:t>
            </a:r>
            <a:r>
              <a:rPr lang="ru-RU" altLang="ru-RU" sz="1800"/>
              <a:t>matnli hujjatning minimal elementi)</a:t>
            </a:r>
          </a:p>
          <a:p>
            <a:pPr eaLnBrk="1" hangingPunct="1"/>
            <a:r>
              <a:rPr lang="ru-RU" altLang="ru-RU" sz="2800" b="1"/>
              <a:t>So'z </a:t>
            </a:r>
            <a:r>
              <a:rPr lang="ru-RU" altLang="ru-RU" sz="1800"/>
              <a:t>(belgilar ketma-ketligi ikkitadan ajratilgan </a:t>
            </a:r>
            <a:br>
              <a:rPr lang="ru-RU" altLang="ru-RU" sz="1800"/>
            </a:br>
            <a:r>
              <a:rPr lang="ru-RU" altLang="ru-RU" sz="1800"/>
              <a:t>                   ajratilgan belgilar (bo'shliqlar yoki </a:t>
            </a:r>
            <a:br>
              <a:rPr lang="ru-RU" altLang="ru-RU" sz="1800"/>
            </a:br>
            <a:r>
              <a:rPr lang="ru-RU" altLang="ru-RU" sz="1800"/>
              <a:t>                   tinish belgilari))</a:t>
            </a:r>
          </a:p>
          <a:p>
            <a:pPr eaLnBrk="1" hangingPunct="1"/>
            <a:r>
              <a:rPr lang="ru-RU" altLang="ru-RU" sz="2800" b="1"/>
              <a:t>Qator</a:t>
            </a:r>
            <a:r>
              <a:rPr lang="ru-RU" altLang="ru-RU" sz="1800"/>
              <a:t>(chap va orasidagi belgilar ketma-ketligi    </a:t>
            </a:r>
            <a:br>
              <a:rPr lang="ru-RU" altLang="ru-RU" sz="1800"/>
            </a:br>
            <a:r>
              <a:rPr lang="ru-RU" altLang="ru-RU" sz="1800"/>
              <a:t>                      sahifaning o'ng tomoni)</a:t>
            </a:r>
          </a:p>
          <a:p>
            <a:pPr eaLnBrk="1" hangingPunct="1"/>
            <a:r>
              <a:rPr lang="ru-RU" altLang="ru-RU" sz="2800" b="1"/>
              <a:t>Xatboshi </a:t>
            </a:r>
            <a:r>
              <a:rPr lang="ru-RU" altLang="ru-RU" sz="1800"/>
              <a:t>(ajratilgan qatorlar va belgilar to'plami </a:t>
            </a:r>
            <a:br>
              <a:rPr lang="ru-RU" altLang="ru-RU" sz="1800"/>
            </a:br>
            <a:r>
              <a:rPr lang="ru-RU" altLang="ru-RU" sz="1800"/>
              <a:t>                  tugmani bosish orqali </a:t>
            </a:r>
            <a:r>
              <a:rPr lang="en-US" altLang="ru-RU" sz="1800"/>
              <a:t>Enter </a:t>
            </a:r>
            <a:r>
              <a:rPr lang="ru-RU" altLang="ru-RU" sz="1800"/>
              <a:t>(paragraf belgisi </a:t>
            </a:r>
            <a:r>
              <a:rPr lang="en-US" altLang="ru-RU" sz="1800">
                <a:cs typeface="Arial" panose="020B0604020202020204" pitchFamily="34" charset="0"/>
              </a:rPr>
              <a:t>¶)</a:t>
            </a:r>
            <a:r>
              <a:rPr lang="ru-RU" altLang="ru-RU" sz="1800">
                <a:cs typeface="Arial" panose="020B0604020202020204" pitchFamily="34" charset="0"/>
              </a:rPr>
              <a:t>)</a:t>
            </a:r>
            <a:endParaRPr lang="ru-RU" altLang="ru-RU" sz="1800"/>
          </a:p>
          <a:p>
            <a:pPr eaLnBrk="1" hangingPunct="1"/>
            <a:r>
              <a:rPr lang="ru-RU" altLang="ru-RU" sz="2800" b="1"/>
              <a:t>Sahifa </a:t>
            </a:r>
            <a:r>
              <a:rPr lang="ru-RU" altLang="ru-RU" sz="1800"/>
              <a:t>(matnning cheklangan qismi </a:t>
            </a:r>
            <a:br>
              <a:rPr lang="ru-RU" altLang="ru-RU" sz="1800"/>
            </a:br>
            <a:r>
              <a:rPr lang="ru-RU" altLang="ru-RU" sz="1800"/>
              <a:t>                        sahifalarni ajratish chiziqlari)</a:t>
            </a:r>
          </a:p>
        </p:txBody>
      </p:sp>
      <p:pic>
        <p:nvPicPr>
          <p:cNvPr id="15364" name="Picture 5" descr="j0283195">
            <a:extLst>
              <a:ext uri="{FF2B5EF4-FFF2-40B4-BE49-F238E27FC236}">
                <a16:creationId xmlns:a16="http://schemas.microsoft.com/office/drawing/2014/main" id="{DF42BBD1-268A-49F1-B43B-C9F5B608B32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4770438"/>
            <a:ext cx="2133600"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dissolve">
                                      <p:cBhvr>
                                        <p:cTn id="7" dur="500"/>
                                        <p:tgtEl>
                                          <p:spTgt spid="26626"/>
                                        </p:tgtEl>
                                      </p:cBhvr>
                                    </p:animEffect>
                                  </p:childTnLst>
                                </p:cTn>
                              </p:par>
                            </p:childTnLst>
                          </p:cTn>
                        </p:par>
                        <p:par>
                          <p:cTn id="8" fill="hold" nodeType="afterGroup">
                            <p:stCondLst>
                              <p:cond delay="500"/>
                            </p:stCondLst>
                            <p:childTnLst>
                              <p:par>
                                <p:cTn id="9" presetID="55" presetClass="entr" presetSubtype="0" fill="hold" grpId="0" nodeType="afterEffect">
                                  <p:stCondLst>
                                    <p:cond delay="2000"/>
                                  </p:stCondLst>
                                  <p:childTnLst>
                                    <p:set>
                                      <p:cBhvr>
                                        <p:cTn id="10" dur="1" fill="hold">
                                          <p:stCondLst>
                                            <p:cond delay="0"/>
                                          </p:stCondLst>
                                        </p:cTn>
                                        <p:tgtEl>
                                          <p:spTgt spid="26627">
                                            <p:txEl>
                                              <p:pRg st="0" end="0"/>
                                            </p:txEl>
                                          </p:spTgt>
                                        </p:tgtEl>
                                        <p:attrNameLst>
                                          <p:attrName>style.visibility</p:attrName>
                                        </p:attrNameLst>
                                      </p:cBhvr>
                                      <p:to>
                                        <p:strVal val="visible"/>
                                      </p:to>
                                    </p:set>
                                    <p:anim calcmode="lin" valueType="num">
                                      <p:cBhvr>
                                        <p:cTn id="11" dur="1000" fill="hold"/>
                                        <p:tgtEl>
                                          <p:spTgt spid="26627">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26627">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26627">
                                            <p:txEl>
                                              <p:pRg st="0" end="0"/>
                                            </p:txEl>
                                          </p:spTgt>
                                        </p:tgtEl>
                                      </p:cBhvr>
                                    </p:animEffect>
                                  </p:childTnLst>
                                </p:cTn>
                              </p:par>
                            </p:childTnLst>
                          </p:cTn>
                        </p:par>
                        <p:par>
                          <p:cTn id="14" fill="hold" nodeType="afterGroup">
                            <p:stCondLst>
                              <p:cond delay="3500"/>
                            </p:stCondLst>
                            <p:childTnLst>
                              <p:par>
                                <p:cTn id="15" presetID="55" presetClass="entr" presetSubtype="0" fill="hold" grpId="0" nodeType="afterEffect">
                                  <p:stCondLst>
                                    <p:cond delay="2000"/>
                                  </p:stCondLst>
                                  <p:childTnLst>
                                    <p:set>
                                      <p:cBhvr>
                                        <p:cTn id="16" dur="1" fill="hold">
                                          <p:stCondLst>
                                            <p:cond delay="0"/>
                                          </p:stCondLst>
                                        </p:cTn>
                                        <p:tgtEl>
                                          <p:spTgt spid="26627">
                                            <p:txEl>
                                              <p:pRg st="1" end="1"/>
                                            </p:txEl>
                                          </p:spTgt>
                                        </p:tgtEl>
                                        <p:attrNameLst>
                                          <p:attrName>style.visibility</p:attrName>
                                        </p:attrNameLst>
                                      </p:cBhvr>
                                      <p:to>
                                        <p:strVal val="visible"/>
                                      </p:to>
                                    </p:set>
                                    <p:anim calcmode="lin" valueType="num">
                                      <p:cBhvr>
                                        <p:cTn id="17" dur="1000" fill="hold"/>
                                        <p:tgtEl>
                                          <p:spTgt spid="26627">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26627">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26627">
                                            <p:txEl>
                                              <p:pRg st="1" end="1"/>
                                            </p:txEl>
                                          </p:spTgt>
                                        </p:tgtEl>
                                      </p:cBhvr>
                                    </p:animEffect>
                                  </p:childTnLst>
                                </p:cTn>
                              </p:par>
                            </p:childTnLst>
                          </p:cTn>
                        </p:par>
                        <p:par>
                          <p:cTn id="20" fill="hold" nodeType="afterGroup">
                            <p:stCondLst>
                              <p:cond delay="6500"/>
                            </p:stCondLst>
                            <p:childTnLst>
                              <p:par>
                                <p:cTn id="21" presetID="55" presetClass="entr" presetSubtype="0" fill="hold" grpId="0" nodeType="afterEffect">
                                  <p:stCondLst>
                                    <p:cond delay="2000"/>
                                  </p:stCondLst>
                                  <p:childTnLst>
                                    <p:set>
                                      <p:cBhvr>
                                        <p:cTn id="22" dur="1" fill="hold">
                                          <p:stCondLst>
                                            <p:cond delay="0"/>
                                          </p:stCondLst>
                                        </p:cTn>
                                        <p:tgtEl>
                                          <p:spTgt spid="26627">
                                            <p:txEl>
                                              <p:pRg st="2" end="2"/>
                                            </p:txEl>
                                          </p:spTgt>
                                        </p:tgtEl>
                                        <p:attrNameLst>
                                          <p:attrName>style.visibility</p:attrName>
                                        </p:attrNameLst>
                                      </p:cBhvr>
                                      <p:to>
                                        <p:strVal val="visible"/>
                                      </p:to>
                                    </p:set>
                                    <p:anim calcmode="lin" valueType="num">
                                      <p:cBhvr>
                                        <p:cTn id="23" dur="1000" fill="hold"/>
                                        <p:tgtEl>
                                          <p:spTgt spid="26627">
                                            <p:txEl>
                                              <p:pRg st="2" end="2"/>
                                            </p:txEl>
                                          </p:spTgt>
                                        </p:tgtEl>
                                        <p:attrNameLst>
                                          <p:attrName>ppt_w</p:attrName>
                                        </p:attrNameLst>
                                      </p:cBhvr>
                                      <p:tavLst>
                                        <p:tav tm="0">
                                          <p:val>
                                            <p:strVal val="#ppt_w*0.70"/>
                                          </p:val>
                                        </p:tav>
                                        <p:tav tm="100000">
                                          <p:val>
                                            <p:strVal val="#ppt_w"/>
                                          </p:val>
                                        </p:tav>
                                      </p:tavLst>
                                    </p:anim>
                                    <p:anim calcmode="lin" valueType="num">
                                      <p:cBhvr>
                                        <p:cTn id="24" dur="1000" fill="hold"/>
                                        <p:tgtEl>
                                          <p:spTgt spid="26627">
                                            <p:txEl>
                                              <p:pRg st="2" end="2"/>
                                            </p:txEl>
                                          </p:spTgt>
                                        </p:tgtEl>
                                        <p:attrNameLst>
                                          <p:attrName>ppt_h</p:attrName>
                                        </p:attrNameLst>
                                      </p:cBhvr>
                                      <p:tavLst>
                                        <p:tav tm="0">
                                          <p:val>
                                            <p:strVal val="#ppt_h"/>
                                          </p:val>
                                        </p:tav>
                                        <p:tav tm="100000">
                                          <p:val>
                                            <p:strVal val="#ppt_h"/>
                                          </p:val>
                                        </p:tav>
                                      </p:tavLst>
                                    </p:anim>
                                    <p:animEffect transition="in" filter="fade">
                                      <p:cBhvr>
                                        <p:cTn id="25" dur="1000"/>
                                        <p:tgtEl>
                                          <p:spTgt spid="26627">
                                            <p:txEl>
                                              <p:pRg st="2" end="2"/>
                                            </p:txEl>
                                          </p:spTgt>
                                        </p:tgtEl>
                                      </p:cBhvr>
                                    </p:animEffect>
                                  </p:childTnLst>
                                </p:cTn>
                              </p:par>
                            </p:childTnLst>
                          </p:cTn>
                        </p:par>
                        <p:par>
                          <p:cTn id="26" fill="hold" nodeType="afterGroup">
                            <p:stCondLst>
                              <p:cond delay="9500"/>
                            </p:stCondLst>
                            <p:childTnLst>
                              <p:par>
                                <p:cTn id="27" presetID="55" presetClass="entr" presetSubtype="0" fill="hold" grpId="0" nodeType="afterEffect">
                                  <p:stCondLst>
                                    <p:cond delay="2000"/>
                                  </p:stCondLst>
                                  <p:childTnLst>
                                    <p:set>
                                      <p:cBhvr>
                                        <p:cTn id="28" dur="1" fill="hold">
                                          <p:stCondLst>
                                            <p:cond delay="0"/>
                                          </p:stCondLst>
                                        </p:cTn>
                                        <p:tgtEl>
                                          <p:spTgt spid="26627">
                                            <p:txEl>
                                              <p:pRg st="3" end="3"/>
                                            </p:txEl>
                                          </p:spTgt>
                                        </p:tgtEl>
                                        <p:attrNameLst>
                                          <p:attrName>style.visibility</p:attrName>
                                        </p:attrNameLst>
                                      </p:cBhvr>
                                      <p:to>
                                        <p:strVal val="visible"/>
                                      </p:to>
                                    </p:set>
                                    <p:anim calcmode="lin" valueType="num">
                                      <p:cBhvr>
                                        <p:cTn id="29" dur="1000" fill="hold"/>
                                        <p:tgtEl>
                                          <p:spTgt spid="26627">
                                            <p:txEl>
                                              <p:pRg st="3" end="3"/>
                                            </p:txEl>
                                          </p:spTgt>
                                        </p:tgtEl>
                                        <p:attrNameLst>
                                          <p:attrName>ppt_w</p:attrName>
                                        </p:attrNameLst>
                                      </p:cBhvr>
                                      <p:tavLst>
                                        <p:tav tm="0">
                                          <p:val>
                                            <p:strVal val="#ppt_w*0.70"/>
                                          </p:val>
                                        </p:tav>
                                        <p:tav tm="100000">
                                          <p:val>
                                            <p:strVal val="#ppt_w"/>
                                          </p:val>
                                        </p:tav>
                                      </p:tavLst>
                                    </p:anim>
                                    <p:anim calcmode="lin" valueType="num">
                                      <p:cBhvr>
                                        <p:cTn id="30" dur="1000" fill="hold"/>
                                        <p:tgtEl>
                                          <p:spTgt spid="26627">
                                            <p:txEl>
                                              <p:pRg st="3" end="3"/>
                                            </p:txEl>
                                          </p:spTgt>
                                        </p:tgtEl>
                                        <p:attrNameLst>
                                          <p:attrName>ppt_h</p:attrName>
                                        </p:attrNameLst>
                                      </p:cBhvr>
                                      <p:tavLst>
                                        <p:tav tm="0">
                                          <p:val>
                                            <p:strVal val="#ppt_h"/>
                                          </p:val>
                                        </p:tav>
                                        <p:tav tm="100000">
                                          <p:val>
                                            <p:strVal val="#ppt_h"/>
                                          </p:val>
                                        </p:tav>
                                      </p:tavLst>
                                    </p:anim>
                                    <p:animEffect transition="in" filter="fade">
                                      <p:cBhvr>
                                        <p:cTn id="31" dur="1000"/>
                                        <p:tgtEl>
                                          <p:spTgt spid="26627">
                                            <p:txEl>
                                              <p:pRg st="3" end="3"/>
                                            </p:txEl>
                                          </p:spTgt>
                                        </p:tgtEl>
                                      </p:cBhvr>
                                    </p:animEffect>
                                  </p:childTnLst>
                                </p:cTn>
                              </p:par>
                            </p:childTnLst>
                          </p:cTn>
                        </p:par>
                        <p:par>
                          <p:cTn id="32" fill="hold" nodeType="afterGroup">
                            <p:stCondLst>
                              <p:cond delay="12500"/>
                            </p:stCondLst>
                            <p:childTnLst>
                              <p:par>
                                <p:cTn id="33" presetID="55" presetClass="entr" presetSubtype="0" fill="hold" grpId="0" nodeType="afterEffect">
                                  <p:stCondLst>
                                    <p:cond delay="2000"/>
                                  </p:stCondLst>
                                  <p:childTnLst>
                                    <p:set>
                                      <p:cBhvr>
                                        <p:cTn id="34" dur="1" fill="hold">
                                          <p:stCondLst>
                                            <p:cond delay="0"/>
                                          </p:stCondLst>
                                        </p:cTn>
                                        <p:tgtEl>
                                          <p:spTgt spid="26627">
                                            <p:txEl>
                                              <p:pRg st="4" end="4"/>
                                            </p:txEl>
                                          </p:spTgt>
                                        </p:tgtEl>
                                        <p:attrNameLst>
                                          <p:attrName>style.visibility</p:attrName>
                                        </p:attrNameLst>
                                      </p:cBhvr>
                                      <p:to>
                                        <p:strVal val="visible"/>
                                      </p:to>
                                    </p:set>
                                    <p:anim calcmode="lin" valueType="num">
                                      <p:cBhvr>
                                        <p:cTn id="35" dur="1000" fill="hold"/>
                                        <p:tgtEl>
                                          <p:spTgt spid="26627">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26627">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9EA647F9-1635-41E9-A16F-29607F7AD79C}"/>
              </a:ext>
            </a:extLst>
          </p:cNvPr>
          <p:cNvSpPr>
            <a:spLocks noGrp="1" noChangeArrowheads="1"/>
          </p:cNvSpPr>
          <p:nvPr>
            <p:ph type="title"/>
          </p:nvPr>
        </p:nvSpPr>
        <p:spPr>
          <a:xfrm>
            <a:off x="457200" y="1600200"/>
            <a:ext cx="8229600" cy="762000"/>
          </a:xfrm>
          <a:noFill/>
        </p:spPr>
        <p:txBody>
          <a:bodyPr anchor="b"/>
          <a:lstStyle/>
          <a:p>
            <a:pPr eaLnBrk="1" hangingPunct="1"/>
            <a:r>
              <a:rPr lang="ru-RU" altLang="ru-RU" sz="2900" b="1"/>
              <a:t>So'z-ikki tomondan ajratuvchi belgilar bilan ajratilgan belgilar ketma-ketligi (bo'shliqlar yoki tinish belgilari)</a:t>
            </a:r>
          </a:p>
        </p:txBody>
      </p:sp>
      <p:sp>
        <p:nvSpPr>
          <p:cNvPr id="180227" name="Rectangle 3">
            <a:extLst>
              <a:ext uri="{FF2B5EF4-FFF2-40B4-BE49-F238E27FC236}">
                <a16:creationId xmlns:a16="http://schemas.microsoft.com/office/drawing/2014/main" id="{AAEFED09-2B00-4AD5-A3A4-C709D4ACC9F9}"/>
              </a:ext>
            </a:extLst>
          </p:cNvPr>
          <p:cNvSpPr>
            <a:spLocks noGrp="1" noChangeArrowheads="1"/>
          </p:cNvSpPr>
          <p:nvPr>
            <p:ph type="body" sz="half" idx="1"/>
          </p:nvPr>
        </p:nvSpPr>
        <p:spPr>
          <a:xfrm>
            <a:off x="457200" y="3048000"/>
            <a:ext cx="4035425" cy="3373438"/>
          </a:xfrm>
          <a:noFill/>
        </p:spPr>
        <p:txBody>
          <a:bodyPr/>
          <a:lstStyle/>
          <a:p>
            <a:pPr eaLnBrk="1" hangingPunct="1"/>
            <a:r>
              <a:rPr lang="ru-RU" altLang="ru-RU" sz="2500" b="1"/>
              <a:t>Birinchi va oxirgi belgi</a:t>
            </a:r>
          </a:p>
          <a:p>
            <a:pPr eaLnBrk="1" hangingPunct="1"/>
            <a:r>
              <a:rPr lang="ru-RU" altLang="ru-RU" sz="2500" b="1"/>
              <a:t>So'zdagi belgilar soni (so'z uzunligi)</a:t>
            </a:r>
          </a:p>
        </p:txBody>
      </p:sp>
      <p:graphicFrame>
        <p:nvGraphicFramePr>
          <p:cNvPr id="180228" name="Object 4">
            <a:extLst>
              <a:ext uri="{FF2B5EF4-FFF2-40B4-BE49-F238E27FC236}">
                <a16:creationId xmlns:a16="http://schemas.microsoft.com/office/drawing/2014/main" id="{DBCF40C1-9023-4300-94FC-FDCF4B480303}"/>
              </a:ext>
            </a:extLst>
          </p:cNvPr>
          <p:cNvGraphicFramePr>
            <a:graphicFrameLocks noGrp="1" noChangeAspect="1"/>
          </p:cNvGraphicFramePr>
          <p:nvPr>
            <p:ph sz="half" idx="2"/>
          </p:nvPr>
        </p:nvGraphicFramePr>
        <p:xfrm>
          <a:off x="5149850" y="2233613"/>
          <a:ext cx="3897313" cy="4279900"/>
        </p:xfrm>
        <a:graphic>
          <a:graphicData uri="http://schemas.openxmlformats.org/presentationml/2006/ole">
            <mc:AlternateContent xmlns:mc="http://schemas.openxmlformats.org/markup-compatibility/2006">
              <mc:Choice xmlns:v="urn:schemas-microsoft-com:vml" Requires="v">
                <p:oleObj spid="_x0000_s1026" name="Document" r:id="rId3" imgW="6793893" imgH="7461160" progId="Word.Document.8">
                  <p:embed/>
                </p:oleObj>
              </mc:Choice>
              <mc:Fallback>
                <p:oleObj name="Document" r:id="rId3" imgW="6793893" imgH="7461160" progId="Word.Document.8">
                  <p:embed/>
                  <p:pic>
                    <p:nvPicPr>
                      <p:cNvPr id="180228" name="Object 4">
                        <a:extLst>
                          <a:ext uri="{FF2B5EF4-FFF2-40B4-BE49-F238E27FC236}">
                            <a16:creationId xmlns:a16="http://schemas.microsoft.com/office/drawing/2014/main" id="{DBCF40C1-9023-4300-94FC-FDCF4B480303}"/>
                          </a:ext>
                        </a:extLst>
                      </p:cNvPr>
                      <p:cNvPicPr>
                        <a:picLocks noChangeAspect="1" noChangeArrowheads="1"/>
                      </p:cNvPicPr>
                      <p:nvPr/>
                    </p:nvPicPr>
                    <p:blipFill>
                      <a:blip r:embed="rId4"/>
                      <a:srcRect l="21701" t="10001" r="9586" b="18068"/>
                      <a:stretch>
                        <a:fillRect/>
                      </a:stretch>
                    </p:blipFill>
                    <p:spPr bwMode="auto">
                      <a:xfrm>
                        <a:off x="5149850" y="2233613"/>
                        <a:ext cx="3897313" cy="4279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 calcmode="lin" valueType="num">
                                      <p:cBhvr>
                                        <p:cTn id="7" dur="1000" fill="hold"/>
                                        <p:tgtEl>
                                          <p:spTgt spid="18022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8022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80227">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80227">
                                            <p:txEl>
                                              <p:pRg st="1" end="1"/>
                                            </p:txEl>
                                          </p:spTgt>
                                        </p:tgtEl>
                                        <p:attrNameLst>
                                          <p:attrName>style.visibility</p:attrName>
                                        </p:attrNameLst>
                                      </p:cBhvr>
                                      <p:to>
                                        <p:strVal val="visible"/>
                                      </p:to>
                                    </p:set>
                                    <p:anim calcmode="lin" valueType="num">
                                      <p:cBhvr>
                                        <p:cTn id="14" dur="1000" fill="hold"/>
                                        <p:tgtEl>
                                          <p:spTgt spid="18022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8022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80227">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8" presetClass="entr" presetSubtype="0" accel="100000" fill="hold" nodeType="clickEffect">
                                  <p:stCondLst>
                                    <p:cond delay="0"/>
                                  </p:stCondLst>
                                  <p:childTnLst>
                                    <p:set>
                                      <p:cBhvr>
                                        <p:cTn id="20" dur="1" fill="hold">
                                          <p:stCondLst>
                                            <p:cond delay="0"/>
                                          </p:stCondLst>
                                        </p:cTn>
                                        <p:tgtEl>
                                          <p:spTgt spid="180228"/>
                                        </p:tgtEl>
                                        <p:attrNameLst>
                                          <p:attrName>style.visibility</p:attrName>
                                        </p:attrNameLst>
                                      </p:cBhvr>
                                      <p:to>
                                        <p:strVal val="visible"/>
                                      </p:to>
                                    </p:set>
                                    <p:anim calcmode="lin" valueType="num">
                                      <p:cBhvr>
                                        <p:cTn id="21" dur="500" fill="hold"/>
                                        <p:tgtEl>
                                          <p:spTgt spid="180228"/>
                                        </p:tgtEl>
                                        <p:attrNameLst>
                                          <p:attrName>ppt_w</p:attrName>
                                        </p:attrNameLst>
                                      </p:cBhvr>
                                      <p:tavLst>
                                        <p:tav tm="0">
                                          <p:val>
                                            <p:strVal val="#ppt_w*2.5"/>
                                          </p:val>
                                        </p:tav>
                                        <p:tav tm="100000">
                                          <p:val>
                                            <p:strVal val="#ppt_w"/>
                                          </p:val>
                                        </p:tav>
                                      </p:tavLst>
                                    </p:anim>
                                    <p:anim calcmode="lin" valueType="num">
                                      <p:cBhvr>
                                        <p:cTn id="22" dur="500" fill="hold"/>
                                        <p:tgtEl>
                                          <p:spTgt spid="180228"/>
                                        </p:tgtEl>
                                        <p:attrNameLst>
                                          <p:attrName>ppt_h</p:attrName>
                                        </p:attrNameLst>
                                      </p:cBhvr>
                                      <p:tavLst>
                                        <p:tav tm="0">
                                          <p:val>
                                            <p:strVal val="#ppt_h*0.01"/>
                                          </p:val>
                                        </p:tav>
                                        <p:tav tm="100000">
                                          <p:val>
                                            <p:strVal val="#ppt_h"/>
                                          </p:val>
                                        </p:tav>
                                      </p:tavLst>
                                    </p:anim>
                                    <p:anim calcmode="lin" valueType="num">
                                      <p:cBhvr>
                                        <p:cTn id="23" dur="500" fill="hold"/>
                                        <p:tgtEl>
                                          <p:spTgt spid="180228"/>
                                        </p:tgtEl>
                                        <p:attrNameLst>
                                          <p:attrName>ppt_x</p:attrName>
                                        </p:attrNameLst>
                                      </p:cBhvr>
                                      <p:tavLst>
                                        <p:tav tm="0">
                                          <p:val>
                                            <p:strVal val="#ppt_x"/>
                                          </p:val>
                                        </p:tav>
                                        <p:tav tm="100000">
                                          <p:val>
                                            <p:strVal val="#ppt_x"/>
                                          </p:val>
                                        </p:tav>
                                      </p:tavLst>
                                    </p:anim>
                                    <p:anim calcmode="lin" valueType="num">
                                      <p:cBhvr>
                                        <p:cTn id="24" dur="500" fill="hold"/>
                                        <p:tgtEl>
                                          <p:spTgt spid="180228"/>
                                        </p:tgtEl>
                                        <p:attrNameLst>
                                          <p:attrName>ppt_y</p:attrName>
                                        </p:attrNameLst>
                                      </p:cBhvr>
                                      <p:tavLst>
                                        <p:tav tm="0">
                                          <p:val>
                                            <p:strVal val="#ppt_h+1"/>
                                          </p:val>
                                        </p:tav>
                                        <p:tav tm="100000">
                                          <p:val>
                                            <p:strVal val="#ppt_y"/>
                                          </p:val>
                                        </p:tav>
                                      </p:tavLst>
                                    </p:anim>
                                    <p:animEffect transition="in" filter="fade">
                                      <p:cBhvr>
                                        <p:cTn id="25" dur="500"/>
                                        <p:tgtEl>
                                          <p:spTgt spid="180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66C2FF84-0A95-498F-96C7-E87C0224CAF8}"/>
              </a:ext>
            </a:extLst>
          </p:cNvPr>
          <p:cNvSpPr>
            <a:spLocks noGrp="1" noChangeArrowheads="1"/>
          </p:cNvSpPr>
          <p:nvPr>
            <p:ph type="title"/>
          </p:nvPr>
        </p:nvSpPr>
        <p:spPr>
          <a:xfrm>
            <a:off x="683568" y="764704"/>
            <a:ext cx="7698432" cy="2016224"/>
          </a:xfrm>
        </p:spPr>
        <p:txBody>
          <a:bodyPr/>
          <a:lstStyle/>
          <a:p>
            <a:pPr algn="ctr" eaLnBrk="1" hangingPunct="1"/>
            <a:r>
              <a:rPr lang="ru-RU" altLang="ru-RU" sz="3500" b="1" dirty="0"/>
              <a:t>Satr-sahifaning chap va o'ng chetlari orasidagi belgilar ketma-ketligi</a:t>
            </a:r>
            <a:endParaRPr lang="ru-RU" altLang="ru-RU" sz="3500" dirty="0">
              <a:cs typeface="Arial" panose="020B0604020202020204" pitchFamily="34" charset="0"/>
            </a:endParaRPr>
          </a:p>
        </p:txBody>
      </p:sp>
      <p:sp>
        <p:nvSpPr>
          <p:cNvPr id="181251" name="Rectangle 3">
            <a:extLst>
              <a:ext uri="{FF2B5EF4-FFF2-40B4-BE49-F238E27FC236}">
                <a16:creationId xmlns:a16="http://schemas.microsoft.com/office/drawing/2014/main" id="{B2BF106A-7313-4D60-BE89-4658BD125FDB}"/>
              </a:ext>
            </a:extLst>
          </p:cNvPr>
          <p:cNvSpPr>
            <a:spLocks noGrp="1" noChangeArrowheads="1"/>
          </p:cNvSpPr>
          <p:nvPr>
            <p:ph type="body" sz="half" idx="1"/>
          </p:nvPr>
        </p:nvSpPr>
        <p:spPr>
          <a:xfrm>
            <a:off x="457200" y="3297238"/>
            <a:ext cx="6523038" cy="2570162"/>
          </a:xfrm>
        </p:spPr>
        <p:txBody>
          <a:bodyPr/>
          <a:lstStyle/>
          <a:p>
            <a:pPr eaLnBrk="1" hangingPunct="1">
              <a:lnSpc>
                <a:spcPct val="90000"/>
              </a:lnSpc>
            </a:pPr>
            <a:r>
              <a:rPr lang="ru-RU" altLang="ru-RU" sz="2800" b="1">
                <a:cs typeface="Arial" panose="020B0604020202020204" pitchFamily="34" charset="0"/>
              </a:rPr>
              <a:t>Matndagi qator raqami</a:t>
            </a:r>
          </a:p>
          <a:p>
            <a:pPr eaLnBrk="1" hangingPunct="1">
              <a:lnSpc>
                <a:spcPct val="90000"/>
              </a:lnSpc>
            </a:pPr>
            <a:r>
              <a:rPr lang="ru-RU" altLang="ru-RU" sz="2800" b="1">
                <a:cs typeface="Arial" panose="020B0604020202020204" pitchFamily="34" charset="0"/>
              </a:rPr>
              <a:t>Chiziq uzunligi</a:t>
            </a:r>
            <a:endParaRPr lang="en-US" altLang="ru-RU" sz="2800" b="1">
              <a:cs typeface="Arial" panose="020B0604020202020204" pitchFamily="34" charset="0"/>
            </a:endParaRPr>
          </a:p>
        </p:txBody>
      </p:sp>
      <p:pic>
        <p:nvPicPr>
          <p:cNvPr id="16388" name="Picture 4" descr="j0323760">
            <a:extLst>
              <a:ext uri="{FF2B5EF4-FFF2-40B4-BE49-F238E27FC236}">
                <a16:creationId xmlns:a16="http://schemas.microsoft.com/office/drawing/2014/main" id="{69F0E1EF-E4AD-44C8-95F7-37879641B053}"/>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895975" y="3124200"/>
            <a:ext cx="185737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1250"/>
                                        </p:tgtEl>
                                        <p:attrNameLst>
                                          <p:attrName>style.visibility</p:attrName>
                                        </p:attrNameLst>
                                      </p:cBhvr>
                                      <p:to>
                                        <p:strVal val="visible"/>
                                      </p:to>
                                    </p:set>
                                    <p:animEffect transition="in" filter="dissolve">
                                      <p:cBhvr>
                                        <p:cTn id="7" dur="500"/>
                                        <p:tgtEl>
                                          <p:spTgt spid="181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81251">
                                            <p:txEl>
                                              <p:pRg st="0" end="0"/>
                                            </p:txEl>
                                          </p:spTgt>
                                        </p:tgtEl>
                                        <p:attrNameLst>
                                          <p:attrName>style.visibility</p:attrName>
                                        </p:attrNameLst>
                                      </p:cBhvr>
                                      <p:to>
                                        <p:strVal val="visible"/>
                                      </p:to>
                                    </p:set>
                                    <p:anim calcmode="lin" valueType="num">
                                      <p:cBhvr>
                                        <p:cTn id="12" dur="1000" fill="hold"/>
                                        <p:tgtEl>
                                          <p:spTgt spid="181251">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81251">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81251">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81251">
                                            <p:txEl>
                                              <p:pRg st="1" end="1"/>
                                            </p:txEl>
                                          </p:spTgt>
                                        </p:tgtEl>
                                        <p:attrNameLst>
                                          <p:attrName>style.visibility</p:attrName>
                                        </p:attrNameLst>
                                      </p:cBhvr>
                                      <p:to>
                                        <p:strVal val="visible"/>
                                      </p:to>
                                    </p:set>
                                    <p:anim calcmode="lin" valueType="num">
                                      <p:cBhvr>
                                        <p:cTn id="19" dur="1000" fill="hold"/>
                                        <p:tgtEl>
                                          <p:spTgt spid="181251">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181251">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1812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p:bldP spid="18125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A841FF66-079B-4D94-9908-599A751D728F}"/>
              </a:ext>
            </a:extLst>
          </p:cNvPr>
          <p:cNvSpPr>
            <a:spLocks noGrp="1" noChangeArrowheads="1"/>
          </p:cNvSpPr>
          <p:nvPr>
            <p:ph type="title"/>
          </p:nvPr>
        </p:nvSpPr>
        <p:spPr>
          <a:xfrm>
            <a:off x="685800" y="548680"/>
            <a:ext cx="7702624" cy="1611908"/>
          </a:xfrm>
        </p:spPr>
        <p:txBody>
          <a:bodyPr/>
          <a:lstStyle/>
          <a:p>
            <a:pPr algn="ctr" eaLnBrk="1" hangingPunct="1"/>
            <a:r>
              <a:rPr lang="ru-RU" altLang="ru-RU" sz="3500" b="1" dirty="0"/>
              <a:t>Paragraf-tugmachani bosish bilan ajratilgan qatorlar va belgilar to'plami </a:t>
            </a:r>
            <a:r>
              <a:rPr lang="en-US" altLang="ru-RU" sz="3500" b="1" dirty="0"/>
              <a:t>Enter </a:t>
            </a:r>
            <a:r>
              <a:rPr lang="ru-RU" altLang="ru-RU" sz="3500" b="1" dirty="0"/>
              <a:t>(paragraf belgisi </a:t>
            </a:r>
            <a:r>
              <a:rPr lang="en-US" altLang="ru-RU" sz="3500" b="1" dirty="0">
                <a:cs typeface="Arial" panose="020B0604020202020204" pitchFamily="34" charset="0"/>
              </a:rPr>
              <a:t>¶)</a:t>
            </a:r>
            <a:endParaRPr lang="ru-RU" altLang="ru-RU" sz="3500" b="1" dirty="0">
              <a:cs typeface="Arial" panose="020B0604020202020204" pitchFamily="34" charset="0"/>
            </a:endParaRPr>
          </a:p>
        </p:txBody>
      </p:sp>
      <p:sp>
        <p:nvSpPr>
          <p:cNvPr id="182275" name="Rectangle 3">
            <a:extLst>
              <a:ext uri="{FF2B5EF4-FFF2-40B4-BE49-F238E27FC236}">
                <a16:creationId xmlns:a16="http://schemas.microsoft.com/office/drawing/2014/main" id="{B6A279EB-C901-44D2-BBA1-9098BE96F0B1}"/>
              </a:ext>
            </a:extLst>
          </p:cNvPr>
          <p:cNvSpPr>
            <a:spLocks noGrp="1" noChangeArrowheads="1"/>
          </p:cNvSpPr>
          <p:nvPr>
            <p:ph type="body" sz="half" idx="1"/>
          </p:nvPr>
        </p:nvSpPr>
        <p:spPr>
          <a:xfrm>
            <a:off x="457200" y="2416175"/>
            <a:ext cx="7578725" cy="3451225"/>
          </a:xfrm>
        </p:spPr>
        <p:txBody>
          <a:bodyPr/>
          <a:lstStyle/>
          <a:p>
            <a:pPr eaLnBrk="1" hangingPunct="1">
              <a:lnSpc>
                <a:spcPct val="90000"/>
              </a:lnSpc>
            </a:pPr>
            <a:r>
              <a:rPr lang="ru-RU" altLang="ru-RU" sz="2800" b="1">
                <a:cs typeface="Arial" panose="020B0604020202020204" pitchFamily="34" charset="0"/>
              </a:rPr>
              <a:t>Birinchi qator-qizil chiziq</a:t>
            </a:r>
          </a:p>
          <a:p>
            <a:pPr eaLnBrk="1" hangingPunct="1">
              <a:lnSpc>
                <a:spcPct val="90000"/>
              </a:lnSpc>
            </a:pPr>
            <a:r>
              <a:rPr lang="ru-RU" altLang="ru-RU" sz="2800" b="1">
                <a:cs typeface="Arial" panose="020B0604020202020204" pitchFamily="34" charset="0"/>
              </a:rPr>
              <a:t>Chap va o'ng chiziqlar</a:t>
            </a:r>
          </a:p>
          <a:p>
            <a:pPr eaLnBrk="1" hangingPunct="1">
              <a:lnSpc>
                <a:spcPct val="90000"/>
              </a:lnSpc>
            </a:pPr>
            <a:r>
              <a:rPr lang="ru-RU" altLang="ru-RU" sz="2800" b="1">
                <a:cs typeface="Arial" panose="020B0604020202020204" pitchFamily="34" charset="0"/>
              </a:rPr>
              <a:t>Qatorlar soni</a:t>
            </a:r>
          </a:p>
          <a:p>
            <a:pPr eaLnBrk="1" hangingPunct="1">
              <a:lnSpc>
                <a:spcPct val="90000"/>
              </a:lnSpc>
            </a:pPr>
            <a:r>
              <a:rPr lang="ru-RU" altLang="ru-RU" sz="2800" b="1">
                <a:cs typeface="Arial" panose="020B0604020202020204" pitchFamily="34" charset="0"/>
              </a:rPr>
              <a:t>Chiziqlar oralig'i</a:t>
            </a:r>
            <a:endParaRPr lang="en-US" altLang="ru-RU" sz="2800" b="1">
              <a:cs typeface="Arial" panose="020B0604020202020204" pitchFamily="34" charset="0"/>
            </a:endParaRPr>
          </a:p>
        </p:txBody>
      </p:sp>
      <p:pic>
        <p:nvPicPr>
          <p:cNvPr id="17412" name="Picture 4" descr="j0292112">
            <a:extLst>
              <a:ext uri="{FF2B5EF4-FFF2-40B4-BE49-F238E27FC236}">
                <a16:creationId xmlns:a16="http://schemas.microsoft.com/office/drawing/2014/main" id="{70442CA3-E3E0-4346-A3CC-44FA3D2CA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3810000"/>
            <a:ext cx="1817688"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dissolve">
                                      <p:cBhvr>
                                        <p:cTn id="7" dur="500"/>
                                        <p:tgtEl>
                                          <p:spTgt spid="182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182275">
                                            <p:txEl>
                                              <p:pRg st="0" end="0"/>
                                            </p:txEl>
                                          </p:spTgt>
                                        </p:tgtEl>
                                        <p:attrNameLst>
                                          <p:attrName>style.visibility</p:attrName>
                                        </p:attrNameLst>
                                      </p:cBhvr>
                                      <p:to>
                                        <p:strVal val="visible"/>
                                      </p:to>
                                    </p:set>
                                    <p:anim calcmode="lin" valueType="num">
                                      <p:cBhvr>
                                        <p:cTn id="12" dur="1000" fill="hold"/>
                                        <p:tgtEl>
                                          <p:spTgt spid="182275">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82275">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82275">
                                            <p:txEl>
                                              <p:pRg st="0" end="0"/>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82275">
                                            <p:txEl>
                                              <p:pRg st="1" end="1"/>
                                            </p:txEl>
                                          </p:spTgt>
                                        </p:tgtEl>
                                        <p:attrNameLst>
                                          <p:attrName>style.visibility</p:attrName>
                                        </p:attrNameLst>
                                      </p:cBhvr>
                                      <p:to>
                                        <p:strVal val="visible"/>
                                      </p:to>
                                    </p:set>
                                    <p:anim calcmode="lin" valueType="num">
                                      <p:cBhvr>
                                        <p:cTn id="19" dur="1000" fill="hold"/>
                                        <p:tgtEl>
                                          <p:spTgt spid="182275">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182275">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182275">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182275">
                                            <p:txEl>
                                              <p:pRg st="2" end="2"/>
                                            </p:txEl>
                                          </p:spTgt>
                                        </p:tgtEl>
                                        <p:attrNameLst>
                                          <p:attrName>style.visibility</p:attrName>
                                        </p:attrNameLst>
                                      </p:cBhvr>
                                      <p:to>
                                        <p:strVal val="visible"/>
                                      </p:to>
                                    </p:set>
                                    <p:anim calcmode="lin" valueType="num">
                                      <p:cBhvr>
                                        <p:cTn id="26" dur="1000" fill="hold"/>
                                        <p:tgtEl>
                                          <p:spTgt spid="182275">
                                            <p:txEl>
                                              <p:pRg st="2" end="2"/>
                                            </p:txEl>
                                          </p:spTgt>
                                        </p:tgtEl>
                                        <p:attrNameLst>
                                          <p:attrName>ppt_w</p:attrName>
                                        </p:attrNameLst>
                                      </p:cBhvr>
                                      <p:tavLst>
                                        <p:tav tm="0">
                                          <p:val>
                                            <p:strVal val="#ppt_w*0.70"/>
                                          </p:val>
                                        </p:tav>
                                        <p:tav tm="100000">
                                          <p:val>
                                            <p:strVal val="#ppt_w"/>
                                          </p:val>
                                        </p:tav>
                                      </p:tavLst>
                                    </p:anim>
                                    <p:anim calcmode="lin" valueType="num">
                                      <p:cBhvr>
                                        <p:cTn id="27" dur="1000" fill="hold"/>
                                        <p:tgtEl>
                                          <p:spTgt spid="182275">
                                            <p:txEl>
                                              <p:pRg st="2" end="2"/>
                                            </p:txEl>
                                          </p:spTgt>
                                        </p:tgtEl>
                                        <p:attrNameLst>
                                          <p:attrName>ppt_h</p:attrName>
                                        </p:attrNameLst>
                                      </p:cBhvr>
                                      <p:tavLst>
                                        <p:tav tm="0">
                                          <p:val>
                                            <p:strVal val="#ppt_h"/>
                                          </p:val>
                                        </p:tav>
                                        <p:tav tm="100000">
                                          <p:val>
                                            <p:strVal val="#ppt_h"/>
                                          </p:val>
                                        </p:tav>
                                      </p:tavLst>
                                    </p:anim>
                                    <p:animEffect transition="in" filter="fade">
                                      <p:cBhvr>
                                        <p:cTn id="28" dur="1000"/>
                                        <p:tgtEl>
                                          <p:spTgt spid="182275">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182275">
                                            <p:txEl>
                                              <p:pRg st="3" end="3"/>
                                            </p:txEl>
                                          </p:spTgt>
                                        </p:tgtEl>
                                        <p:attrNameLst>
                                          <p:attrName>style.visibility</p:attrName>
                                        </p:attrNameLst>
                                      </p:cBhvr>
                                      <p:to>
                                        <p:strVal val="visible"/>
                                      </p:to>
                                    </p:set>
                                    <p:anim calcmode="lin" valueType="num">
                                      <p:cBhvr>
                                        <p:cTn id="33" dur="1000" fill="hold"/>
                                        <p:tgtEl>
                                          <p:spTgt spid="182275">
                                            <p:txEl>
                                              <p:pRg st="3" end="3"/>
                                            </p:txEl>
                                          </p:spTgt>
                                        </p:tgtEl>
                                        <p:attrNameLst>
                                          <p:attrName>ppt_w</p:attrName>
                                        </p:attrNameLst>
                                      </p:cBhvr>
                                      <p:tavLst>
                                        <p:tav tm="0">
                                          <p:val>
                                            <p:strVal val="#ppt_w*0.70"/>
                                          </p:val>
                                        </p:tav>
                                        <p:tav tm="100000">
                                          <p:val>
                                            <p:strVal val="#ppt_w"/>
                                          </p:val>
                                        </p:tav>
                                      </p:tavLst>
                                    </p:anim>
                                    <p:anim calcmode="lin" valueType="num">
                                      <p:cBhvr>
                                        <p:cTn id="34" dur="1000" fill="hold"/>
                                        <p:tgtEl>
                                          <p:spTgt spid="182275">
                                            <p:txEl>
                                              <p:pRg st="3" end="3"/>
                                            </p:txEl>
                                          </p:spTgt>
                                        </p:tgtEl>
                                        <p:attrNameLst>
                                          <p:attrName>ppt_h</p:attrName>
                                        </p:attrNameLst>
                                      </p:cBhvr>
                                      <p:tavLst>
                                        <p:tav tm="0">
                                          <p:val>
                                            <p:strVal val="#ppt_h"/>
                                          </p:val>
                                        </p:tav>
                                        <p:tav tm="100000">
                                          <p:val>
                                            <p:strVal val="#ppt_h"/>
                                          </p:val>
                                        </p:tav>
                                      </p:tavLst>
                                    </p:anim>
                                    <p:animEffect transition="in" filter="fade">
                                      <p:cBhvr>
                                        <p:cTn id="35" dur="1000"/>
                                        <p:tgtEl>
                                          <p:spTgt spid="1822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p:bldP spid="182275"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8BD74962-9052-43EE-9B23-E186469E6DF6}"/>
              </a:ext>
            </a:extLst>
          </p:cNvPr>
          <p:cNvSpPr>
            <a:spLocks noGrp="1" noChangeArrowheads="1"/>
          </p:cNvSpPr>
          <p:nvPr>
            <p:ph type="title"/>
          </p:nvPr>
        </p:nvSpPr>
        <p:spPr>
          <a:xfrm>
            <a:off x="457200" y="827088"/>
            <a:ext cx="8229600" cy="728662"/>
          </a:xfrm>
        </p:spPr>
        <p:txBody>
          <a:bodyPr/>
          <a:lstStyle/>
          <a:p>
            <a:pPr algn="ctr" eaLnBrk="1" hangingPunct="1"/>
            <a:r>
              <a:rPr lang="ru-RU" altLang="ru-RU" sz="3200" b="1"/>
              <a:t>Sahifa-ajratilgan sahifalar bilan chegaralangan matnning bir qismi</a:t>
            </a:r>
          </a:p>
        </p:txBody>
      </p:sp>
      <p:sp>
        <p:nvSpPr>
          <p:cNvPr id="183299" name="Rectangle 3">
            <a:extLst>
              <a:ext uri="{FF2B5EF4-FFF2-40B4-BE49-F238E27FC236}">
                <a16:creationId xmlns:a16="http://schemas.microsoft.com/office/drawing/2014/main" id="{26101A29-03FA-4B57-B330-79AD71CA3E81}"/>
              </a:ext>
            </a:extLst>
          </p:cNvPr>
          <p:cNvSpPr>
            <a:spLocks noGrp="1" noChangeArrowheads="1"/>
          </p:cNvSpPr>
          <p:nvPr>
            <p:ph type="body" sz="half" idx="1"/>
          </p:nvPr>
        </p:nvSpPr>
        <p:spPr>
          <a:xfrm>
            <a:off x="457200" y="1981200"/>
            <a:ext cx="4035425" cy="3886200"/>
          </a:xfrm>
        </p:spPr>
        <p:txBody>
          <a:bodyPr/>
          <a:lstStyle/>
          <a:p>
            <a:pPr eaLnBrk="1" hangingPunct="1"/>
            <a:r>
              <a:rPr lang="ru-RU" altLang="ru-RU" sz="2800" b="1"/>
              <a:t>Qog'oz hajmi</a:t>
            </a:r>
          </a:p>
          <a:p>
            <a:pPr eaLnBrk="1" hangingPunct="1"/>
            <a:r>
              <a:rPr lang="ru-RU" altLang="ru-RU" sz="2800" b="1"/>
              <a:t>Yo'nalish </a:t>
            </a:r>
            <a:r>
              <a:rPr lang="ru-RU" altLang="ru-RU" sz="2800"/>
              <a:t>(kitob va landshaft)</a:t>
            </a:r>
          </a:p>
          <a:p>
            <a:pPr eaLnBrk="1" hangingPunct="1"/>
            <a:r>
              <a:rPr lang="ru-RU" altLang="ru-RU" sz="2800" b="1"/>
              <a:t>Maydonlar </a:t>
            </a:r>
            <a:r>
              <a:rPr lang="ru-RU" altLang="ru-RU" sz="2800"/>
              <a:t>(yuqori, pastki, chap, o'ng va oyna)</a:t>
            </a:r>
          </a:p>
          <a:p>
            <a:pPr eaLnBrk="1" hangingPunct="1">
              <a:buFont typeface="Wingdings" panose="05000000000000000000" pitchFamily="2" charset="2"/>
              <a:buNone/>
            </a:pPr>
            <a:endParaRPr lang="ru-RU" altLang="ru-RU" sz="2800"/>
          </a:p>
        </p:txBody>
      </p:sp>
      <p:graphicFrame>
        <p:nvGraphicFramePr>
          <p:cNvPr id="183300" name="Group 4">
            <a:extLst>
              <a:ext uri="{FF2B5EF4-FFF2-40B4-BE49-F238E27FC236}">
                <a16:creationId xmlns:a16="http://schemas.microsoft.com/office/drawing/2014/main" id="{A09A07FF-E53B-4618-B855-9B4A12DAE367}"/>
              </a:ext>
            </a:extLst>
          </p:cNvPr>
          <p:cNvGraphicFramePr>
            <a:graphicFrameLocks noGrp="1"/>
          </p:cNvGraphicFramePr>
          <p:nvPr>
            <p:ph sz="half" idx="2"/>
          </p:nvPr>
        </p:nvGraphicFramePr>
        <p:xfrm>
          <a:off x="4613275" y="1981200"/>
          <a:ext cx="4073525" cy="3886202"/>
        </p:xfrm>
        <a:graphic>
          <a:graphicData uri="http://schemas.openxmlformats.org/drawingml/2006/table">
            <a:tbl>
              <a:tblPr/>
              <a:tblGrid>
                <a:gridCol w="2038350">
                  <a:extLst>
                    <a:ext uri="{9D8B030D-6E8A-4147-A177-3AD203B41FA5}">
                      <a16:colId xmlns:a16="http://schemas.microsoft.com/office/drawing/2014/main" val="20000"/>
                    </a:ext>
                  </a:extLst>
                </a:gridCol>
                <a:gridCol w="2035175">
                  <a:extLst>
                    <a:ext uri="{9D8B030D-6E8A-4147-A177-3AD203B41FA5}">
                      <a16:colId xmlns:a16="http://schemas.microsoft.com/office/drawing/2014/main" val="20001"/>
                    </a:ext>
                  </a:extLst>
                </a:gridCol>
              </a:tblGrid>
              <a:tr h="3540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600" b="1" i="0" u="none" strike="noStrike" cap="none" normalizeH="0" baseline="0">
                          <a:ln>
                            <a:noFill/>
                          </a:ln>
                          <a:solidFill>
                            <a:schemeClr val="tx1"/>
                          </a:solidFill>
                          <a:effectLst>
                            <a:outerShdw blurRad="38100" dist="38100" dir="2700000" algn="tl">
                              <a:srgbClr val="FFFFFF"/>
                            </a:outerShdw>
                          </a:effectLst>
                          <a:latin typeface="Arial" charset="0"/>
                        </a:rPr>
                        <a:t>Format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600" b="1" i="0" u="none" strike="noStrike" cap="none" normalizeH="0" baseline="0">
                          <a:ln>
                            <a:noFill/>
                          </a:ln>
                          <a:solidFill>
                            <a:schemeClr val="tx1"/>
                          </a:solidFill>
                          <a:effectLst>
                            <a:outerShdw blurRad="38100" dist="38100" dir="2700000" algn="tl">
                              <a:srgbClr val="FFFFFF"/>
                            </a:outerShdw>
                          </a:effectLst>
                          <a:latin typeface="Arial" charset="0"/>
                        </a:rPr>
                        <a:t>Olchamlari (mm)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22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A0</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841х1189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A1</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594х841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A2</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420х594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A3</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297x420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2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A4</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210x297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A5</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148x210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A6</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105x148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A7</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74x105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26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A8</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52x74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A9</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37x52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06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A10</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36х37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3298"/>
                                        </p:tgtEl>
                                        <p:attrNameLst>
                                          <p:attrName>style.visibility</p:attrName>
                                        </p:attrNameLst>
                                      </p:cBhvr>
                                      <p:to>
                                        <p:strVal val="visible"/>
                                      </p:to>
                                    </p:set>
                                    <p:animEffect transition="in" filter="dissolve">
                                      <p:cBhvr>
                                        <p:cTn id="7" dur="500"/>
                                        <p:tgtEl>
                                          <p:spTgt spid="183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83299">
                                            <p:txEl>
                                              <p:pRg st="0" end="0"/>
                                            </p:txEl>
                                          </p:spTgt>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83299">
                                            <p:txEl>
                                              <p:pRg st="1" end="1"/>
                                            </p:txEl>
                                          </p:spTgt>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83299">
                                            <p:txEl>
                                              <p:pRg st="2" end="2"/>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183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autoUpdateAnimBg="0"/>
      <p:bldP spid="183299"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6446FB40-F5EB-4552-A17C-E69FE156D43F}"/>
              </a:ext>
            </a:extLst>
          </p:cNvPr>
          <p:cNvSpPr txBox="1">
            <a:spLocks noChangeArrowheads="1"/>
          </p:cNvSpPr>
          <p:nvPr/>
        </p:nvSpPr>
        <p:spPr bwMode="auto">
          <a:xfrm>
            <a:off x="1143000" y="2057400"/>
            <a:ext cx="6934200" cy="256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3600" b="1" i="0" u="none" strike="noStrike" kern="1200" cap="none" spc="0" normalizeH="0" baseline="0" noProof="0">
                <a:ln>
                  <a:noFill/>
                </a:ln>
                <a:solidFill>
                  <a:srgbClr val="FFFFFF"/>
                </a:solidFill>
                <a:effectLst/>
                <a:uLnTx/>
                <a:uFillTx/>
                <a:latin typeface="Arial" panose="020B0604020202020204" pitchFamily="34" charset="0"/>
                <a:ea typeface="+mn-ea"/>
                <a:cs typeface="+mn-cs"/>
              </a:rPr>
              <a:t>Esingizda bo'lsin!!!</a:t>
            </a:r>
          </a:p>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3600" b="1" i="0" u="none" strike="noStrike" kern="1200" cap="none" spc="0" normalizeH="0" baseline="0" noProof="0">
                <a:ln>
                  <a:noFill/>
                </a:ln>
                <a:solidFill>
                  <a:srgbClr val="FFFFFF"/>
                </a:solidFill>
                <a:effectLst/>
                <a:uLnTx/>
                <a:uFillTx/>
                <a:latin typeface="Arial" panose="020B0604020202020204" pitchFamily="34" charset="0"/>
                <a:ea typeface="+mn-ea"/>
                <a:cs typeface="+mn-cs"/>
              </a:rPr>
              <a:t>Matnning kattaroq elementlari kichikroq elementlarning xususiyatlarini meros qilib oladi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0">
          <a:gsLst>
            <a:gs pos="84000">
              <a:schemeClr val="accent5"/>
            </a:gs>
            <a:gs pos="100000">
              <a:schemeClr val="accent5">
                <a:lumMod val="50000"/>
              </a:schemeClr>
            </a:gs>
          </a:gsLst>
          <a:lin ang="5400000" scaled="1"/>
        </a:gradFill>
        <a:effectLst/>
      </p:bgPr>
    </p:bg>
    <p:spTree>
      <p:nvGrpSpPr>
        <p:cNvPr id="1" name=""/>
        <p:cNvGrpSpPr/>
        <p:nvPr/>
      </p:nvGrpSpPr>
      <p:grpSpPr>
        <a:xfrm>
          <a:off x="0" y="0"/>
          <a:ext cx="0" cy="0"/>
          <a:chOff x="0" y="0"/>
          <a:chExt cx="0" cy="0"/>
        </a:xfrm>
      </p:grpSpPr>
      <p:sp>
        <p:nvSpPr>
          <p:cNvPr id="20482" name="Rectangle 25">
            <a:extLst>
              <a:ext uri="{FF2B5EF4-FFF2-40B4-BE49-F238E27FC236}">
                <a16:creationId xmlns:a16="http://schemas.microsoft.com/office/drawing/2014/main" id="{659EEC76-7DAD-463D-B029-73E401F6C2AB}"/>
              </a:ext>
            </a:extLst>
          </p:cNvPr>
          <p:cNvSpPr>
            <a:spLocks noChangeArrowheads="1"/>
          </p:cNvSpPr>
          <p:nvPr/>
        </p:nvSpPr>
        <p:spPr bwMode="auto">
          <a:xfrm>
            <a:off x="-152400" y="1905000"/>
            <a:ext cx="6172200"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Parametrlar</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sahifalar </a:t>
            </a:r>
            <a:br>
              <a:rPr kumimoji="0" lang="en-US"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br>
            <a:r>
              <a:rPr kumimoji="0" lang="en-US"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Microsoft </a:t>
            </a:r>
            <a:endParaRPr kumimoji="0" lang="ru-RU"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Word</a:t>
            </a:r>
            <a:endParaRPr kumimoji="0" lang="ru-RU" altLang="ru-RU" sz="54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endParaRPr>
          </a:p>
        </p:txBody>
      </p:sp>
      <p:sp>
        <p:nvSpPr>
          <p:cNvPr id="20483" name="Text Box 4">
            <a:extLst>
              <a:ext uri="{FF2B5EF4-FFF2-40B4-BE49-F238E27FC236}">
                <a16:creationId xmlns:a16="http://schemas.microsoft.com/office/drawing/2014/main" id="{62506CEB-7D4D-4AAC-BC17-0175B359699A}"/>
              </a:ext>
            </a:extLst>
          </p:cNvPr>
          <p:cNvSpPr txBox="1">
            <a:spLocks noChangeArrowheads="1"/>
          </p:cNvSpPr>
          <p:nvPr/>
        </p:nvSpPr>
        <p:spPr bwMode="auto">
          <a:xfrm>
            <a:off x="1447800" y="838200"/>
            <a:ext cx="472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73" name="Rectangle 5">
            <a:extLst>
              <a:ext uri="{FF2B5EF4-FFF2-40B4-BE49-F238E27FC236}">
                <a16:creationId xmlns:a16="http://schemas.microsoft.com/office/drawing/2014/main" id="{116FA373-0FE5-4323-9F5A-677C281055DC}"/>
              </a:ext>
            </a:extLst>
          </p:cNvPr>
          <p:cNvSpPr>
            <a:spLocks noChangeArrowheads="1"/>
          </p:cNvSpPr>
          <p:nvPr/>
        </p:nvSpPr>
        <p:spPr bwMode="auto">
          <a:xfrm>
            <a:off x="685800" y="533400"/>
            <a:ext cx="4648200" cy="5943600"/>
          </a:xfrm>
          <a:prstGeom prst="rect">
            <a:avLst/>
          </a:prstGeom>
          <a:solidFill>
            <a:srgbClr val="FF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74" name="Text Box 6">
            <a:extLst>
              <a:ext uri="{FF2B5EF4-FFF2-40B4-BE49-F238E27FC236}">
                <a16:creationId xmlns:a16="http://schemas.microsoft.com/office/drawing/2014/main" id="{B350BAC6-5B6E-4CA4-98B6-89F4B73BA762}"/>
              </a:ext>
            </a:extLst>
          </p:cNvPr>
          <p:cNvSpPr txBox="1">
            <a:spLocks noChangeArrowheads="1"/>
          </p:cNvSpPr>
          <p:nvPr/>
        </p:nvSpPr>
        <p:spPr bwMode="auto">
          <a:xfrm>
            <a:off x="1219200" y="1295400"/>
            <a:ext cx="3505200" cy="449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a:r>
          </a:p>
        </p:txBody>
      </p:sp>
      <p:sp>
        <p:nvSpPr>
          <p:cNvPr id="160775" name="Line 7">
            <a:extLst>
              <a:ext uri="{FF2B5EF4-FFF2-40B4-BE49-F238E27FC236}">
                <a16:creationId xmlns:a16="http://schemas.microsoft.com/office/drawing/2014/main" id="{B5CD0700-296A-403E-8D4D-2B308FD731B4}"/>
              </a:ext>
            </a:extLst>
          </p:cNvPr>
          <p:cNvSpPr>
            <a:spLocks noChangeShapeType="1"/>
          </p:cNvSpPr>
          <p:nvPr/>
        </p:nvSpPr>
        <p:spPr bwMode="auto">
          <a:xfrm flipV="1">
            <a:off x="5105400" y="1143000"/>
            <a:ext cx="1219200" cy="762000"/>
          </a:xfrm>
          <a:prstGeom prst="line">
            <a:avLst/>
          </a:prstGeom>
          <a:noFill/>
          <a:ln w="38100">
            <a:solidFill>
              <a:srgbClr val="66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76" name="Line 8">
            <a:extLst>
              <a:ext uri="{FF2B5EF4-FFF2-40B4-BE49-F238E27FC236}">
                <a16:creationId xmlns:a16="http://schemas.microsoft.com/office/drawing/2014/main" id="{9D9836D2-7550-4638-8D74-C2087ADEE5B0}"/>
              </a:ext>
            </a:extLst>
          </p:cNvPr>
          <p:cNvSpPr>
            <a:spLocks noChangeShapeType="1"/>
          </p:cNvSpPr>
          <p:nvPr/>
        </p:nvSpPr>
        <p:spPr bwMode="auto">
          <a:xfrm flipV="1">
            <a:off x="1752600" y="533400"/>
            <a:ext cx="0" cy="76200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77" name="Line 9">
            <a:extLst>
              <a:ext uri="{FF2B5EF4-FFF2-40B4-BE49-F238E27FC236}">
                <a16:creationId xmlns:a16="http://schemas.microsoft.com/office/drawing/2014/main" id="{7869E7C3-6B34-4EB8-A21A-0BBFEB86F787}"/>
              </a:ext>
            </a:extLst>
          </p:cNvPr>
          <p:cNvSpPr>
            <a:spLocks noChangeShapeType="1"/>
          </p:cNvSpPr>
          <p:nvPr/>
        </p:nvSpPr>
        <p:spPr bwMode="auto">
          <a:xfrm flipV="1">
            <a:off x="1600200" y="5791200"/>
            <a:ext cx="0" cy="68580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78" name="Line 10">
            <a:extLst>
              <a:ext uri="{FF2B5EF4-FFF2-40B4-BE49-F238E27FC236}">
                <a16:creationId xmlns:a16="http://schemas.microsoft.com/office/drawing/2014/main" id="{2E5BEFCA-6B30-4166-8D10-E9CDC8B632A0}"/>
              </a:ext>
            </a:extLst>
          </p:cNvPr>
          <p:cNvSpPr>
            <a:spLocks noChangeShapeType="1"/>
          </p:cNvSpPr>
          <p:nvPr/>
        </p:nvSpPr>
        <p:spPr bwMode="auto">
          <a:xfrm>
            <a:off x="4724400" y="3505200"/>
            <a:ext cx="609600"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79" name="Line 11">
            <a:extLst>
              <a:ext uri="{FF2B5EF4-FFF2-40B4-BE49-F238E27FC236}">
                <a16:creationId xmlns:a16="http://schemas.microsoft.com/office/drawing/2014/main" id="{FFA4449F-1C34-4279-A697-11C9043D5C91}"/>
              </a:ext>
            </a:extLst>
          </p:cNvPr>
          <p:cNvSpPr>
            <a:spLocks noChangeShapeType="1"/>
          </p:cNvSpPr>
          <p:nvPr/>
        </p:nvSpPr>
        <p:spPr bwMode="auto">
          <a:xfrm>
            <a:off x="685800" y="3505200"/>
            <a:ext cx="533400"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80" name="Text Box 12">
            <a:extLst>
              <a:ext uri="{FF2B5EF4-FFF2-40B4-BE49-F238E27FC236}">
                <a16:creationId xmlns:a16="http://schemas.microsoft.com/office/drawing/2014/main" id="{34D1C14A-D1A7-40B1-9F9C-4AF6E3E7990A}"/>
              </a:ext>
            </a:extLst>
          </p:cNvPr>
          <p:cNvSpPr txBox="1">
            <a:spLocks noChangeArrowheads="1"/>
          </p:cNvSpPr>
          <p:nvPr/>
        </p:nvSpPr>
        <p:spPr bwMode="auto">
          <a:xfrm>
            <a:off x="6172200" y="838200"/>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Jismoniy sahifa</a:t>
            </a:r>
          </a:p>
        </p:txBody>
      </p:sp>
      <p:sp>
        <p:nvSpPr>
          <p:cNvPr id="160781" name="Line 13">
            <a:extLst>
              <a:ext uri="{FF2B5EF4-FFF2-40B4-BE49-F238E27FC236}">
                <a16:creationId xmlns:a16="http://schemas.microsoft.com/office/drawing/2014/main" id="{9EBC93D8-F694-4FB8-A7EC-533C8548E842}"/>
              </a:ext>
            </a:extLst>
          </p:cNvPr>
          <p:cNvSpPr>
            <a:spLocks noChangeShapeType="1"/>
          </p:cNvSpPr>
          <p:nvPr/>
        </p:nvSpPr>
        <p:spPr bwMode="auto">
          <a:xfrm flipV="1">
            <a:off x="4038600" y="1752600"/>
            <a:ext cx="2362200" cy="1447800"/>
          </a:xfrm>
          <a:prstGeom prst="line">
            <a:avLst/>
          </a:prstGeom>
          <a:noFill/>
          <a:ln w="38100">
            <a:solidFill>
              <a:srgbClr val="66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82" name="Text Box 14">
            <a:extLst>
              <a:ext uri="{FF2B5EF4-FFF2-40B4-BE49-F238E27FC236}">
                <a16:creationId xmlns:a16="http://schemas.microsoft.com/office/drawing/2014/main" id="{A9D44179-0043-4AEE-92E4-D16C375074F1}"/>
              </a:ext>
            </a:extLst>
          </p:cNvPr>
          <p:cNvSpPr txBox="1">
            <a:spLocks noChangeArrowheads="1"/>
          </p:cNvSpPr>
          <p:nvPr/>
        </p:nvSpPr>
        <p:spPr bwMode="auto">
          <a:xfrm>
            <a:off x="6324600" y="1371600"/>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Mantiqiy sahifa</a:t>
            </a:r>
          </a:p>
        </p:txBody>
      </p:sp>
      <p:sp>
        <p:nvSpPr>
          <p:cNvPr id="160783" name="Line 15">
            <a:extLst>
              <a:ext uri="{FF2B5EF4-FFF2-40B4-BE49-F238E27FC236}">
                <a16:creationId xmlns:a16="http://schemas.microsoft.com/office/drawing/2014/main" id="{BB19A7F5-6736-4DEA-B6C4-E1EED2A6A34B}"/>
              </a:ext>
            </a:extLst>
          </p:cNvPr>
          <p:cNvSpPr>
            <a:spLocks noChangeShapeType="1"/>
          </p:cNvSpPr>
          <p:nvPr/>
        </p:nvSpPr>
        <p:spPr bwMode="auto">
          <a:xfrm flipV="1">
            <a:off x="5257800" y="2514600"/>
            <a:ext cx="1295400" cy="914400"/>
          </a:xfrm>
          <a:prstGeom prst="line">
            <a:avLst/>
          </a:prstGeom>
          <a:noFill/>
          <a:ln w="38100">
            <a:solidFill>
              <a:srgbClr val="66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84" name="Text Box 16">
            <a:extLst>
              <a:ext uri="{FF2B5EF4-FFF2-40B4-BE49-F238E27FC236}">
                <a16:creationId xmlns:a16="http://schemas.microsoft.com/office/drawing/2014/main" id="{B075B087-6245-4864-A623-752BE5A35476}"/>
              </a:ext>
            </a:extLst>
          </p:cNvPr>
          <p:cNvSpPr txBox="1">
            <a:spLocks noChangeArrowheads="1"/>
          </p:cNvSpPr>
          <p:nvPr/>
        </p:nvSpPr>
        <p:spPr bwMode="auto">
          <a:xfrm>
            <a:off x="6477000" y="2133600"/>
            <a:ext cx="1752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O'ng maydon</a:t>
            </a:r>
          </a:p>
        </p:txBody>
      </p:sp>
      <p:sp>
        <p:nvSpPr>
          <p:cNvPr id="160785" name="Text Box 17">
            <a:extLst>
              <a:ext uri="{FF2B5EF4-FFF2-40B4-BE49-F238E27FC236}">
                <a16:creationId xmlns:a16="http://schemas.microsoft.com/office/drawing/2014/main" id="{C059D6DF-4AB7-49F7-895A-9A3296F4E9F5}"/>
              </a:ext>
            </a:extLst>
          </p:cNvPr>
          <p:cNvSpPr txBox="1">
            <a:spLocks noChangeArrowheads="1"/>
          </p:cNvSpPr>
          <p:nvPr/>
        </p:nvSpPr>
        <p:spPr bwMode="auto">
          <a:xfrm>
            <a:off x="5486400" y="4876800"/>
            <a:ext cx="3657600" cy="6413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sz="18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Maydonlar</a:t>
            </a:r>
            <a:r>
              <a:rPr kumimoji="0" lang="ru-RU"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 </a:t>
            </a:r>
            <a:r>
              <a:rPr kumimoji="0" lang="en-US"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 </a:t>
            </a:r>
            <a:r>
              <a:rPr kumimoji="0" lang="ru-RU"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bu jismoniy sahifaning chetlaridan matnning chekinishi</a:t>
            </a:r>
          </a:p>
        </p:txBody>
      </p:sp>
      <p:sp>
        <p:nvSpPr>
          <p:cNvPr id="160786" name="Rectangle 18">
            <a:extLst>
              <a:ext uri="{FF2B5EF4-FFF2-40B4-BE49-F238E27FC236}">
                <a16:creationId xmlns:a16="http://schemas.microsoft.com/office/drawing/2014/main" id="{697DC788-A1A7-4A9D-B988-006A4190313B}"/>
              </a:ext>
            </a:extLst>
          </p:cNvPr>
          <p:cNvSpPr>
            <a:spLocks noChangeArrowheads="1"/>
          </p:cNvSpPr>
          <p:nvPr/>
        </p:nvSpPr>
        <p:spPr bwMode="auto">
          <a:xfrm>
            <a:off x="1600200" y="762000"/>
            <a:ext cx="29718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Sarlavha</a:t>
            </a:r>
          </a:p>
        </p:txBody>
      </p:sp>
      <p:sp>
        <p:nvSpPr>
          <p:cNvPr id="160787" name="Rectangle 19">
            <a:extLst>
              <a:ext uri="{FF2B5EF4-FFF2-40B4-BE49-F238E27FC236}">
                <a16:creationId xmlns:a16="http://schemas.microsoft.com/office/drawing/2014/main" id="{489CAB07-68F4-4FB9-92A3-0347ECA33366}"/>
              </a:ext>
            </a:extLst>
          </p:cNvPr>
          <p:cNvSpPr>
            <a:spLocks noChangeArrowheads="1"/>
          </p:cNvSpPr>
          <p:nvPr/>
        </p:nvSpPr>
        <p:spPr bwMode="auto">
          <a:xfrm>
            <a:off x="1371600" y="6019800"/>
            <a:ext cx="3200400" cy="228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Altbilgi</a:t>
            </a:r>
          </a:p>
        </p:txBody>
      </p:sp>
      <p:sp>
        <p:nvSpPr>
          <p:cNvPr id="160788" name="Text Box 20">
            <a:extLst>
              <a:ext uri="{FF2B5EF4-FFF2-40B4-BE49-F238E27FC236}">
                <a16:creationId xmlns:a16="http://schemas.microsoft.com/office/drawing/2014/main" id="{93DD31F6-63D2-462E-A206-2C2D8F65541E}"/>
              </a:ext>
            </a:extLst>
          </p:cNvPr>
          <p:cNvSpPr txBox="1">
            <a:spLocks noChangeArrowheads="1"/>
          </p:cNvSpPr>
          <p:nvPr/>
        </p:nvSpPr>
        <p:spPr bwMode="auto">
          <a:xfrm>
            <a:off x="5410200" y="5667375"/>
            <a:ext cx="3276600" cy="1190625"/>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ru-RU" sz="18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Kolontitul</a:t>
            </a:r>
            <a:r>
              <a:rPr kumimoji="0" lang="ru-RU"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 - bu yordam ma'lumotlarini o'z ichiga olgan sahifadagi doimiy matn </a:t>
            </a:r>
          </a:p>
        </p:txBody>
      </p:sp>
      <p:sp>
        <p:nvSpPr>
          <p:cNvPr id="160789" name="Line 21">
            <a:extLst>
              <a:ext uri="{FF2B5EF4-FFF2-40B4-BE49-F238E27FC236}">
                <a16:creationId xmlns:a16="http://schemas.microsoft.com/office/drawing/2014/main" id="{5D85D799-473D-437E-BCC1-7AD0DDABFAF7}"/>
              </a:ext>
            </a:extLst>
          </p:cNvPr>
          <p:cNvSpPr>
            <a:spLocks noChangeShapeType="1"/>
          </p:cNvSpPr>
          <p:nvPr/>
        </p:nvSpPr>
        <p:spPr bwMode="auto">
          <a:xfrm flipV="1">
            <a:off x="4572000" y="685800"/>
            <a:ext cx="1447800" cy="152400"/>
          </a:xfrm>
          <a:prstGeom prst="line">
            <a:avLst/>
          </a:prstGeom>
          <a:noFill/>
          <a:ln w="38100">
            <a:solidFill>
              <a:srgbClr val="66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60790" name="Text Box 22">
            <a:extLst>
              <a:ext uri="{FF2B5EF4-FFF2-40B4-BE49-F238E27FC236}">
                <a16:creationId xmlns:a16="http://schemas.microsoft.com/office/drawing/2014/main" id="{6C9693DF-854A-4B18-8F13-EC6AB2EDDCC0}"/>
              </a:ext>
            </a:extLst>
          </p:cNvPr>
          <p:cNvSpPr txBox="1">
            <a:spLocks noChangeArrowheads="1"/>
          </p:cNvSpPr>
          <p:nvPr/>
        </p:nvSpPr>
        <p:spPr bwMode="auto">
          <a:xfrm>
            <a:off x="6019800" y="4572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Kolontitul</a:t>
            </a:r>
          </a:p>
        </p:txBody>
      </p:sp>
      <p:sp>
        <p:nvSpPr>
          <p:cNvPr id="160791" name="Text Box 23">
            <a:extLst>
              <a:ext uri="{FF2B5EF4-FFF2-40B4-BE49-F238E27FC236}">
                <a16:creationId xmlns:a16="http://schemas.microsoft.com/office/drawing/2014/main" id="{B242A70C-FAF1-445B-A65D-DF928E51EB49}"/>
              </a:ext>
            </a:extLst>
          </p:cNvPr>
          <p:cNvSpPr txBox="1">
            <a:spLocks noChangeArrowheads="1"/>
          </p:cNvSpPr>
          <p:nvPr/>
        </p:nvSpPr>
        <p:spPr bwMode="auto">
          <a:xfrm>
            <a:off x="5715000" y="3048000"/>
            <a:ext cx="3657600" cy="641350"/>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sz="1800" b="0" i="0" u="none" strike="noStrike" kern="1200" cap="none" spc="0" normalizeH="0" baseline="0" noProof="0" dirty="0">
                <a:ln>
                  <a:noFill/>
                </a:ln>
                <a:solidFill>
                  <a:srgbClr val="0000FF"/>
                </a:solidFill>
                <a:effectLst>
                  <a:outerShdw blurRad="38100" dist="38100" dir="2700000" algn="tl">
                    <a:srgbClr val="000000"/>
                  </a:outerShdw>
                </a:effectLst>
                <a:uLnTx/>
                <a:uFillTx/>
                <a:latin typeface="Comic Sans MS" pitchFamily="66" charset="0"/>
                <a:ea typeface="+mn-ea"/>
                <a:cs typeface="+mn-cs"/>
              </a:rPr>
              <a:t>Jismoniy sahifa</a:t>
            </a:r>
            <a:r>
              <a:rPr kumimoji="0" lang="ru-RU" sz="1800" b="0" i="0" u="none" strike="noStrike" kern="1200" cap="none" spc="0" normalizeH="0" baseline="0" noProof="0" dirty="0">
                <a:ln>
                  <a:noFill/>
                </a:ln>
                <a:solidFill>
                  <a:srgbClr val="DA2B0E"/>
                </a:solidFill>
                <a:effectLst>
                  <a:outerShdw blurRad="38100" dist="38100" dir="2700000" algn="tl">
                    <a:srgbClr val="000000"/>
                  </a:outerShdw>
                </a:effectLst>
                <a:uLnTx/>
                <a:uFillTx/>
                <a:latin typeface="Comic Sans MS" pitchFamily="66" charset="0"/>
                <a:ea typeface="+mn-ea"/>
                <a:cs typeface="+mn-cs"/>
              </a:rPr>
              <a:t> </a:t>
            </a:r>
            <a:r>
              <a:rPr kumimoji="0" lang="en-US" sz="1800" b="0" i="0" u="none" strike="noStrike" kern="1200" cap="none" spc="0" normalizeH="0" baseline="0" noProof="0" dirty="0">
                <a:ln>
                  <a:noFill/>
                </a:ln>
                <a:solidFill>
                  <a:srgbClr val="DA2B0E"/>
                </a:solidFill>
                <a:effectLst>
                  <a:outerShdw blurRad="38100" dist="38100" dir="2700000" algn="tl">
                    <a:srgbClr val="000000"/>
                  </a:outerShdw>
                </a:effectLst>
                <a:uLnTx/>
                <a:uFillTx/>
                <a:latin typeface="Comic Sans MS" pitchFamily="66" charset="0"/>
                <a:ea typeface="+mn-ea"/>
                <a:cs typeface="+mn-cs"/>
              </a:rPr>
              <a:t>- </a:t>
            </a:r>
            <a:r>
              <a:rPr kumimoji="0" lang="ru-RU" sz="1800" b="0" i="0" u="none" strike="noStrike" kern="1200" cap="none" spc="0" normalizeH="0" baseline="0" noProof="0" dirty="0">
                <a:ln>
                  <a:noFill/>
                </a:ln>
                <a:solidFill>
                  <a:srgbClr val="DA2B0E"/>
                </a:solidFill>
                <a:effectLst>
                  <a:outerShdw blurRad="38100" dist="38100" dir="2700000" algn="tl">
                    <a:srgbClr val="000000"/>
                  </a:outerShdw>
                </a:effectLst>
                <a:uLnTx/>
                <a:uFillTx/>
                <a:latin typeface="Comic Sans MS" pitchFamily="66" charset="0"/>
                <a:ea typeface="+mn-ea"/>
                <a:cs typeface="+mn-cs"/>
              </a:rPr>
              <a:t>bu qog'oz varag'ining kattaligi</a:t>
            </a:r>
          </a:p>
        </p:txBody>
      </p:sp>
      <p:sp>
        <p:nvSpPr>
          <p:cNvPr id="160792" name="Text Box 24">
            <a:extLst>
              <a:ext uri="{FF2B5EF4-FFF2-40B4-BE49-F238E27FC236}">
                <a16:creationId xmlns:a16="http://schemas.microsoft.com/office/drawing/2014/main" id="{8364D8B6-8FD6-496C-A9B7-E36204C737EF}"/>
              </a:ext>
            </a:extLst>
          </p:cNvPr>
          <p:cNvSpPr txBox="1">
            <a:spLocks noChangeArrowheads="1"/>
          </p:cNvSpPr>
          <p:nvPr/>
        </p:nvSpPr>
        <p:spPr bwMode="auto">
          <a:xfrm>
            <a:off x="5715000" y="3810000"/>
            <a:ext cx="3657600" cy="915988"/>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ru-RU" sz="18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Mantiqiy sahifa</a:t>
            </a:r>
            <a:r>
              <a:rPr kumimoji="0" lang="ru-RU"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 </a:t>
            </a:r>
            <a:r>
              <a:rPr kumimoji="0" lang="en-US"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 </a:t>
            </a:r>
            <a:r>
              <a:rPr kumimoji="0" lang="ru-RU" sz="18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bu jismoniy maydon. matnni chop etish uchun sahifalar</a:t>
            </a:r>
          </a:p>
        </p:txBody>
      </p:sp>
      <p:grpSp>
        <p:nvGrpSpPr>
          <p:cNvPr id="2" name="Group 26">
            <a:extLst>
              <a:ext uri="{FF2B5EF4-FFF2-40B4-BE49-F238E27FC236}">
                <a16:creationId xmlns:a16="http://schemas.microsoft.com/office/drawing/2014/main" id="{8E429D49-1902-4D2B-BBBE-E82B60B59CC1}"/>
              </a:ext>
            </a:extLst>
          </p:cNvPr>
          <p:cNvGrpSpPr>
            <a:grpSpLocks/>
          </p:cNvGrpSpPr>
          <p:nvPr/>
        </p:nvGrpSpPr>
        <p:grpSpPr bwMode="auto">
          <a:xfrm>
            <a:off x="1143000" y="838200"/>
            <a:ext cx="3962400" cy="3124200"/>
            <a:chOff x="240" y="1776"/>
            <a:chExt cx="2496" cy="1968"/>
          </a:xfrm>
        </p:grpSpPr>
        <p:grpSp>
          <p:nvGrpSpPr>
            <p:cNvPr id="20534" name="Group 27">
              <a:extLst>
                <a:ext uri="{FF2B5EF4-FFF2-40B4-BE49-F238E27FC236}">
                  <a16:creationId xmlns:a16="http://schemas.microsoft.com/office/drawing/2014/main" id="{A2C25DC0-B78E-4050-9A97-A69470E2AB47}"/>
                </a:ext>
              </a:extLst>
            </p:cNvPr>
            <p:cNvGrpSpPr>
              <a:grpSpLocks/>
            </p:cNvGrpSpPr>
            <p:nvPr/>
          </p:nvGrpSpPr>
          <p:grpSpPr bwMode="auto">
            <a:xfrm>
              <a:off x="240" y="1776"/>
              <a:ext cx="2496" cy="1968"/>
              <a:chOff x="748" y="1525"/>
              <a:chExt cx="3901" cy="2514"/>
            </a:xfrm>
          </p:grpSpPr>
          <p:sp>
            <p:nvSpPr>
              <p:cNvPr id="20540" name="Rectangle 28">
                <a:extLst>
                  <a:ext uri="{FF2B5EF4-FFF2-40B4-BE49-F238E27FC236}">
                    <a16:creationId xmlns:a16="http://schemas.microsoft.com/office/drawing/2014/main" id="{769525BF-E0D8-4969-8951-B20C32EF69D6}"/>
                  </a:ext>
                </a:extLst>
              </p:cNvPr>
              <p:cNvSpPr>
                <a:spLocks noChangeArrowheads="1"/>
              </p:cNvSpPr>
              <p:nvPr/>
            </p:nvSpPr>
            <p:spPr bwMode="auto">
              <a:xfrm>
                <a:off x="748" y="2759"/>
                <a:ext cx="1920" cy="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tabLst/>
                  <a:defRPr/>
                </a:pPr>
                <a:endPar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1" name="Rectangle 29">
                <a:extLst>
                  <a:ext uri="{FF2B5EF4-FFF2-40B4-BE49-F238E27FC236}">
                    <a16:creationId xmlns:a16="http://schemas.microsoft.com/office/drawing/2014/main" id="{AE4858CC-0012-4D09-9879-70F321C1FB5F}"/>
                  </a:ext>
                </a:extLst>
              </p:cNvPr>
              <p:cNvSpPr>
                <a:spLocks noChangeArrowheads="1"/>
              </p:cNvSpPr>
              <p:nvPr/>
            </p:nvSpPr>
            <p:spPr bwMode="auto">
              <a:xfrm>
                <a:off x="2668" y="1525"/>
                <a:ext cx="1981" cy="2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tabLst/>
                  <a:defRPr/>
                </a:pPr>
                <a:endPar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2" name="Rectangle 30">
                <a:extLst>
                  <a:ext uri="{FF2B5EF4-FFF2-40B4-BE49-F238E27FC236}">
                    <a16:creationId xmlns:a16="http://schemas.microsoft.com/office/drawing/2014/main" id="{6C12AFFE-028D-41F3-8C10-68961BC857FF}"/>
                  </a:ext>
                </a:extLst>
              </p:cNvPr>
              <p:cNvSpPr>
                <a:spLocks noChangeArrowheads="1"/>
              </p:cNvSpPr>
              <p:nvPr/>
            </p:nvSpPr>
            <p:spPr bwMode="auto">
              <a:xfrm>
                <a:off x="1708" y="1525"/>
                <a:ext cx="960"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tabLst/>
                  <a:defRPr/>
                </a:pPr>
                <a:endPar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3" name="Rectangle 31">
                <a:extLst>
                  <a:ext uri="{FF2B5EF4-FFF2-40B4-BE49-F238E27FC236}">
                    <a16:creationId xmlns:a16="http://schemas.microsoft.com/office/drawing/2014/main" id="{45185DB2-EAA7-49E9-B1A2-EB40273222F6}"/>
                  </a:ext>
                </a:extLst>
              </p:cNvPr>
              <p:cNvSpPr>
                <a:spLocks noChangeArrowheads="1"/>
              </p:cNvSpPr>
              <p:nvPr/>
            </p:nvSpPr>
            <p:spPr bwMode="auto">
              <a:xfrm>
                <a:off x="748" y="1525"/>
                <a:ext cx="960" cy="1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rgbClr val="00007D"/>
                  </a:buClr>
                  <a:buSzPct val="75000"/>
                  <a:buFont typeface="Wingdings" panose="05000000000000000000" pitchFamily="2" charset="2"/>
                  <a:buNone/>
                  <a:tabLst/>
                  <a:defRPr/>
                </a:pPr>
                <a:endPar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4" name="Line 32">
                <a:extLst>
                  <a:ext uri="{FF2B5EF4-FFF2-40B4-BE49-F238E27FC236}">
                    <a16:creationId xmlns:a16="http://schemas.microsoft.com/office/drawing/2014/main" id="{E5408523-5273-4218-ACD8-E8FA754686C3}"/>
                  </a:ext>
                </a:extLst>
              </p:cNvPr>
              <p:cNvSpPr>
                <a:spLocks noChangeShapeType="1"/>
              </p:cNvSpPr>
              <p:nvPr/>
            </p:nvSpPr>
            <p:spPr bwMode="auto">
              <a:xfrm>
                <a:off x="748" y="1525"/>
                <a:ext cx="3901"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5" name="Line 33">
                <a:extLst>
                  <a:ext uri="{FF2B5EF4-FFF2-40B4-BE49-F238E27FC236}">
                    <a16:creationId xmlns:a16="http://schemas.microsoft.com/office/drawing/2014/main" id="{AE6D3F7C-50A7-475B-84F8-D13AEAB2347E}"/>
                  </a:ext>
                </a:extLst>
              </p:cNvPr>
              <p:cNvSpPr>
                <a:spLocks noChangeShapeType="1"/>
              </p:cNvSpPr>
              <p:nvPr/>
            </p:nvSpPr>
            <p:spPr bwMode="auto">
              <a:xfrm>
                <a:off x="748" y="2759"/>
                <a:ext cx="192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6" name="Line 34">
                <a:extLst>
                  <a:ext uri="{FF2B5EF4-FFF2-40B4-BE49-F238E27FC236}">
                    <a16:creationId xmlns:a16="http://schemas.microsoft.com/office/drawing/2014/main" id="{3F4FCC0C-D69E-4AA1-83B8-05971D1AA276}"/>
                  </a:ext>
                </a:extLst>
              </p:cNvPr>
              <p:cNvSpPr>
                <a:spLocks noChangeShapeType="1"/>
              </p:cNvSpPr>
              <p:nvPr/>
            </p:nvSpPr>
            <p:spPr bwMode="auto">
              <a:xfrm>
                <a:off x="748" y="4039"/>
                <a:ext cx="3901"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7" name="Line 35">
                <a:extLst>
                  <a:ext uri="{FF2B5EF4-FFF2-40B4-BE49-F238E27FC236}">
                    <a16:creationId xmlns:a16="http://schemas.microsoft.com/office/drawing/2014/main" id="{1613EBBB-54E5-474B-8E02-6E30DB12C708}"/>
                  </a:ext>
                </a:extLst>
              </p:cNvPr>
              <p:cNvSpPr>
                <a:spLocks noChangeShapeType="1"/>
              </p:cNvSpPr>
              <p:nvPr/>
            </p:nvSpPr>
            <p:spPr bwMode="auto">
              <a:xfrm>
                <a:off x="748" y="1525"/>
                <a:ext cx="0" cy="251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8" name="Line 36">
                <a:extLst>
                  <a:ext uri="{FF2B5EF4-FFF2-40B4-BE49-F238E27FC236}">
                    <a16:creationId xmlns:a16="http://schemas.microsoft.com/office/drawing/2014/main" id="{68F8DF49-821C-4073-8B54-15EE3B08ACC8}"/>
                  </a:ext>
                </a:extLst>
              </p:cNvPr>
              <p:cNvSpPr>
                <a:spLocks noChangeShapeType="1"/>
              </p:cNvSpPr>
              <p:nvPr/>
            </p:nvSpPr>
            <p:spPr bwMode="auto">
              <a:xfrm>
                <a:off x="1708" y="1525"/>
                <a:ext cx="0" cy="123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49" name="Line 37">
                <a:extLst>
                  <a:ext uri="{FF2B5EF4-FFF2-40B4-BE49-F238E27FC236}">
                    <a16:creationId xmlns:a16="http://schemas.microsoft.com/office/drawing/2014/main" id="{104CCF32-80CC-4D42-9C99-EC035084F10A}"/>
                  </a:ext>
                </a:extLst>
              </p:cNvPr>
              <p:cNvSpPr>
                <a:spLocks noChangeShapeType="1"/>
              </p:cNvSpPr>
              <p:nvPr/>
            </p:nvSpPr>
            <p:spPr bwMode="auto">
              <a:xfrm>
                <a:off x="2668" y="1525"/>
                <a:ext cx="0" cy="25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50" name="Line 38">
                <a:extLst>
                  <a:ext uri="{FF2B5EF4-FFF2-40B4-BE49-F238E27FC236}">
                    <a16:creationId xmlns:a16="http://schemas.microsoft.com/office/drawing/2014/main" id="{FC3457C0-6469-4BD2-8B9A-5C74C22058D1}"/>
                  </a:ext>
                </a:extLst>
              </p:cNvPr>
              <p:cNvSpPr>
                <a:spLocks noChangeShapeType="1"/>
              </p:cNvSpPr>
              <p:nvPr/>
            </p:nvSpPr>
            <p:spPr bwMode="auto">
              <a:xfrm>
                <a:off x="4649" y="1525"/>
                <a:ext cx="0" cy="251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grpSp>
        <p:sp>
          <p:nvSpPr>
            <p:cNvPr id="20535" name="Text Box 39">
              <a:extLst>
                <a:ext uri="{FF2B5EF4-FFF2-40B4-BE49-F238E27FC236}">
                  <a16:creationId xmlns:a16="http://schemas.microsoft.com/office/drawing/2014/main" id="{D3C5CDF6-71C1-4A4E-91CF-09B9EC9A31F7}"/>
                </a:ext>
              </a:extLst>
            </p:cNvPr>
            <p:cNvSpPr txBox="1">
              <a:spLocks noChangeArrowheads="1"/>
            </p:cNvSpPr>
            <p:nvPr/>
          </p:nvSpPr>
          <p:spPr bwMode="auto">
            <a:xfrm>
              <a:off x="240" y="1824"/>
              <a:ext cx="57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A5</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148x210</a:t>
              </a:r>
            </a:p>
          </p:txBody>
        </p:sp>
        <p:sp>
          <p:nvSpPr>
            <p:cNvPr id="20536" name="Text Box 40">
              <a:extLst>
                <a:ext uri="{FF2B5EF4-FFF2-40B4-BE49-F238E27FC236}">
                  <a16:creationId xmlns:a16="http://schemas.microsoft.com/office/drawing/2014/main" id="{4F974916-6A0B-457C-BDB4-6F2324B78D0A}"/>
                </a:ext>
              </a:extLst>
            </p:cNvPr>
            <p:cNvSpPr txBox="1">
              <a:spLocks noChangeArrowheads="1"/>
            </p:cNvSpPr>
            <p:nvPr/>
          </p:nvSpPr>
          <p:spPr bwMode="auto">
            <a:xfrm>
              <a:off x="384" y="2928"/>
              <a:ext cx="7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A3</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297x420</a:t>
              </a:r>
            </a:p>
          </p:txBody>
        </p:sp>
        <p:sp>
          <p:nvSpPr>
            <p:cNvPr id="20537" name="Text Box 41">
              <a:extLst>
                <a:ext uri="{FF2B5EF4-FFF2-40B4-BE49-F238E27FC236}">
                  <a16:creationId xmlns:a16="http://schemas.microsoft.com/office/drawing/2014/main" id="{5C743C78-1D03-43A9-8D67-F43673BF39AA}"/>
                </a:ext>
              </a:extLst>
            </p:cNvPr>
            <p:cNvSpPr txBox="1">
              <a:spLocks noChangeArrowheads="1"/>
            </p:cNvSpPr>
            <p:nvPr/>
          </p:nvSpPr>
          <p:spPr bwMode="auto">
            <a:xfrm>
              <a:off x="1728" y="2256"/>
              <a:ext cx="7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420х594</a:t>
              </a:r>
            </a:p>
          </p:txBody>
        </p:sp>
        <p:sp>
          <p:nvSpPr>
            <p:cNvPr id="20538" name="Line 42">
              <a:extLst>
                <a:ext uri="{FF2B5EF4-FFF2-40B4-BE49-F238E27FC236}">
                  <a16:creationId xmlns:a16="http://schemas.microsoft.com/office/drawing/2014/main" id="{49E190DF-2244-432C-9AFD-04A8E3680D1A}"/>
                </a:ext>
              </a:extLst>
            </p:cNvPr>
            <p:cNvSpPr>
              <a:spLocks noChangeShapeType="1"/>
            </p:cNvSpPr>
            <p:nvPr/>
          </p:nvSpPr>
          <p:spPr bwMode="auto">
            <a:xfrm flipH="1">
              <a:off x="240" y="2352"/>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0539" name="Text Box 43">
              <a:extLst>
                <a:ext uri="{FF2B5EF4-FFF2-40B4-BE49-F238E27FC236}">
                  <a16:creationId xmlns:a16="http://schemas.microsoft.com/office/drawing/2014/main" id="{628811B7-8E14-4D32-A2F9-92E39C9AC115}"/>
                </a:ext>
              </a:extLst>
            </p:cNvPr>
            <p:cNvSpPr txBox="1">
              <a:spLocks noChangeArrowheads="1"/>
            </p:cNvSpPr>
            <p:nvPr/>
          </p:nvSpPr>
          <p:spPr bwMode="auto">
            <a:xfrm>
              <a:off x="816" y="1968"/>
              <a:ext cx="67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A4</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ru-RU" altLang="ru-RU" sz="20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210x297</a:t>
              </a:r>
            </a:p>
          </p:txBody>
        </p:sp>
      </p:grpSp>
      <p:graphicFrame>
        <p:nvGraphicFramePr>
          <p:cNvPr id="160888" name="Group 120">
            <a:extLst>
              <a:ext uri="{FF2B5EF4-FFF2-40B4-BE49-F238E27FC236}">
                <a16:creationId xmlns:a16="http://schemas.microsoft.com/office/drawing/2014/main" id="{8552023E-4746-4ABD-8E3C-A4301F1C78BF}"/>
              </a:ext>
            </a:extLst>
          </p:cNvPr>
          <p:cNvGraphicFramePr>
            <a:graphicFrameLocks noGrp="1"/>
          </p:cNvGraphicFramePr>
          <p:nvPr/>
        </p:nvGraphicFramePr>
        <p:xfrm>
          <a:off x="6096000" y="3810000"/>
          <a:ext cx="2743200" cy="2795590"/>
        </p:xfrm>
        <a:graphic>
          <a:graphicData uri="http://schemas.openxmlformats.org/drawingml/2006/table">
            <a:tbl>
              <a:tblPr/>
              <a:tblGrid>
                <a:gridCol w="1112838">
                  <a:extLst>
                    <a:ext uri="{9D8B030D-6E8A-4147-A177-3AD203B41FA5}">
                      <a16:colId xmlns:a16="http://schemas.microsoft.com/office/drawing/2014/main" val="20000"/>
                    </a:ext>
                  </a:extLst>
                </a:gridCol>
                <a:gridCol w="1630362">
                  <a:extLst>
                    <a:ext uri="{9D8B030D-6E8A-4147-A177-3AD203B41FA5}">
                      <a16:colId xmlns:a16="http://schemas.microsoft.com/office/drawing/2014/main" val="20001"/>
                    </a:ext>
                  </a:extLst>
                </a:gridCol>
              </a:tblGrid>
              <a:tr h="3810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600" b="1" i="0" u="none" strike="noStrike" cap="none" normalizeH="0" baseline="0">
                          <a:ln>
                            <a:noFill/>
                          </a:ln>
                          <a:solidFill>
                            <a:schemeClr val="tx1"/>
                          </a:solidFill>
                          <a:effectLst>
                            <a:outerShdw blurRad="38100" dist="38100" dir="2700000" algn="tl">
                              <a:srgbClr val="FFFFFF"/>
                            </a:outerShdw>
                          </a:effectLst>
                          <a:latin typeface="Arial" charset="0"/>
                        </a:rPr>
                        <a:t>Format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600" b="1" i="0" u="none" strike="noStrike" cap="none" normalizeH="0" baseline="0">
                          <a:ln>
                            <a:noFill/>
                          </a:ln>
                          <a:solidFill>
                            <a:schemeClr val="tx1"/>
                          </a:solidFill>
                          <a:effectLst>
                            <a:outerShdw blurRad="38100" dist="38100" dir="2700000" algn="tl">
                              <a:srgbClr val="FFFFFF"/>
                            </a:outerShdw>
                          </a:effectLst>
                          <a:latin typeface="Arial" charset="0"/>
                        </a:rPr>
                        <a:t>Olchamlari (mm)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44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A2</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420х594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44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A3</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297x420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0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A4</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210x297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44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A5</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148x210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44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A6</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105x148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44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A7</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74x105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607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1400" b="1" i="0" u="none" strike="noStrike" cap="none" normalizeH="0" baseline="0">
                          <a:ln>
                            <a:noFill/>
                          </a:ln>
                          <a:solidFill>
                            <a:schemeClr val="tx1"/>
                          </a:solidFill>
                          <a:effectLst>
                            <a:outerShdw blurRad="38100" dist="38100" dir="2700000" algn="tl">
                              <a:srgbClr val="FFFFFF"/>
                            </a:outerShdw>
                          </a:effectLst>
                          <a:latin typeface="Arial" charset="0"/>
                        </a:rPr>
                        <a:t>A8</a:t>
                      </a:r>
                      <a:endParaRPr kumimoji="0" lang="ru-RU" sz="1400" b="1" i="0" u="none" strike="noStrike" cap="none" normalizeH="0" baseline="0">
                        <a:ln>
                          <a:noFill/>
                        </a:ln>
                        <a:solidFill>
                          <a:schemeClr val="tx1"/>
                        </a:solidFill>
                        <a:effectLst>
                          <a:outerShdw blurRad="38100" dist="38100" dir="2700000" algn="tl">
                            <a:srgbClr val="FFFFFF"/>
                          </a:outerShdw>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1400" b="0" i="0" u="none" strike="noStrike" cap="none" normalizeH="0" baseline="0">
                          <a:ln>
                            <a:noFill/>
                          </a:ln>
                          <a:solidFill>
                            <a:schemeClr val="tx1"/>
                          </a:solidFill>
                          <a:effectLst/>
                          <a:latin typeface="Arial" charset="0"/>
                        </a:rPr>
                        <a:t>52x74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773"/>
                                        </p:tgtEl>
                                        <p:attrNameLst>
                                          <p:attrName>style.visibility</p:attrName>
                                        </p:attrNameLst>
                                      </p:cBhvr>
                                      <p:to>
                                        <p:strVal val="visible"/>
                                      </p:to>
                                    </p:set>
                                    <p:animEffect transition="in" filter="dissolve">
                                      <p:cBhvr>
                                        <p:cTn id="7" dur="500"/>
                                        <p:tgtEl>
                                          <p:spTgt spid="160773"/>
                                        </p:tgtEl>
                                      </p:cBhvr>
                                    </p:animEffect>
                                  </p:childTnLst>
                                </p:cTn>
                              </p:par>
                              <p:par>
                                <p:cTn id="8" presetID="9" presetClass="entr" presetSubtype="0" fill="hold" nodeType="withEffect">
                                  <p:stCondLst>
                                    <p:cond delay="0"/>
                                  </p:stCondLst>
                                  <p:childTnLst>
                                    <p:set>
                                      <p:cBhvr>
                                        <p:cTn id="9" dur="1" fill="hold">
                                          <p:stCondLst>
                                            <p:cond delay="0"/>
                                          </p:stCondLst>
                                        </p:cTn>
                                        <p:tgtEl>
                                          <p:spTgt spid="160775"/>
                                        </p:tgtEl>
                                        <p:attrNameLst>
                                          <p:attrName>style.visibility</p:attrName>
                                        </p:attrNameLst>
                                      </p:cBhvr>
                                      <p:to>
                                        <p:strVal val="visible"/>
                                      </p:to>
                                    </p:set>
                                    <p:animEffect transition="in" filter="dissolve">
                                      <p:cBhvr>
                                        <p:cTn id="10" dur="500"/>
                                        <p:tgtEl>
                                          <p:spTgt spid="16077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60780"/>
                                        </p:tgtEl>
                                        <p:attrNameLst>
                                          <p:attrName>style.visibility</p:attrName>
                                        </p:attrNameLst>
                                      </p:cBhvr>
                                      <p:to>
                                        <p:strVal val="visible"/>
                                      </p:to>
                                    </p:set>
                                    <p:animEffect transition="in" filter="dissolve">
                                      <p:cBhvr>
                                        <p:cTn id="13" dur="500"/>
                                        <p:tgtEl>
                                          <p:spTgt spid="16078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60791"/>
                                        </p:tgtEl>
                                        <p:attrNameLst>
                                          <p:attrName>style.visibility</p:attrName>
                                        </p:attrNameLst>
                                      </p:cBhvr>
                                      <p:to>
                                        <p:strVal val="visible"/>
                                      </p:to>
                                    </p:set>
                                    <p:animEffect transition="in" filter="dissolve">
                                      <p:cBhvr>
                                        <p:cTn id="16" dur="500"/>
                                        <p:tgtEl>
                                          <p:spTgt spid="1607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500"/>
                                        <p:tgtEl>
                                          <p:spTgt spid="2"/>
                                        </p:tgtEl>
                                      </p:cBhvr>
                                    </p:animEffect>
                                  </p:childTnLst>
                                </p:cTn>
                              </p:par>
                            </p:childTnLst>
                          </p:cTn>
                        </p:par>
                        <p:par>
                          <p:cTn id="22" fill="hold" nodeType="afterGroup">
                            <p:stCondLst>
                              <p:cond delay="500"/>
                            </p:stCondLst>
                            <p:childTnLst>
                              <p:par>
                                <p:cTn id="23" presetID="4" presetClass="entr" presetSubtype="32" fill="hold" nodeType="afterEffect">
                                  <p:stCondLst>
                                    <p:cond delay="0"/>
                                  </p:stCondLst>
                                  <p:childTnLst>
                                    <p:set>
                                      <p:cBhvr>
                                        <p:cTn id="24" dur="1" fill="hold">
                                          <p:stCondLst>
                                            <p:cond delay="0"/>
                                          </p:stCondLst>
                                        </p:cTn>
                                        <p:tgtEl>
                                          <p:spTgt spid="160888"/>
                                        </p:tgtEl>
                                        <p:attrNameLst>
                                          <p:attrName>style.visibility</p:attrName>
                                        </p:attrNameLst>
                                      </p:cBhvr>
                                      <p:to>
                                        <p:strVal val="visible"/>
                                      </p:to>
                                    </p:set>
                                    <p:animEffect transition="in" filter="box(out)">
                                      <p:cBhvr>
                                        <p:cTn id="25" dur="500"/>
                                        <p:tgtEl>
                                          <p:spTgt spid="16088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xit" presetSubtype="0" fill="hold" nodeType="clickEffect">
                                  <p:stCondLst>
                                    <p:cond delay="0"/>
                                  </p:stCondLst>
                                  <p:childTnLst>
                                    <p:animEffect transition="out" filter="fade">
                                      <p:cBhvr>
                                        <p:cTn id="29" dur="500"/>
                                        <p:tgtEl>
                                          <p:spTgt spid="2"/>
                                        </p:tgtEl>
                                      </p:cBhvr>
                                    </p:animEffect>
                                    <p:set>
                                      <p:cBhvr>
                                        <p:cTn id="30" dur="1" fill="hold">
                                          <p:stCondLst>
                                            <p:cond delay="499"/>
                                          </p:stCondLst>
                                        </p:cTn>
                                        <p:tgtEl>
                                          <p:spTgt spid="2"/>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2000"/>
                                        <p:tgtEl>
                                          <p:spTgt spid="160888"/>
                                        </p:tgtEl>
                                      </p:cBhvr>
                                    </p:animEffect>
                                    <p:set>
                                      <p:cBhvr>
                                        <p:cTn id="33" dur="1" fill="hold">
                                          <p:stCondLst>
                                            <p:cond delay="1999"/>
                                          </p:stCondLst>
                                        </p:cTn>
                                        <p:tgtEl>
                                          <p:spTgt spid="160888"/>
                                        </p:tgtEl>
                                        <p:attrNameLst>
                                          <p:attrName>style.visibility</p:attrName>
                                        </p:attrNameLst>
                                      </p:cBhvr>
                                      <p:to>
                                        <p:strVal val="hidden"/>
                                      </p:to>
                                    </p:set>
                                  </p:childTnLst>
                                </p:cTn>
                              </p:par>
                            </p:childTnLst>
                          </p:cTn>
                        </p:par>
                        <p:par>
                          <p:cTn id="34" fill="hold" nodeType="afterGroup">
                            <p:stCondLst>
                              <p:cond delay="2000"/>
                            </p:stCondLst>
                            <p:childTnLst>
                              <p:par>
                                <p:cTn id="35" presetID="9" presetClass="entr" presetSubtype="0" fill="hold" grpId="0" nodeType="afterEffect">
                                  <p:stCondLst>
                                    <p:cond delay="0"/>
                                  </p:stCondLst>
                                  <p:childTnLst>
                                    <p:set>
                                      <p:cBhvr>
                                        <p:cTn id="36" dur="1" fill="hold">
                                          <p:stCondLst>
                                            <p:cond delay="0"/>
                                          </p:stCondLst>
                                        </p:cTn>
                                        <p:tgtEl>
                                          <p:spTgt spid="160774"/>
                                        </p:tgtEl>
                                        <p:attrNameLst>
                                          <p:attrName>style.visibility</p:attrName>
                                        </p:attrNameLst>
                                      </p:cBhvr>
                                      <p:to>
                                        <p:strVal val="visible"/>
                                      </p:to>
                                    </p:set>
                                    <p:animEffect transition="in" filter="dissolve">
                                      <p:cBhvr>
                                        <p:cTn id="37" dur="500"/>
                                        <p:tgtEl>
                                          <p:spTgt spid="160774"/>
                                        </p:tgtEl>
                                      </p:cBhvr>
                                    </p:animEffect>
                                  </p:childTnLst>
                                </p:cTn>
                              </p:par>
                              <p:par>
                                <p:cTn id="38" presetID="9" presetClass="entr" presetSubtype="0" fill="hold" nodeType="withEffect">
                                  <p:stCondLst>
                                    <p:cond delay="0"/>
                                  </p:stCondLst>
                                  <p:childTnLst>
                                    <p:set>
                                      <p:cBhvr>
                                        <p:cTn id="39" dur="1" fill="hold">
                                          <p:stCondLst>
                                            <p:cond delay="0"/>
                                          </p:stCondLst>
                                        </p:cTn>
                                        <p:tgtEl>
                                          <p:spTgt spid="160781"/>
                                        </p:tgtEl>
                                        <p:attrNameLst>
                                          <p:attrName>style.visibility</p:attrName>
                                        </p:attrNameLst>
                                      </p:cBhvr>
                                      <p:to>
                                        <p:strVal val="visible"/>
                                      </p:to>
                                    </p:set>
                                    <p:animEffect transition="in" filter="dissolve">
                                      <p:cBhvr>
                                        <p:cTn id="40" dur="500"/>
                                        <p:tgtEl>
                                          <p:spTgt spid="16078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60782"/>
                                        </p:tgtEl>
                                        <p:attrNameLst>
                                          <p:attrName>style.visibility</p:attrName>
                                        </p:attrNameLst>
                                      </p:cBhvr>
                                      <p:to>
                                        <p:strVal val="visible"/>
                                      </p:to>
                                    </p:set>
                                    <p:animEffect transition="in" filter="dissolve">
                                      <p:cBhvr>
                                        <p:cTn id="43" dur="500"/>
                                        <p:tgtEl>
                                          <p:spTgt spid="160782"/>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60792"/>
                                        </p:tgtEl>
                                        <p:attrNameLst>
                                          <p:attrName>style.visibility</p:attrName>
                                        </p:attrNameLst>
                                      </p:cBhvr>
                                      <p:to>
                                        <p:strVal val="visible"/>
                                      </p:to>
                                    </p:set>
                                    <p:animEffect transition="in" filter="dissolve">
                                      <p:cBhvr>
                                        <p:cTn id="46" dur="500"/>
                                        <p:tgtEl>
                                          <p:spTgt spid="16079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160778"/>
                                        </p:tgtEl>
                                        <p:attrNameLst>
                                          <p:attrName>style.visibility</p:attrName>
                                        </p:attrNameLst>
                                      </p:cBhvr>
                                      <p:to>
                                        <p:strVal val="visible"/>
                                      </p:to>
                                    </p:set>
                                    <p:animEffect transition="in" filter="dissolve">
                                      <p:cBhvr>
                                        <p:cTn id="51" dur="500"/>
                                        <p:tgtEl>
                                          <p:spTgt spid="160778"/>
                                        </p:tgtEl>
                                      </p:cBhvr>
                                    </p:animEffect>
                                  </p:childTnLst>
                                </p:cTn>
                              </p:par>
                              <p:par>
                                <p:cTn id="52" presetID="9" presetClass="entr" presetSubtype="0" fill="hold" nodeType="withEffect">
                                  <p:stCondLst>
                                    <p:cond delay="0"/>
                                  </p:stCondLst>
                                  <p:childTnLst>
                                    <p:set>
                                      <p:cBhvr>
                                        <p:cTn id="53" dur="1" fill="hold">
                                          <p:stCondLst>
                                            <p:cond delay="0"/>
                                          </p:stCondLst>
                                        </p:cTn>
                                        <p:tgtEl>
                                          <p:spTgt spid="160779"/>
                                        </p:tgtEl>
                                        <p:attrNameLst>
                                          <p:attrName>style.visibility</p:attrName>
                                        </p:attrNameLst>
                                      </p:cBhvr>
                                      <p:to>
                                        <p:strVal val="visible"/>
                                      </p:to>
                                    </p:set>
                                    <p:animEffect transition="in" filter="dissolve">
                                      <p:cBhvr>
                                        <p:cTn id="54" dur="500"/>
                                        <p:tgtEl>
                                          <p:spTgt spid="160779"/>
                                        </p:tgtEl>
                                      </p:cBhvr>
                                    </p:animEffect>
                                  </p:childTnLst>
                                </p:cTn>
                              </p:par>
                              <p:par>
                                <p:cTn id="55" presetID="9" presetClass="entr" presetSubtype="0" fill="hold" nodeType="withEffect">
                                  <p:stCondLst>
                                    <p:cond delay="0"/>
                                  </p:stCondLst>
                                  <p:childTnLst>
                                    <p:set>
                                      <p:cBhvr>
                                        <p:cTn id="56" dur="1" fill="hold">
                                          <p:stCondLst>
                                            <p:cond delay="0"/>
                                          </p:stCondLst>
                                        </p:cTn>
                                        <p:tgtEl>
                                          <p:spTgt spid="160776"/>
                                        </p:tgtEl>
                                        <p:attrNameLst>
                                          <p:attrName>style.visibility</p:attrName>
                                        </p:attrNameLst>
                                      </p:cBhvr>
                                      <p:to>
                                        <p:strVal val="visible"/>
                                      </p:to>
                                    </p:set>
                                    <p:animEffect transition="in" filter="dissolve">
                                      <p:cBhvr>
                                        <p:cTn id="57" dur="500"/>
                                        <p:tgtEl>
                                          <p:spTgt spid="160776"/>
                                        </p:tgtEl>
                                      </p:cBhvr>
                                    </p:animEffect>
                                  </p:childTnLst>
                                </p:cTn>
                              </p:par>
                              <p:par>
                                <p:cTn id="58" presetID="9" presetClass="entr" presetSubtype="0" fill="hold" nodeType="withEffect">
                                  <p:stCondLst>
                                    <p:cond delay="0"/>
                                  </p:stCondLst>
                                  <p:childTnLst>
                                    <p:set>
                                      <p:cBhvr>
                                        <p:cTn id="59" dur="1" fill="hold">
                                          <p:stCondLst>
                                            <p:cond delay="0"/>
                                          </p:stCondLst>
                                        </p:cTn>
                                        <p:tgtEl>
                                          <p:spTgt spid="160777"/>
                                        </p:tgtEl>
                                        <p:attrNameLst>
                                          <p:attrName>style.visibility</p:attrName>
                                        </p:attrNameLst>
                                      </p:cBhvr>
                                      <p:to>
                                        <p:strVal val="visible"/>
                                      </p:to>
                                    </p:set>
                                    <p:animEffect transition="in" filter="dissolve">
                                      <p:cBhvr>
                                        <p:cTn id="60" dur="500"/>
                                        <p:tgtEl>
                                          <p:spTgt spid="160777"/>
                                        </p:tgtEl>
                                      </p:cBhvr>
                                    </p:animEffect>
                                  </p:childTnLst>
                                </p:cTn>
                              </p:par>
                              <p:par>
                                <p:cTn id="61" presetID="9" presetClass="entr" presetSubtype="0" fill="hold" nodeType="withEffect">
                                  <p:stCondLst>
                                    <p:cond delay="0"/>
                                  </p:stCondLst>
                                  <p:childTnLst>
                                    <p:set>
                                      <p:cBhvr>
                                        <p:cTn id="62" dur="1" fill="hold">
                                          <p:stCondLst>
                                            <p:cond delay="0"/>
                                          </p:stCondLst>
                                        </p:cTn>
                                        <p:tgtEl>
                                          <p:spTgt spid="160783"/>
                                        </p:tgtEl>
                                        <p:attrNameLst>
                                          <p:attrName>style.visibility</p:attrName>
                                        </p:attrNameLst>
                                      </p:cBhvr>
                                      <p:to>
                                        <p:strVal val="visible"/>
                                      </p:to>
                                    </p:set>
                                    <p:animEffect transition="in" filter="dissolve">
                                      <p:cBhvr>
                                        <p:cTn id="63" dur="500"/>
                                        <p:tgtEl>
                                          <p:spTgt spid="160783"/>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160784"/>
                                        </p:tgtEl>
                                        <p:attrNameLst>
                                          <p:attrName>style.visibility</p:attrName>
                                        </p:attrNameLst>
                                      </p:cBhvr>
                                      <p:to>
                                        <p:strVal val="visible"/>
                                      </p:to>
                                    </p:set>
                                    <p:animEffect transition="in" filter="dissolve">
                                      <p:cBhvr>
                                        <p:cTn id="66" dur="500"/>
                                        <p:tgtEl>
                                          <p:spTgt spid="160784"/>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160785"/>
                                        </p:tgtEl>
                                        <p:attrNameLst>
                                          <p:attrName>style.visibility</p:attrName>
                                        </p:attrNameLst>
                                      </p:cBhvr>
                                      <p:to>
                                        <p:strVal val="visible"/>
                                      </p:to>
                                    </p:set>
                                    <p:animEffect transition="in" filter="dissolve">
                                      <p:cBhvr>
                                        <p:cTn id="69" dur="500"/>
                                        <p:tgtEl>
                                          <p:spTgt spid="16078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160787"/>
                                        </p:tgtEl>
                                        <p:attrNameLst>
                                          <p:attrName>style.visibility</p:attrName>
                                        </p:attrNameLst>
                                      </p:cBhvr>
                                      <p:to>
                                        <p:strVal val="visible"/>
                                      </p:to>
                                    </p:set>
                                    <p:animEffect transition="in" filter="dissolve">
                                      <p:cBhvr>
                                        <p:cTn id="74" dur="500"/>
                                        <p:tgtEl>
                                          <p:spTgt spid="160787"/>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160786"/>
                                        </p:tgtEl>
                                        <p:attrNameLst>
                                          <p:attrName>style.visibility</p:attrName>
                                        </p:attrNameLst>
                                      </p:cBhvr>
                                      <p:to>
                                        <p:strVal val="visible"/>
                                      </p:to>
                                    </p:set>
                                    <p:animEffect transition="in" filter="dissolve">
                                      <p:cBhvr>
                                        <p:cTn id="77" dur="500"/>
                                        <p:tgtEl>
                                          <p:spTgt spid="160786"/>
                                        </p:tgtEl>
                                      </p:cBhvr>
                                    </p:animEffect>
                                  </p:childTnLst>
                                </p:cTn>
                              </p:par>
                              <p:par>
                                <p:cTn id="78" presetID="9" presetClass="entr" presetSubtype="0" fill="hold" nodeType="withEffect">
                                  <p:stCondLst>
                                    <p:cond delay="0"/>
                                  </p:stCondLst>
                                  <p:childTnLst>
                                    <p:set>
                                      <p:cBhvr>
                                        <p:cTn id="79" dur="1" fill="hold">
                                          <p:stCondLst>
                                            <p:cond delay="0"/>
                                          </p:stCondLst>
                                        </p:cTn>
                                        <p:tgtEl>
                                          <p:spTgt spid="160789"/>
                                        </p:tgtEl>
                                        <p:attrNameLst>
                                          <p:attrName>style.visibility</p:attrName>
                                        </p:attrNameLst>
                                      </p:cBhvr>
                                      <p:to>
                                        <p:strVal val="visible"/>
                                      </p:to>
                                    </p:set>
                                    <p:animEffect transition="in" filter="dissolve">
                                      <p:cBhvr>
                                        <p:cTn id="80" dur="500"/>
                                        <p:tgtEl>
                                          <p:spTgt spid="160789"/>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60790"/>
                                        </p:tgtEl>
                                        <p:attrNameLst>
                                          <p:attrName>style.visibility</p:attrName>
                                        </p:attrNameLst>
                                      </p:cBhvr>
                                      <p:to>
                                        <p:strVal val="visible"/>
                                      </p:to>
                                    </p:set>
                                    <p:animEffect transition="in" filter="dissolve">
                                      <p:cBhvr>
                                        <p:cTn id="83" dur="500"/>
                                        <p:tgtEl>
                                          <p:spTgt spid="160790"/>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160788"/>
                                        </p:tgtEl>
                                        <p:attrNameLst>
                                          <p:attrName>style.visibility</p:attrName>
                                        </p:attrNameLst>
                                      </p:cBhvr>
                                      <p:to>
                                        <p:strVal val="visible"/>
                                      </p:to>
                                    </p:set>
                                    <p:animEffect transition="in" filter="dissolve">
                                      <p:cBhvr>
                                        <p:cTn id="86" dur="500"/>
                                        <p:tgtEl>
                                          <p:spTgt spid="160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animBg="1"/>
      <p:bldP spid="160774" grpId="0" animBg="1"/>
      <p:bldP spid="160780" grpId="0"/>
      <p:bldP spid="160782" grpId="0"/>
      <p:bldP spid="160784" grpId="0"/>
      <p:bldP spid="160785" grpId="0"/>
      <p:bldP spid="160786" grpId="0" animBg="1"/>
      <p:bldP spid="160787" grpId="0" animBg="1"/>
      <p:bldP spid="160788" grpId="0"/>
      <p:bldP spid="160790" grpId="0"/>
      <p:bldP spid="160791" grpId="0"/>
      <p:bldP spid="16079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3C733C4C-B8F3-4AC0-AE24-8012E39BF91A}"/>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Sahifa yo'nalishi</a:t>
            </a:r>
          </a:p>
        </p:txBody>
      </p:sp>
      <p:grpSp>
        <p:nvGrpSpPr>
          <p:cNvPr id="2" name="Group 3">
            <a:extLst>
              <a:ext uri="{FF2B5EF4-FFF2-40B4-BE49-F238E27FC236}">
                <a16:creationId xmlns:a16="http://schemas.microsoft.com/office/drawing/2014/main" id="{12612281-CC24-4451-9470-053C93920007}"/>
              </a:ext>
            </a:extLst>
          </p:cNvPr>
          <p:cNvGrpSpPr>
            <a:grpSpLocks/>
          </p:cNvGrpSpPr>
          <p:nvPr/>
        </p:nvGrpSpPr>
        <p:grpSpPr bwMode="auto">
          <a:xfrm>
            <a:off x="1547813" y="2781300"/>
            <a:ext cx="2232025" cy="2951163"/>
            <a:chOff x="975" y="1752"/>
            <a:chExt cx="1406" cy="1859"/>
          </a:xfrm>
        </p:grpSpPr>
        <p:sp>
          <p:nvSpPr>
            <p:cNvPr id="21512" name="Rectangle 4">
              <a:extLst>
                <a:ext uri="{FF2B5EF4-FFF2-40B4-BE49-F238E27FC236}">
                  <a16:creationId xmlns:a16="http://schemas.microsoft.com/office/drawing/2014/main" id="{FA94E225-54A7-4654-90F2-B5A28366DFA1}"/>
                </a:ext>
              </a:extLst>
            </p:cNvPr>
            <p:cNvSpPr>
              <a:spLocks noChangeArrowheads="1"/>
            </p:cNvSpPr>
            <p:nvPr/>
          </p:nvSpPr>
          <p:spPr bwMode="auto">
            <a:xfrm>
              <a:off x="975" y="1752"/>
              <a:ext cx="1406" cy="1859"/>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21513" name="Text Box 5">
              <a:extLst>
                <a:ext uri="{FF2B5EF4-FFF2-40B4-BE49-F238E27FC236}">
                  <a16:creationId xmlns:a16="http://schemas.microsoft.com/office/drawing/2014/main" id="{34B0E6DE-41DC-46B8-BCE1-2B1F50CA7741}"/>
                </a:ext>
              </a:extLst>
            </p:cNvPr>
            <p:cNvSpPr txBox="1">
              <a:spLocks noChangeArrowheads="1"/>
            </p:cNvSpPr>
            <p:nvPr/>
          </p:nvSpPr>
          <p:spPr bwMode="auto">
            <a:xfrm>
              <a:off x="1202" y="2024"/>
              <a:ext cx="908" cy="1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Kitob</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grpSp>
        <p:nvGrpSpPr>
          <p:cNvPr id="3" name="Group 6">
            <a:extLst>
              <a:ext uri="{FF2B5EF4-FFF2-40B4-BE49-F238E27FC236}">
                <a16:creationId xmlns:a16="http://schemas.microsoft.com/office/drawing/2014/main" id="{9CBA5459-A906-4D4A-8CEE-70F23A840CE5}"/>
              </a:ext>
            </a:extLst>
          </p:cNvPr>
          <p:cNvGrpSpPr>
            <a:grpSpLocks/>
          </p:cNvGrpSpPr>
          <p:nvPr/>
        </p:nvGrpSpPr>
        <p:grpSpPr bwMode="auto">
          <a:xfrm>
            <a:off x="4859338" y="3068638"/>
            <a:ext cx="2951162" cy="2232025"/>
            <a:chOff x="3061" y="1933"/>
            <a:chExt cx="1859" cy="1406"/>
          </a:xfrm>
        </p:grpSpPr>
        <p:sp>
          <p:nvSpPr>
            <p:cNvPr id="21510" name="Rectangle 7">
              <a:extLst>
                <a:ext uri="{FF2B5EF4-FFF2-40B4-BE49-F238E27FC236}">
                  <a16:creationId xmlns:a16="http://schemas.microsoft.com/office/drawing/2014/main" id="{C572E798-6550-496D-99A3-E4D68E9ADF80}"/>
                </a:ext>
              </a:extLst>
            </p:cNvPr>
            <p:cNvSpPr>
              <a:spLocks noChangeArrowheads="1"/>
            </p:cNvSpPr>
            <p:nvPr/>
          </p:nvSpPr>
          <p:spPr bwMode="auto">
            <a:xfrm rot="-5400000">
              <a:off x="3288" y="1706"/>
              <a:ext cx="1406" cy="1859"/>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21511" name="Text Box 8">
              <a:extLst>
                <a:ext uri="{FF2B5EF4-FFF2-40B4-BE49-F238E27FC236}">
                  <a16:creationId xmlns:a16="http://schemas.microsoft.com/office/drawing/2014/main" id="{B71F836D-82D1-4CBA-9C5A-9633C0655A54}"/>
                </a:ext>
              </a:extLst>
            </p:cNvPr>
            <p:cNvSpPr txBox="1">
              <a:spLocks noChangeArrowheads="1"/>
            </p:cNvSpPr>
            <p:nvPr/>
          </p:nvSpPr>
          <p:spPr bwMode="auto">
            <a:xfrm>
              <a:off x="3243" y="2341"/>
              <a:ext cx="1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Landshaft</a:t>
              </a:r>
            </a:p>
          </p:txBody>
        </p:sp>
      </p:grpSp>
      <p:sp>
        <p:nvSpPr>
          <p:cNvPr id="153609" name="Text Box 9">
            <a:extLst>
              <a:ext uri="{FF2B5EF4-FFF2-40B4-BE49-F238E27FC236}">
                <a16:creationId xmlns:a16="http://schemas.microsoft.com/office/drawing/2014/main" id="{FC88E288-6E57-4BE5-9D33-B2227E00063D}"/>
              </a:ext>
            </a:extLst>
          </p:cNvPr>
          <p:cNvSpPr txBox="1">
            <a:spLocks noChangeArrowheads="1"/>
          </p:cNvSpPr>
          <p:nvPr/>
        </p:nvSpPr>
        <p:spPr bwMode="auto">
          <a:xfrm>
            <a:off x="1187450" y="1628775"/>
            <a:ext cx="7127875" cy="457200"/>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Yo'nalish-bu sahifaning yo'nalishi</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09"/>
                                        </p:tgtEl>
                                        <p:attrNameLst>
                                          <p:attrName>style.visibility</p:attrName>
                                        </p:attrNameLst>
                                      </p:cBhvr>
                                      <p:to>
                                        <p:strVal val="visible"/>
                                      </p:to>
                                    </p:set>
                                    <p:animEffect transition="in" filter="dissolve">
                                      <p:cBhvr>
                                        <p:cTn id="7" dur="500"/>
                                        <p:tgtEl>
                                          <p:spTgt spid="1536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A5F0F188-8F6A-41E6-AE11-9DDE5F9B41E8}"/>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Maydonlar</a:t>
            </a:r>
          </a:p>
        </p:txBody>
      </p:sp>
      <p:grpSp>
        <p:nvGrpSpPr>
          <p:cNvPr id="22531" name="Group 3">
            <a:extLst>
              <a:ext uri="{FF2B5EF4-FFF2-40B4-BE49-F238E27FC236}">
                <a16:creationId xmlns:a16="http://schemas.microsoft.com/office/drawing/2014/main" id="{4A4A2781-FD78-4EBB-9402-38C442687ACC}"/>
              </a:ext>
            </a:extLst>
          </p:cNvPr>
          <p:cNvGrpSpPr>
            <a:grpSpLocks/>
          </p:cNvGrpSpPr>
          <p:nvPr/>
        </p:nvGrpSpPr>
        <p:grpSpPr bwMode="auto">
          <a:xfrm>
            <a:off x="1331913" y="2420938"/>
            <a:ext cx="3194050" cy="3887787"/>
            <a:chOff x="1837" y="1253"/>
            <a:chExt cx="2012" cy="2540"/>
          </a:xfrm>
        </p:grpSpPr>
        <p:sp>
          <p:nvSpPr>
            <p:cNvPr id="22534" name="Rectangle 4">
              <a:extLst>
                <a:ext uri="{FF2B5EF4-FFF2-40B4-BE49-F238E27FC236}">
                  <a16:creationId xmlns:a16="http://schemas.microsoft.com/office/drawing/2014/main" id="{FAF25E97-B63B-479F-8C54-A495A7E2C71E}"/>
                </a:ext>
              </a:extLst>
            </p:cNvPr>
            <p:cNvSpPr>
              <a:spLocks noChangeArrowheads="1"/>
            </p:cNvSpPr>
            <p:nvPr/>
          </p:nvSpPr>
          <p:spPr bwMode="auto">
            <a:xfrm>
              <a:off x="1837" y="1253"/>
              <a:ext cx="1996" cy="254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grpSp>
          <p:nvGrpSpPr>
            <p:cNvPr id="22535" name="Group 5">
              <a:extLst>
                <a:ext uri="{FF2B5EF4-FFF2-40B4-BE49-F238E27FC236}">
                  <a16:creationId xmlns:a16="http://schemas.microsoft.com/office/drawing/2014/main" id="{E95D18F2-1C4A-452C-85C6-0066557B4A29}"/>
                </a:ext>
              </a:extLst>
            </p:cNvPr>
            <p:cNvGrpSpPr>
              <a:grpSpLocks/>
            </p:cNvGrpSpPr>
            <p:nvPr/>
          </p:nvGrpSpPr>
          <p:grpSpPr bwMode="auto">
            <a:xfrm>
              <a:off x="2244" y="1525"/>
              <a:ext cx="1362" cy="272"/>
              <a:chOff x="2244" y="1525"/>
              <a:chExt cx="1362" cy="272"/>
            </a:xfrm>
          </p:grpSpPr>
          <p:sp>
            <p:nvSpPr>
              <p:cNvPr id="22560" name="Line 6">
                <a:extLst>
                  <a:ext uri="{FF2B5EF4-FFF2-40B4-BE49-F238E27FC236}">
                    <a16:creationId xmlns:a16="http://schemas.microsoft.com/office/drawing/2014/main" id="{06F1A68B-0F58-4564-8244-044266B044EE}"/>
                  </a:ext>
                </a:extLst>
              </p:cNvPr>
              <p:cNvSpPr>
                <a:spLocks noChangeShapeType="1"/>
              </p:cNvSpPr>
              <p:nvPr/>
            </p:nvSpPr>
            <p:spPr bwMode="auto">
              <a:xfrm>
                <a:off x="2472" y="1525"/>
                <a:ext cx="1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61" name="Line 7">
                <a:extLst>
                  <a:ext uri="{FF2B5EF4-FFF2-40B4-BE49-F238E27FC236}">
                    <a16:creationId xmlns:a16="http://schemas.microsoft.com/office/drawing/2014/main" id="{6F2805B4-A7A0-49E5-A4EC-7DE79EDBD59D}"/>
                  </a:ext>
                </a:extLst>
              </p:cNvPr>
              <p:cNvSpPr>
                <a:spLocks noChangeShapeType="1"/>
              </p:cNvSpPr>
              <p:nvPr/>
            </p:nvSpPr>
            <p:spPr bwMode="auto">
              <a:xfrm>
                <a:off x="2244" y="161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62" name="Line 8">
                <a:extLst>
                  <a:ext uri="{FF2B5EF4-FFF2-40B4-BE49-F238E27FC236}">
                    <a16:creationId xmlns:a16="http://schemas.microsoft.com/office/drawing/2014/main" id="{2A401586-1560-4553-B45E-047587A1FA77}"/>
                  </a:ext>
                </a:extLst>
              </p:cNvPr>
              <p:cNvSpPr>
                <a:spLocks noChangeShapeType="1"/>
              </p:cNvSpPr>
              <p:nvPr/>
            </p:nvSpPr>
            <p:spPr bwMode="auto">
              <a:xfrm>
                <a:off x="2244" y="170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63" name="Line 9">
                <a:extLst>
                  <a:ext uri="{FF2B5EF4-FFF2-40B4-BE49-F238E27FC236}">
                    <a16:creationId xmlns:a16="http://schemas.microsoft.com/office/drawing/2014/main" id="{C4EBBA32-914A-4CF0-B624-B9EA0C26ECBF}"/>
                  </a:ext>
                </a:extLst>
              </p:cNvPr>
              <p:cNvSpPr>
                <a:spLocks noChangeShapeType="1"/>
              </p:cNvSpPr>
              <p:nvPr/>
            </p:nvSpPr>
            <p:spPr bwMode="auto">
              <a:xfrm>
                <a:off x="2245" y="1797"/>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22536" name="Group 10">
              <a:extLst>
                <a:ext uri="{FF2B5EF4-FFF2-40B4-BE49-F238E27FC236}">
                  <a16:creationId xmlns:a16="http://schemas.microsoft.com/office/drawing/2014/main" id="{89C400B3-C291-492B-9849-210713E4FE7D}"/>
                </a:ext>
              </a:extLst>
            </p:cNvPr>
            <p:cNvGrpSpPr>
              <a:grpSpLocks/>
            </p:cNvGrpSpPr>
            <p:nvPr/>
          </p:nvGrpSpPr>
          <p:grpSpPr bwMode="auto">
            <a:xfrm>
              <a:off x="2245" y="1933"/>
              <a:ext cx="1362" cy="272"/>
              <a:chOff x="2244" y="1525"/>
              <a:chExt cx="1362" cy="272"/>
            </a:xfrm>
          </p:grpSpPr>
          <p:sp>
            <p:nvSpPr>
              <p:cNvPr id="22556" name="Line 11">
                <a:extLst>
                  <a:ext uri="{FF2B5EF4-FFF2-40B4-BE49-F238E27FC236}">
                    <a16:creationId xmlns:a16="http://schemas.microsoft.com/office/drawing/2014/main" id="{05F5256F-FD46-4C1B-804C-A31959A5A53C}"/>
                  </a:ext>
                </a:extLst>
              </p:cNvPr>
              <p:cNvSpPr>
                <a:spLocks noChangeShapeType="1"/>
              </p:cNvSpPr>
              <p:nvPr/>
            </p:nvSpPr>
            <p:spPr bwMode="auto">
              <a:xfrm>
                <a:off x="2472" y="1525"/>
                <a:ext cx="1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7" name="Line 12">
                <a:extLst>
                  <a:ext uri="{FF2B5EF4-FFF2-40B4-BE49-F238E27FC236}">
                    <a16:creationId xmlns:a16="http://schemas.microsoft.com/office/drawing/2014/main" id="{0175C120-C296-4A6B-8D77-103F5D81F639}"/>
                  </a:ext>
                </a:extLst>
              </p:cNvPr>
              <p:cNvSpPr>
                <a:spLocks noChangeShapeType="1"/>
              </p:cNvSpPr>
              <p:nvPr/>
            </p:nvSpPr>
            <p:spPr bwMode="auto">
              <a:xfrm>
                <a:off x="2244" y="161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8" name="Line 13">
                <a:extLst>
                  <a:ext uri="{FF2B5EF4-FFF2-40B4-BE49-F238E27FC236}">
                    <a16:creationId xmlns:a16="http://schemas.microsoft.com/office/drawing/2014/main" id="{F72658AE-7E35-4157-A83E-6AC744395108}"/>
                  </a:ext>
                </a:extLst>
              </p:cNvPr>
              <p:cNvSpPr>
                <a:spLocks noChangeShapeType="1"/>
              </p:cNvSpPr>
              <p:nvPr/>
            </p:nvSpPr>
            <p:spPr bwMode="auto">
              <a:xfrm>
                <a:off x="2244" y="170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9" name="Line 14">
                <a:extLst>
                  <a:ext uri="{FF2B5EF4-FFF2-40B4-BE49-F238E27FC236}">
                    <a16:creationId xmlns:a16="http://schemas.microsoft.com/office/drawing/2014/main" id="{BA1DB1F7-7D2E-4500-B3AA-5309CAE71666}"/>
                  </a:ext>
                </a:extLst>
              </p:cNvPr>
              <p:cNvSpPr>
                <a:spLocks noChangeShapeType="1"/>
              </p:cNvSpPr>
              <p:nvPr/>
            </p:nvSpPr>
            <p:spPr bwMode="auto">
              <a:xfrm>
                <a:off x="2245" y="1797"/>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22537" name="Group 15">
              <a:extLst>
                <a:ext uri="{FF2B5EF4-FFF2-40B4-BE49-F238E27FC236}">
                  <a16:creationId xmlns:a16="http://schemas.microsoft.com/office/drawing/2014/main" id="{FCE5160E-5263-4133-BA23-583B7AF5D7C7}"/>
                </a:ext>
              </a:extLst>
            </p:cNvPr>
            <p:cNvGrpSpPr>
              <a:grpSpLocks/>
            </p:cNvGrpSpPr>
            <p:nvPr/>
          </p:nvGrpSpPr>
          <p:grpSpPr bwMode="auto">
            <a:xfrm>
              <a:off x="2245" y="2296"/>
              <a:ext cx="1362" cy="272"/>
              <a:chOff x="2244" y="1525"/>
              <a:chExt cx="1362" cy="272"/>
            </a:xfrm>
          </p:grpSpPr>
          <p:sp>
            <p:nvSpPr>
              <p:cNvPr id="22552" name="Line 16">
                <a:extLst>
                  <a:ext uri="{FF2B5EF4-FFF2-40B4-BE49-F238E27FC236}">
                    <a16:creationId xmlns:a16="http://schemas.microsoft.com/office/drawing/2014/main" id="{5B7836EE-E3AB-4AD3-AEF8-E6C8BBE428F8}"/>
                  </a:ext>
                </a:extLst>
              </p:cNvPr>
              <p:cNvSpPr>
                <a:spLocks noChangeShapeType="1"/>
              </p:cNvSpPr>
              <p:nvPr/>
            </p:nvSpPr>
            <p:spPr bwMode="auto">
              <a:xfrm>
                <a:off x="2472" y="1525"/>
                <a:ext cx="1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3" name="Line 17">
                <a:extLst>
                  <a:ext uri="{FF2B5EF4-FFF2-40B4-BE49-F238E27FC236}">
                    <a16:creationId xmlns:a16="http://schemas.microsoft.com/office/drawing/2014/main" id="{1E497EBF-4240-4C3F-AD43-801A49A51B20}"/>
                  </a:ext>
                </a:extLst>
              </p:cNvPr>
              <p:cNvSpPr>
                <a:spLocks noChangeShapeType="1"/>
              </p:cNvSpPr>
              <p:nvPr/>
            </p:nvSpPr>
            <p:spPr bwMode="auto">
              <a:xfrm>
                <a:off x="2244" y="161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4" name="Line 18">
                <a:extLst>
                  <a:ext uri="{FF2B5EF4-FFF2-40B4-BE49-F238E27FC236}">
                    <a16:creationId xmlns:a16="http://schemas.microsoft.com/office/drawing/2014/main" id="{B42819F7-3ED0-4739-89CD-87C18068196A}"/>
                  </a:ext>
                </a:extLst>
              </p:cNvPr>
              <p:cNvSpPr>
                <a:spLocks noChangeShapeType="1"/>
              </p:cNvSpPr>
              <p:nvPr/>
            </p:nvSpPr>
            <p:spPr bwMode="auto">
              <a:xfrm>
                <a:off x="2244" y="170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5" name="Line 19">
                <a:extLst>
                  <a:ext uri="{FF2B5EF4-FFF2-40B4-BE49-F238E27FC236}">
                    <a16:creationId xmlns:a16="http://schemas.microsoft.com/office/drawing/2014/main" id="{884F461C-9388-41A3-AC20-96CC5BDC1D35}"/>
                  </a:ext>
                </a:extLst>
              </p:cNvPr>
              <p:cNvSpPr>
                <a:spLocks noChangeShapeType="1"/>
              </p:cNvSpPr>
              <p:nvPr/>
            </p:nvSpPr>
            <p:spPr bwMode="auto">
              <a:xfrm>
                <a:off x="2245" y="1797"/>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22538" name="Group 20">
              <a:extLst>
                <a:ext uri="{FF2B5EF4-FFF2-40B4-BE49-F238E27FC236}">
                  <a16:creationId xmlns:a16="http://schemas.microsoft.com/office/drawing/2014/main" id="{D43D2959-8E76-4980-81FC-EE843738F26A}"/>
                </a:ext>
              </a:extLst>
            </p:cNvPr>
            <p:cNvGrpSpPr>
              <a:grpSpLocks/>
            </p:cNvGrpSpPr>
            <p:nvPr/>
          </p:nvGrpSpPr>
          <p:grpSpPr bwMode="auto">
            <a:xfrm>
              <a:off x="2245" y="2704"/>
              <a:ext cx="1362" cy="272"/>
              <a:chOff x="2244" y="1525"/>
              <a:chExt cx="1362" cy="272"/>
            </a:xfrm>
          </p:grpSpPr>
          <p:sp>
            <p:nvSpPr>
              <p:cNvPr id="22548" name="Line 21">
                <a:extLst>
                  <a:ext uri="{FF2B5EF4-FFF2-40B4-BE49-F238E27FC236}">
                    <a16:creationId xmlns:a16="http://schemas.microsoft.com/office/drawing/2014/main" id="{43718F1C-75EA-49DA-B063-82ED274FE7BE}"/>
                  </a:ext>
                </a:extLst>
              </p:cNvPr>
              <p:cNvSpPr>
                <a:spLocks noChangeShapeType="1"/>
              </p:cNvSpPr>
              <p:nvPr/>
            </p:nvSpPr>
            <p:spPr bwMode="auto">
              <a:xfrm>
                <a:off x="2472" y="1525"/>
                <a:ext cx="1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49" name="Line 22">
                <a:extLst>
                  <a:ext uri="{FF2B5EF4-FFF2-40B4-BE49-F238E27FC236}">
                    <a16:creationId xmlns:a16="http://schemas.microsoft.com/office/drawing/2014/main" id="{DF81F40E-0B87-4FB0-B681-22AC8744BED1}"/>
                  </a:ext>
                </a:extLst>
              </p:cNvPr>
              <p:cNvSpPr>
                <a:spLocks noChangeShapeType="1"/>
              </p:cNvSpPr>
              <p:nvPr/>
            </p:nvSpPr>
            <p:spPr bwMode="auto">
              <a:xfrm>
                <a:off x="2244" y="161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0" name="Line 23">
                <a:extLst>
                  <a:ext uri="{FF2B5EF4-FFF2-40B4-BE49-F238E27FC236}">
                    <a16:creationId xmlns:a16="http://schemas.microsoft.com/office/drawing/2014/main" id="{0A811F8E-3364-41AE-97DA-7D5857009DF3}"/>
                  </a:ext>
                </a:extLst>
              </p:cNvPr>
              <p:cNvSpPr>
                <a:spLocks noChangeShapeType="1"/>
              </p:cNvSpPr>
              <p:nvPr/>
            </p:nvSpPr>
            <p:spPr bwMode="auto">
              <a:xfrm>
                <a:off x="2244" y="170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51" name="Line 24">
                <a:extLst>
                  <a:ext uri="{FF2B5EF4-FFF2-40B4-BE49-F238E27FC236}">
                    <a16:creationId xmlns:a16="http://schemas.microsoft.com/office/drawing/2014/main" id="{BCAC0223-54E6-4D41-9A51-EA25DF219862}"/>
                  </a:ext>
                </a:extLst>
              </p:cNvPr>
              <p:cNvSpPr>
                <a:spLocks noChangeShapeType="1"/>
              </p:cNvSpPr>
              <p:nvPr/>
            </p:nvSpPr>
            <p:spPr bwMode="auto">
              <a:xfrm>
                <a:off x="2245" y="1797"/>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22539" name="Group 25">
              <a:extLst>
                <a:ext uri="{FF2B5EF4-FFF2-40B4-BE49-F238E27FC236}">
                  <a16:creationId xmlns:a16="http://schemas.microsoft.com/office/drawing/2014/main" id="{26800AA7-11C2-4269-95D9-AFFCD451CDF4}"/>
                </a:ext>
              </a:extLst>
            </p:cNvPr>
            <p:cNvGrpSpPr>
              <a:grpSpLocks/>
            </p:cNvGrpSpPr>
            <p:nvPr/>
          </p:nvGrpSpPr>
          <p:grpSpPr bwMode="auto">
            <a:xfrm>
              <a:off x="2245" y="3113"/>
              <a:ext cx="1362" cy="272"/>
              <a:chOff x="2244" y="1525"/>
              <a:chExt cx="1362" cy="272"/>
            </a:xfrm>
          </p:grpSpPr>
          <p:sp>
            <p:nvSpPr>
              <p:cNvPr id="22544" name="Line 26">
                <a:extLst>
                  <a:ext uri="{FF2B5EF4-FFF2-40B4-BE49-F238E27FC236}">
                    <a16:creationId xmlns:a16="http://schemas.microsoft.com/office/drawing/2014/main" id="{C3756B77-6C42-4BC9-877D-D55F6E4993A7}"/>
                  </a:ext>
                </a:extLst>
              </p:cNvPr>
              <p:cNvSpPr>
                <a:spLocks noChangeShapeType="1"/>
              </p:cNvSpPr>
              <p:nvPr/>
            </p:nvSpPr>
            <p:spPr bwMode="auto">
              <a:xfrm>
                <a:off x="2472" y="1525"/>
                <a:ext cx="113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45" name="Line 27">
                <a:extLst>
                  <a:ext uri="{FF2B5EF4-FFF2-40B4-BE49-F238E27FC236}">
                    <a16:creationId xmlns:a16="http://schemas.microsoft.com/office/drawing/2014/main" id="{9DE519B4-C803-4295-9A86-34A0ADCD657B}"/>
                  </a:ext>
                </a:extLst>
              </p:cNvPr>
              <p:cNvSpPr>
                <a:spLocks noChangeShapeType="1"/>
              </p:cNvSpPr>
              <p:nvPr/>
            </p:nvSpPr>
            <p:spPr bwMode="auto">
              <a:xfrm>
                <a:off x="2244" y="161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46" name="Line 28">
                <a:extLst>
                  <a:ext uri="{FF2B5EF4-FFF2-40B4-BE49-F238E27FC236}">
                    <a16:creationId xmlns:a16="http://schemas.microsoft.com/office/drawing/2014/main" id="{B72CB66B-BBDC-4245-9FB8-C16B01664E1E}"/>
                  </a:ext>
                </a:extLst>
              </p:cNvPr>
              <p:cNvSpPr>
                <a:spLocks noChangeShapeType="1"/>
              </p:cNvSpPr>
              <p:nvPr/>
            </p:nvSpPr>
            <p:spPr bwMode="auto">
              <a:xfrm>
                <a:off x="2244" y="1706"/>
                <a:ext cx="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2547" name="Line 29">
                <a:extLst>
                  <a:ext uri="{FF2B5EF4-FFF2-40B4-BE49-F238E27FC236}">
                    <a16:creationId xmlns:a16="http://schemas.microsoft.com/office/drawing/2014/main" id="{3639ADD5-CF11-440C-8CB3-D00880101B5D}"/>
                  </a:ext>
                </a:extLst>
              </p:cNvPr>
              <p:cNvSpPr>
                <a:spLocks noChangeShapeType="1"/>
              </p:cNvSpPr>
              <p:nvPr/>
            </p:nvSpPr>
            <p:spPr bwMode="auto">
              <a:xfrm>
                <a:off x="2245" y="1797"/>
                <a:ext cx="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sp>
          <p:nvSpPr>
            <p:cNvPr id="22540" name="Text Box 30">
              <a:extLst>
                <a:ext uri="{FF2B5EF4-FFF2-40B4-BE49-F238E27FC236}">
                  <a16:creationId xmlns:a16="http://schemas.microsoft.com/office/drawing/2014/main" id="{9F153EB2-9E87-41DB-AD34-5088AEF9FE17}"/>
                </a:ext>
              </a:extLst>
            </p:cNvPr>
            <p:cNvSpPr txBox="1">
              <a:spLocks noChangeArrowheads="1"/>
            </p:cNvSpPr>
            <p:nvPr/>
          </p:nvSpPr>
          <p:spPr bwMode="auto">
            <a:xfrm>
              <a:off x="2018" y="1253"/>
              <a:ext cx="167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Yuqori maydon</a:t>
              </a:r>
            </a:p>
          </p:txBody>
        </p:sp>
        <p:sp>
          <p:nvSpPr>
            <p:cNvPr id="22541" name="Text Box 31">
              <a:extLst>
                <a:ext uri="{FF2B5EF4-FFF2-40B4-BE49-F238E27FC236}">
                  <a16:creationId xmlns:a16="http://schemas.microsoft.com/office/drawing/2014/main" id="{15F05802-4F4A-440F-8B61-18DC54360993}"/>
                </a:ext>
              </a:extLst>
            </p:cNvPr>
            <p:cNvSpPr txBox="1">
              <a:spLocks noChangeArrowheads="1"/>
            </p:cNvSpPr>
            <p:nvPr/>
          </p:nvSpPr>
          <p:spPr bwMode="auto">
            <a:xfrm>
              <a:off x="1973" y="3475"/>
              <a:ext cx="167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Pastki maydon</a:t>
              </a:r>
            </a:p>
          </p:txBody>
        </p:sp>
        <p:sp>
          <p:nvSpPr>
            <p:cNvPr id="22542" name="Text Box 32">
              <a:extLst>
                <a:ext uri="{FF2B5EF4-FFF2-40B4-BE49-F238E27FC236}">
                  <a16:creationId xmlns:a16="http://schemas.microsoft.com/office/drawing/2014/main" id="{A4F2634C-2C4B-4E0E-8533-C9195A19F420}"/>
                </a:ext>
              </a:extLst>
            </p:cNvPr>
            <p:cNvSpPr txBox="1">
              <a:spLocks noChangeArrowheads="1"/>
            </p:cNvSpPr>
            <p:nvPr/>
          </p:nvSpPr>
          <p:spPr bwMode="auto">
            <a:xfrm>
              <a:off x="1927" y="1616"/>
              <a:ext cx="289" cy="1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Chap maydon</a:t>
              </a:r>
            </a:p>
          </p:txBody>
        </p:sp>
        <p:sp>
          <p:nvSpPr>
            <p:cNvPr id="22543" name="Text Box 33">
              <a:extLst>
                <a:ext uri="{FF2B5EF4-FFF2-40B4-BE49-F238E27FC236}">
                  <a16:creationId xmlns:a16="http://schemas.microsoft.com/office/drawing/2014/main" id="{8DD9BB04-8525-4165-A08A-769F815B8729}"/>
                </a:ext>
              </a:extLst>
            </p:cNvPr>
            <p:cNvSpPr txBox="1">
              <a:spLocks noChangeArrowheads="1"/>
            </p:cNvSpPr>
            <p:nvPr/>
          </p:nvSpPr>
          <p:spPr bwMode="auto">
            <a:xfrm>
              <a:off x="3560" y="1661"/>
              <a:ext cx="289" cy="1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O'ng maydon</a:t>
              </a:r>
            </a:p>
          </p:txBody>
        </p:sp>
      </p:grpSp>
      <p:sp>
        <p:nvSpPr>
          <p:cNvPr id="22532" name="Text Box 34">
            <a:extLst>
              <a:ext uri="{FF2B5EF4-FFF2-40B4-BE49-F238E27FC236}">
                <a16:creationId xmlns:a16="http://schemas.microsoft.com/office/drawing/2014/main" id="{F17052DF-25A9-4844-B128-65BD21913924}"/>
              </a:ext>
            </a:extLst>
          </p:cNvPr>
          <p:cNvSpPr txBox="1">
            <a:spLocks noChangeArrowheads="1"/>
          </p:cNvSpPr>
          <p:nvPr/>
        </p:nvSpPr>
        <p:spPr bwMode="auto">
          <a:xfrm>
            <a:off x="5076825" y="2924175"/>
            <a:ext cx="3838575" cy="429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Qog'oz hajmi-A4</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Yo'nalish-landshaft</a:t>
            </a:r>
            <a:endParaRPr kumimoji="0" lang="en-US"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Chap maydon 3 sm</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Yuqori maydon 1,5 sm</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O'ng maydon	</a:t>
            </a:r>
            <a:r>
              <a:rPr kumimoji="0" lang="en-US"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2</a:t>
            </a: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 qarang</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Pastki maydon 1,5 sm</a:t>
            </a: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
        <p:nvSpPr>
          <p:cNvPr id="154659" name="Text Box 35">
            <a:extLst>
              <a:ext uri="{FF2B5EF4-FFF2-40B4-BE49-F238E27FC236}">
                <a16:creationId xmlns:a16="http://schemas.microsoft.com/office/drawing/2014/main" id="{3CDA0805-9150-402C-BE70-6A05D5D707C4}"/>
              </a:ext>
            </a:extLst>
          </p:cNvPr>
          <p:cNvSpPr txBox="1">
            <a:spLocks noChangeArrowheads="1"/>
          </p:cNvSpPr>
          <p:nvPr/>
        </p:nvSpPr>
        <p:spPr bwMode="auto">
          <a:xfrm>
            <a:off x="1258888" y="1628775"/>
            <a:ext cx="7273925" cy="457200"/>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Fayl -</a:t>
            </a:r>
            <a:r>
              <a:rPr kumimoji="0" lang="en-US" sz="24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&amp;gt; </a:t>
            </a:r>
            <a:r>
              <a:rPr kumimoji="0" lang="ru-RU" sz="24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Sahifa parametrlari -</a:t>
            </a:r>
            <a:r>
              <a:rPr kumimoji="0" lang="en-US" sz="24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rPr>
              <a:t>&amp;gt;</a:t>
            </a:r>
            <a:endParaRPr kumimoji="0" lang="ru-RU" sz="2400" b="0" i="0" u="none" strike="noStrike" kern="1200" cap="none" spc="0" normalizeH="0" baseline="0" noProof="0">
              <a:ln>
                <a:noFill/>
              </a:ln>
              <a:solidFill>
                <a:srgbClr val="0000FF"/>
              </a:solidFill>
              <a:effectLst>
                <a:outerShdw blurRad="38100" dist="38100" dir="2700000" algn="tl">
                  <a:srgbClr val="000000"/>
                </a:outerShdw>
              </a:effectLst>
              <a:uLnTx/>
              <a:uFillTx/>
              <a:latin typeface="Comic Sans MS" pitchFamily="66" charset="0"/>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F5FDD17-E814-4B22-9A5F-D029A647801F}"/>
              </a:ext>
            </a:extLst>
          </p:cNvPr>
          <p:cNvSpPr>
            <a:spLocks noGrp="1" noChangeArrowheads="1"/>
          </p:cNvSpPr>
          <p:nvPr>
            <p:ph type="title"/>
          </p:nvPr>
        </p:nvSpPr>
        <p:spPr>
          <a:xfrm>
            <a:off x="685800" y="1752600"/>
            <a:ext cx="7696200" cy="152400"/>
          </a:xfrm>
        </p:spPr>
        <p:txBody>
          <a:bodyPr/>
          <a:lstStyle/>
          <a:p>
            <a:pPr algn="ctr" eaLnBrk="1" hangingPunct="1"/>
            <a:r>
              <a:rPr lang="ru-RU" altLang="ru-RU" sz="3500" b="1">
                <a:solidFill>
                  <a:srgbClr val="FF0000"/>
                </a:solidFill>
              </a:rPr>
              <a:t>Ramz</a:t>
            </a:r>
            <a:r>
              <a:rPr lang="ru-RU" altLang="ru-RU" sz="3500" b="1"/>
              <a:t> - matnning minimal elementi (bo'sh joy belgisi)</a:t>
            </a:r>
            <a:br>
              <a:rPr lang="en-US" altLang="ru-RU" sz="3500" b="1">
                <a:cs typeface="Arial" panose="020B0604020202020204" pitchFamily="34" charset="0"/>
              </a:rPr>
            </a:br>
            <a:endParaRPr lang="ru-RU" altLang="ru-RU" sz="3500" b="1">
              <a:cs typeface="Arial" panose="020B0604020202020204" pitchFamily="34" charset="0"/>
            </a:endParaRPr>
          </a:p>
        </p:txBody>
      </p:sp>
      <p:sp>
        <p:nvSpPr>
          <p:cNvPr id="36867" name="Rectangle 3">
            <a:extLst>
              <a:ext uri="{FF2B5EF4-FFF2-40B4-BE49-F238E27FC236}">
                <a16:creationId xmlns:a16="http://schemas.microsoft.com/office/drawing/2014/main" id="{45502613-C418-4102-A14F-0C882E812CA7}"/>
              </a:ext>
            </a:extLst>
          </p:cNvPr>
          <p:cNvSpPr>
            <a:spLocks noGrp="1" noChangeArrowheads="1"/>
          </p:cNvSpPr>
          <p:nvPr>
            <p:ph type="body" sz="half" idx="1"/>
          </p:nvPr>
        </p:nvSpPr>
        <p:spPr>
          <a:xfrm>
            <a:off x="2057400" y="2743200"/>
            <a:ext cx="3886200" cy="3451225"/>
          </a:xfrm>
        </p:spPr>
        <p:txBody>
          <a:bodyPr/>
          <a:lstStyle/>
          <a:p>
            <a:pPr eaLnBrk="1" hangingPunct="1">
              <a:lnSpc>
                <a:spcPct val="90000"/>
              </a:lnSpc>
            </a:pPr>
            <a:r>
              <a:rPr lang="ru-RU" altLang="ru-RU" sz="3600" b="1">
                <a:solidFill>
                  <a:srgbClr val="008000"/>
                </a:solidFill>
                <a:cs typeface="Arial" panose="020B0604020202020204" pitchFamily="34" charset="0"/>
              </a:rPr>
              <a:t>Shrift turi </a:t>
            </a:r>
          </a:p>
          <a:p>
            <a:pPr eaLnBrk="1" hangingPunct="1">
              <a:lnSpc>
                <a:spcPct val="90000"/>
              </a:lnSpc>
            </a:pPr>
            <a:r>
              <a:rPr lang="ru-RU" altLang="ru-RU" sz="3600" b="1">
                <a:solidFill>
                  <a:srgbClr val="008000"/>
                </a:solidFill>
                <a:cs typeface="Arial" panose="020B0604020202020204" pitchFamily="34" charset="0"/>
              </a:rPr>
              <a:t>Hajmi</a:t>
            </a:r>
          </a:p>
          <a:p>
            <a:pPr eaLnBrk="1" hangingPunct="1">
              <a:lnSpc>
                <a:spcPct val="90000"/>
              </a:lnSpc>
            </a:pPr>
            <a:r>
              <a:rPr lang="ru-RU" altLang="ru-RU" sz="3600" b="1">
                <a:solidFill>
                  <a:srgbClr val="008000"/>
                </a:solidFill>
                <a:cs typeface="Arial" panose="020B0604020202020204" pitchFamily="34" charset="0"/>
              </a:rPr>
              <a:t>Chizma</a:t>
            </a:r>
          </a:p>
          <a:p>
            <a:pPr eaLnBrk="1" hangingPunct="1">
              <a:lnSpc>
                <a:spcPct val="90000"/>
              </a:lnSpc>
            </a:pPr>
            <a:r>
              <a:rPr lang="ru-RU" altLang="ru-RU" sz="3600" b="1">
                <a:solidFill>
                  <a:srgbClr val="008000"/>
                </a:solidFill>
                <a:cs typeface="Arial" panose="020B0604020202020204" pitchFamily="34" charset="0"/>
              </a:rPr>
              <a:t>Rang</a:t>
            </a:r>
          </a:p>
          <a:p>
            <a:pPr eaLnBrk="1" hangingPunct="1">
              <a:lnSpc>
                <a:spcPct val="90000"/>
              </a:lnSpc>
            </a:pPr>
            <a:endParaRPr lang="ru-RU" altLang="ru-RU" sz="3600" b="1">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dissolve">
                                      <p:cBhvr>
                                        <p:cTn id="7" dur="500"/>
                                        <p:tgtEl>
                                          <p:spTgt spid="36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36867">
                                            <p:txEl>
                                              <p:pRg st="0" end="0"/>
                                            </p:txEl>
                                          </p:spTgt>
                                        </p:tgtEl>
                                        <p:attrNameLst>
                                          <p:attrName>style.visibility</p:attrName>
                                        </p:attrNameLst>
                                      </p:cBhvr>
                                      <p:to>
                                        <p:strVal val="visible"/>
                                      </p:to>
                                    </p:set>
                                    <p:anim calcmode="lin" valueType="num">
                                      <p:cBhvr>
                                        <p:cTn id="12" dur="1000" fill="hold"/>
                                        <p:tgtEl>
                                          <p:spTgt spid="36867">
                                            <p:txEl>
                                              <p:pRg st="0" end="0"/>
                                            </p:txEl>
                                          </p:spTgt>
                                        </p:tgtEl>
                                        <p:attrNameLst>
                                          <p:attrName>ppt_w</p:attrName>
                                        </p:attrNameLst>
                                      </p:cBhvr>
                                      <p:tavLst>
                                        <p:tav tm="0">
                                          <p:val>
                                            <p:strVal val="#ppt_w+.3"/>
                                          </p:val>
                                        </p:tav>
                                        <p:tav tm="100000">
                                          <p:val>
                                            <p:strVal val="#ppt_w"/>
                                          </p:val>
                                        </p:tav>
                                      </p:tavLst>
                                    </p:anim>
                                    <p:anim calcmode="lin" valueType="num">
                                      <p:cBhvr>
                                        <p:cTn id="13" dur="1000" fill="hold"/>
                                        <p:tgtEl>
                                          <p:spTgt spid="36867">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36867">
                                            <p:txEl>
                                              <p:pRg st="0" end="0"/>
                                            </p:txEl>
                                          </p:spTgt>
                                        </p:tgtEl>
                                      </p:cBhvr>
                                    </p:animEffect>
                                  </p:childTnLst>
                                </p:cTn>
                              </p:par>
                            </p:childTnLst>
                          </p:cTn>
                        </p:par>
                        <p:par>
                          <p:cTn id="15" fill="hold" nodeType="afterGroup">
                            <p:stCondLst>
                              <p:cond delay="1000"/>
                            </p:stCondLst>
                            <p:childTnLst>
                              <p:par>
                                <p:cTn id="16" presetID="50" presetClass="entr" presetSubtype="0" decel="100000" fill="hold" nodeType="afterEffect">
                                  <p:stCondLst>
                                    <p:cond delay="0"/>
                                  </p:stCondLst>
                                  <p:childTnLst>
                                    <p:set>
                                      <p:cBhvr>
                                        <p:cTn id="17" dur="1" fill="hold">
                                          <p:stCondLst>
                                            <p:cond delay="0"/>
                                          </p:stCondLst>
                                        </p:cTn>
                                        <p:tgtEl>
                                          <p:spTgt spid="36867">
                                            <p:txEl>
                                              <p:pRg st="1" end="1"/>
                                            </p:txEl>
                                          </p:spTgt>
                                        </p:tgtEl>
                                        <p:attrNameLst>
                                          <p:attrName>style.visibility</p:attrName>
                                        </p:attrNameLst>
                                      </p:cBhvr>
                                      <p:to>
                                        <p:strVal val="visible"/>
                                      </p:to>
                                    </p:set>
                                    <p:anim calcmode="lin" valueType="num">
                                      <p:cBhvr>
                                        <p:cTn id="18" dur="1000" fill="hold"/>
                                        <p:tgtEl>
                                          <p:spTgt spid="36867">
                                            <p:txEl>
                                              <p:pRg st="1" end="1"/>
                                            </p:txEl>
                                          </p:spTgt>
                                        </p:tgtEl>
                                        <p:attrNameLst>
                                          <p:attrName>ppt_w</p:attrName>
                                        </p:attrNameLst>
                                      </p:cBhvr>
                                      <p:tavLst>
                                        <p:tav tm="0">
                                          <p:val>
                                            <p:strVal val="#ppt_w+.3"/>
                                          </p:val>
                                        </p:tav>
                                        <p:tav tm="100000">
                                          <p:val>
                                            <p:strVal val="#ppt_w"/>
                                          </p:val>
                                        </p:tav>
                                      </p:tavLst>
                                    </p:anim>
                                    <p:anim calcmode="lin" valueType="num">
                                      <p:cBhvr>
                                        <p:cTn id="19" dur="1000" fill="hold"/>
                                        <p:tgtEl>
                                          <p:spTgt spid="36867">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36867">
                                            <p:txEl>
                                              <p:pRg st="1" end="1"/>
                                            </p:txEl>
                                          </p:spTgt>
                                        </p:tgtEl>
                                      </p:cBhvr>
                                    </p:animEffect>
                                  </p:childTnLst>
                                </p:cTn>
                              </p:par>
                            </p:childTnLst>
                          </p:cTn>
                        </p:par>
                        <p:par>
                          <p:cTn id="21" fill="hold" nodeType="afterGroup">
                            <p:stCondLst>
                              <p:cond delay="2000"/>
                            </p:stCondLst>
                            <p:childTnLst>
                              <p:par>
                                <p:cTn id="22" presetID="50" presetClass="entr" presetSubtype="0" decel="100000" fill="hold" nodeType="afterEffect">
                                  <p:stCondLst>
                                    <p:cond delay="0"/>
                                  </p:stCondLst>
                                  <p:childTnLst>
                                    <p:set>
                                      <p:cBhvr>
                                        <p:cTn id="23" dur="1" fill="hold">
                                          <p:stCondLst>
                                            <p:cond delay="0"/>
                                          </p:stCondLst>
                                        </p:cTn>
                                        <p:tgtEl>
                                          <p:spTgt spid="36867">
                                            <p:txEl>
                                              <p:pRg st="2" end="2"/>
                                            </p:txEl>
                                          </p:spTgt>
                                        </p:tgtEl>
                                        <p:attrNameLst>
                                          <p:attrName>style.visibility</p:attrName>
                                        </p:attrNameLst>
                                      </p:cBhvr>
                                      <p:to>
                                        <p:strVal val="visible"/>
                                      </p:to>
                                    </p:set>
                                    <p:anim calcmode="lin" valueType="num">
                                      <p:cBhvr>
                                        <p:cTn id="24" dur="1000" fill="hold"/>
                                        <p:tgtEl>
                                          <p:spTgt spid="36867">
                                            <p:txEl>
                                              <p:pRg st="2" end="2"/>
                                            </p:txEl>
                                          </p:spTgt>
                                        </p:tgtEl>
                                        <p:attrNameLst>
                                          <p:attrName>ppt_w</p:attrName>
                                        </p:attrNameLst>
                                      </p:cBhvr>
                                      <p:tavLst>
                                        <p:tav tm="0">
                                          <p:val>
                                            <p:strVal val="#ppt_w+.3"/>
                                          </p:val>
                                        </p:tav>
                                        <p:tav tm="100000">
                                          <p:val>
                                            <p:strVal val="#ppt_w"/>
                                          </p:val>
                                        </p:tav>
                                      </p:tavLst>
                                    </p:anim>
                                    <p:anim calcmode="lin" valueType="num">
                                      <p:cBhvr>
                                        <p:cTn id="25" dur="1000" fill="hold"/>
                                        <p:tgtEl>
                                          <p:spTgt spid="36867">
                                            <p:txEl>
                                              <p:pRg st="2" end="2"/>
                                            </p:txEl>
                                          </p:spTgt>
                                        </p:tgtEl>
                                        <p:attrNameLst>
                                          <p:attrName>ppt_h</p:attrName>
                                        </p:attrNameLst>
                                      </p:cBhvr>
                                      <p:tavLst>
                                        <p:tav tm="0">
                                          <p:val>
                                            <p:strVal val="#ppt_h"/>
                                          </p:val>
                                        </p:tav>
                                        <p:tav tm="100000">
                                          <p:val>
                                            <p:strVal val="#ppt_h"/>
                                          </p:val>
                                        </p:tav>
                                      </p:tavLst>
                                    </p:anim>
                                    <p:animEffect transition="in" filter="fade">
                                      <p:cBhvr>
                                        <p:cTn id="26" dur="1000"/>
                                        <p:tgtEl>
                                          <p:spTgt spid="36867">
                                            <p:txEl>
                                              <p:pRg st="2" end="2"/>
                                            </p:txEl>
                                          </p:spTgt>
                                        </p:tgtEl>
                                      </p:cBhvr>
                                    </p:animEffect>
                                  </p:childTnLst>
                                </p:cTn>
                              </p:par>
                            </p:childTnLst>
                          </p:cTn>
                        </p:par>
                        <p:par>
                          <p:cTn id="27" fill="hold" nodeType="afterGroup">
                            <p:stCondLst>
                              <p:cond delay="3000"/>
                            </p:stCondLst>
                            <p:childTnLst>
                              <p:par>
                                <p:cTn id="28" presetID="50" presetClass="entr" presetSubtype="0" decel="100000" fill="hold" nodeType="afterEffect">
                                  <p:stCondLst>
                                    <p:cond delay="0"/>
                                  </p:stCondLst>
                                  <p:childTnLst>
                                    <p:set>
                                      <p:cBhvr>
                                        <p:cTn id="29" dur="1" fill="hold">
                                          <p:stCondLst>
                                            <p:cond delay="0"/>
                                          </p:stCondLst>
                                        </p:cTn>
                                        <p:tgtEl>
                                          <p:spTgt spid="36867">
                                            <p:txEl>
                                              <p:pRg st="3" end="3"/>
                                            </p:txEl>
                                          </p:spTgt>
                                        </p:tgtEl>
                                        <p:attrNameLst>
                                          <p:attrName>style.visibility</p:attrName>
                                        </p:attrNameLst>
                                      </p:cBhvr>
                                      <p:to>
                                        <p:strVal val="visible"/>
                                      </p:to>
                                    </p:set>
                                    <p:anim calcmode="lin" valueType="num">
                                      <p:cBhvr>
                                        <p:cTn id="30" dur="1000" fill="hold"/>
                                        <p:tgtEl>
                                          <p:spTgt spid="36867">
                                            <p:txEl>
                                              <p:pRg st="3" end="3"/>
                                            </p:txEl>
                                          </p:spTgt>
                                        </p:tgtEl>
                                        <p:attrNameLst>
                                          <p:attrName>ppt_w</p:attrName>
                                        </p:attrNameLst>
                                      </p:cBhvr>
                                      <p:tavLst>
                                        <p:tav tm="0">
                                          <p:val>
                                            <p:strVal val="#ppt_w+.3"/>
                                          </p:val>
                                        </p:tav>
                                        <p:tav tm="100000">
                                          <p:val>
                                            <p:strVal val="#ppt_w"/>
                                          </p:val>
                                        </p:tav>
                                      </p:tavLst>
                                    </p:anim>
                                    <p:anim calcmode="lin" valueType="num">
                                      <p:cBhvr>
                                        <p:cTn id="31" dur="1000" fill="hold"/>
                                        <p:tgtEl>
                                          <p:spTgt spid="36867">
                                            <p:txEl>
                                              <p:pRg st="3" end="3"/>
                                            </p:txEl>
                                          </p:spTgt>
                                        </p:tgtEl>
                                        <p:attrNameLst>
                                          <p:attrName>ppt_h</p:attrName>
                                        </p:attrNameLst>
                                      </p:cBhvr>
                                      <p:tavLst>
                                        <p:tav tm="0">
                                          <p:val>
                                            <p:strVal val="#ppt_h"/>
                                          </p:val>
                                        </p:tav>
                                        <p:tav tm="100000">
                                          <p:val>
                                            <p:strVal val="#ppt_h"/>
                                          </p:val>
                                        </p:tav>
                                      </p:tavLst>
                                    </p:anim>
                                    <p:animEffect transition="in" filter="fade">
                                      <p:cBhvr>
                                        <p:cTn id="32" dur="1000"/>
                                        <p:tgtEl>
                                          <p:spTgt spid="36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8F770659-13AF-495F-A7B9-8876214AD6B8}"/>
              </a:ext>
            </a:extLst>
          </p:cNvPr>
          <p:cNvSpPr>
            <a:spLocks noGrp="1" noChangeArrowheads="1"/>
          </p:cNvSpPr>
          <p:nvPr>
            <p:ph type="title"/>
          </p:nvPr>
        </p:nvSpPr>
        <p:spPr>
          <a:xfrm>
            <a:off x="457200" y="457200"/>
            <a:ext cx="2514600" cy="1143000"/>
          </a:xfrm>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Shrift</a:t>
            </a:r>
          </a:p>
        </p:txBody>
      </p:sp>
      <p:sp>
        <p:nvSpPr>
          <p:cNvPr id="142339" name="Text Box 3">
            <a:extLst>
              <a:ext uri="{FF2B5EF4-FFF2-40B4-BE49-F238E27FC236}">
                <a16:creationId xmlns:a16="http://schemas.microsoft.com/office/drawing/2014/main" id="{99D791AC-D0B1-4AA1-9F6E-91B9F629B33F}"/>
              </a:ext>
            </a:extLst>
          </p:cNvPr>
          <p:cNvSpPr txBox="1">
            <a:spLocks noChangeArrowheads="1"/>
          </p:cNvSpPr>
          <p:nvPr/>
        </p:nvSpPr>
        <p:spPr bwMode="auto">
          <a:xfrm>
            <a:off x="1331913" y="1628775"/>
            <a:ext cx="7561262" cy="822325"/>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Shrift-bu ma'lum bir uslubdagi belgilar to'plami</a:t>
            </a:r>
          </a:p>
        </p:txBody>
      </p:sp>
      <p:sp>
        <p:nvSpPr>
          <p:cNvPr id="142340" name="Text Box 4">
            <a:extLst>
              <a:ext uri="{FF2B5EF4-FFF2-40B4-BE49-F238E27FC236}">
                <a16:creationId xmlns:a16="http://schemas.microsoft.com/office/drawing/2014/main" id="{D66B4113-613E-4900-8D8C-A4A134BAF917}"/>
              </a:ext>
            </a:extLst>
          </p:cNvPr>
          <p:cNvSpPr txBox="1">
            <a:spLocks noChangeArrowheads="1"/>
          </p:cNvSpPr>
          <p:nvPr/>
        </p:nvSpPr>
        <p:spPr bwMode="auto">
          <a:xfrm>
            <a:off x="1295400" y="3048000"/>
            <a:ext cx="741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Times New Roman-serif vektorli shrift</a:t>
            </a:r>
          </a:p>
        </p:txBody>
      </p:sp>
      <p:sp>
        <p:nvSpPr>
          <p:cNvPr id="142341" name="Text Box 5">
            <a:extLst>
              <a:ext uri="{FF2B5EF4-FFF2-40B4-BE49-F238E27FC236}">
                <a16:creationId xmlns:a16="http://schemas.microsoft.com/office/drawing/2014/main" id="{842B7D60-E467-4AFC-947C-F1320388E0DB}"/>
              </a:ext>
            </a:extLst>
          </p:cNvPr>
          <p:cNvSpPr txBox="1">
            <a:spLocks noChangeArrowheads="1"/>
          </p:cNvSpPr>
          <p:nvPr/>
        </p:nvSpPr>
        <p:spPr bwMode="auto">
          <a:xfrm>
            <a:off x="1143000" y="3962400"/>
            <a:ext cx="648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Arial" panose="020B0604020202020204" pitchFamily="34" charset="0"/>
                <a:ea typeface="+mn-ea"/>
                <a:cs typeface="+mn-cs"/>
              </a:rPr>
              <a:t>Arial-vektorli shrift</a:t>
            </a:r>
          </a:p>
        </p:txBody>
      </p:sp>
      <p:sp>
        <p:nvSpPr>
          <p:cNvPr id="142343" name="Text Box 7">
            <a:extLst>
              <a:ext uri="{FF2B5EF4-FFF2-40B4-BE49-F238E27FC236}">
                <a16:creationId xmlns:a16="http://schemas.microsoft.com/office/drawing/2014/main" id="{499CB390-07C9-46A1-B1F7-30C04ED7F0EE}"/>
              </a:ext>
            </a:extLst>
          </p:cNvPr>
          <p:cNvSpPr txBox="1">
            <a:spLocks noChangeArrowheads="1"/>
          </p:cNvSpPr>
          <p:nvPr/>
        </p:nvSpPr>
        <p:spPr bwMode="auto">
          <a:xfrm>
            <a:off x="990600" y="4724400"/>
            <a:ext cx="5903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Monotype Corsiva" panose="03010101010201010101" pitchFamily="66" charset="0"/>
                <a:ea typeface="+mn-ea"/>
                <a:cs typeface="+mn-cs"/>
              </a:rPr>
              <a:t>Monotype Corsiva-vektorli shrift </a:t>
            </a:r>
          </a:p>
        </p:txBody>
      </p:sp>
      <p:sp>
        <p:nvSpPr>
          <p:cNvPr id="142344" name="Text Box 8">
            <a:extLst>
              <a:ext uri="{FF2B5EF4-FFF2-40B4-BE49-F238E27FC236}">
                <a16:creationId xmlns:a16="http://schemas.microsoft.com/office/drawing/2014/main" id="{9EC0E69A-40A2-4533-955A-2EB4CAD1DCCA}"/>
              </a:ext>
            </a:extLst>
          </p:cNvPr>
          <p:cNvSpPr txBox="1">
            <a:spLocks noChangeArrowheads="1"/>
          </p:cNvSpPr>
          <p:nvPr/>
        </p:nvSpPr>
        <p:spPr bwMode="auto">
          <a:xfrm>
            <a:off x="914400" y="5486400"/>
            <a:ext cx="777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Arial Black" panose="020B0A04020102020204" pitchFamily="34" charset="0"/>
                <a:ea typeface="+mn-ea"/>
                <a:cs typeface="+mn-cs"/>
              </a:rPr>
              <a:t>Arial Black-vektorli qalin shrift</a:t>
            </a: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 </a:t>
            </a:r>
          </a:p>
        </p:txBody>
      </p:sp>
      <p:pic>
        <p:nvPicPr>
          <p:cNvPr id="142347" name="Picture 11">
            <a:extLst>
              <a:ext uri="{FF2B5EF4-FFF2-40B4-BE49-F238E27FC236}">
                <a16:creationId xmlns:a16="http://schemas.microsoft.com/office/drawing/2014/main" id="{44884034-0807-41AF-872B-34B924DC1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48981" b="1031"/>
          <a:stretch>
            <a:fillRect/>
          </a:stretch>
        </p:blipFill>
        <p:spPr bwMode="auto">
          <a:xfrm>
            <a:off x="2590800" y="8382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12" descr="format">
            <a:extLst>
              <a:ext uri="{FF2B5EF4-FFF2-40B4-BE49-F238E27FC236}">
                <a16:creationId xmlns:a16="http://schemas.microsoft.com/office/drawing/2014/main" id="{63CBD55F-CE16-4230-94EA-FBBF7E76C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box(out)">
                                      <p:cBhvr>
                                        <p:cTn id="7" dur="500"/>
                                        <p:tgtEl>
                                          <p:spTgt spid="142338"/>
                                        </p:tgtEl>
                                      </p:cBhvr>
                                    </p:animEffect>
                                  </p:childTnLst>
                                </p:cTn>
                              </p:par>
                            </p:childTnLst>
                          </p:cTn>
                        </p:par>
                        <p:par>
                          <p:cTn id="8" fill="hold" nodeType="afterGroup">
                            <p:stCondLst>
                              <p:cond delay="500"/>
                            </p:stCondLst>
                            <p:childTnLst>
                              <p:par>
                                <p:cTn id="9" presetID="4" presetClass="entr" presetSubtype="32" fill="hold" nodeType="afterEffect">
                                  <p:stCondLst>
                                    <p:cond delay="0"/>
                                  </p:stCondLst>
                                  <p:childTnLst>
                                    <p:set>
                                      <p:cBhvr>
                                        <p:cTn id="10" dur="1" fill="hold">
                                          <p:stCondLst>
                                            <p:cond delay="0"/>
                                          </p:stCondLst>
                                        </p:cTn>
                                        <p:tgtEl>
                                          <p:spTgt spid="142339">
                                            <p:txEl>
                                              <p:pRg st="0" end="0"/>
                                            </p:txEl>
                                          </p:spTgt>
                                        </p:tgtEl>
                                        <p:attrNameLst>
                                          <p:attrName>style.visibility</p:attrName>
                                        </p:attrNameLst>
                                      </p:cBhvr>
                                      <p:to>
                                        <p:strVal val="visible"/>
                                      </p:to>
                                    </p:set>
                                    <p:animEffect transition="in" filter="box(out)">
                                      <p:cBhvr>
                                        <p:cTn id="11" dur="500"/>
                                        <p:tgtEl>
                                          <p:spTgt spid="14233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142347"/>
                                        </p:tgtEl>
                                        <p:attrNameLst>
                                          <p:attrName>style.visibility</p:attrName>
                                        </p:attrNameLst>
                                      </p:cBhvr>
                                      <p:to>
                                        <p:strVal val="visible"/>
                                      </p:to>
                                    </p:set>
                                    <p:animEffect transition="in" filter="dissolve">
                                      <p:cBhvr>
                                        <p:cTn id="16" dur="500"/>
                                        <p:tgtEl>
                                          <p:spTgt spid="142347"/>
                                        </p:tgtEl>
                                      </p:cBhvr>
                                    </p:animEffect>
                                  </p:childTnLst>
                                </p:cTn>
                              </p:par>
                            </p:childTnLst>
                          </p:cTn>
                        </p:par>
                        <p:par>
                          <p:cTn id="17" fill="hold" nodeType="afterGroup">
                            <p:stCondLst>
                              <p:cond delay="500"/>
                            </p:stCondLst>
                            <p:childTnLst>
                              <p:par>
                                <p:cTn id="18" presetID="50" presetClass="entr" presetSubtype="0" decel="100000" fill="hold" grpId="0" nodeType="afterEffect">
                                  <p:stCondLst>
                                    <p:cond delay="0"/>
                                  </p:stCondLst>
                                  <p:childTnLst>
                                    <p:set>
                                      <p:cBhvr>
                                        <p:cTn id="19" dur="1" fill="hold">
                                          <p:stCondLst>
                                            <p:cond delay="0"/>
                                          </p:stCondLst>
                                        </p:cTn>
                                        <p:tgtEl>
                                          <p:spTgt spid="142340"/>
                                        </p:tgtEl>
                                        <p:attrNameLst>
                                          <p:attrName>style.visibility</p:attrName>
                                        </p:attrNameLst>
                                      </p:cBhvr>
                                      <p:to>
                                        <p:strVal val="visible"/>
                                      </p:to>
                                    </p:set>
                                    <p:anim calcmode="lin" valueType="num">
                                      <p:cBhvr>
                                        <p:cTn id="20" dur="1000" fill="hold"/>
                                        <p:tgtEl>
                                          <p:spTgt spid="142340"/>
                                        </p:tgtEl>
                                        <p:attrNameLst>
                                          <p:attrName>ppt_w</p:attrName>
                                        </p:attrNameLst>
                                      </p:cBhvr>
                                      <p:tavLst>
                                        <p:tav tm="0">
                                          <p:val>
                                            <p:strVal val="#ppt_w+.3"/>
                                          </p:val>
                                        </p:tav>
                                        <p:tav tm="100000">
                                          <p:val>
                                            <p:strVal val="#ppt_w"/>
                                          </p:val>
                                        </p:tav>
                                      </p:tavLst>
                                    </p:anim>
                                    <p:anim calcmode="lin" valueType="num">
                                      <p:cBhvr>
                                        <p:cTn id="21" dur="1000" fill="hold"/>
                                        <p:tgtEl>
                                          <p:spTgt spid="142340"/>
                                        </p:tgtEl>
                                        <p:attrNameLst>
                                          <p:attrName>ppt_h</p:attrName>
                                        </p:attrNameLst>
                                      </p:cBhvr>
                                      <p:tavLst>
                                        <p:tav tm="0">
                                          <p:val>
                                            <p:strVal val="#ppt_h"/>
                                          </p:val>
                                        </p:tav>
                                        <p:tav tm="100000">
                                          <p:val>
                                            <p:strVal val="#ppt_h"/>
                                          </p:val>
                                        </p:tav>
                                      </p:tavLst>
                                    </p:anim>
                                    <p:animEffect transition="in" filter="fade">
                                      <p:cBhvr>
                                        <p:cTn id="22" dur="1000"/>
                                        <p:tgtEl>
                                          <p:spTgt spid="142340"/>
                                        </p:tgtEl>
                                      </p:cBhvr>
                                    </p:animEffect>
                                  </p:childTnLst>
                                </p:cTn>
                              </p:par>
                              <p:par>
                                <p:cTn id="23" presetID="50" presetClass="entr" presetSubtype="0" decel="100000" fill="hold" grpId="0" nodeType="withEffect">
                                  <p:stCondLst>
                                    <p:cond delay="0"/>
                                  </p:stCondLst>
                                  <p:childTnLst>
                                    <p:set>
                                      <p:cBhvr>
                                        <p:cTn id="24" dur="1" fill="hold">
                                          <p:stCondLst>
                                            <p:cond delay="0"/>
                                          </p:stCondLst>
                                        </p:cTn>
                                        <p:tgtEl>
                                          <p:spTgt spid="142341"/>
                                        </p:tgtEl>
                                        <p:attrNameLst>
                                          <p:attrName>style.visibility</p:attrName>
                                        </p:attrNameLst>
                                      </p:cBhvr>
                                      <p:to>
                                        <p:strVal val="visible"/>
                                      </p:to>
                                    </p:set>
                                    <p:anim calcmode="lin" valueType="num">
                                      <p:cBhvr>
                                        <p:cTn id="25" dur="1000" fill="hold"/>
                                        <p:tgtEl>
                                          <p:spTgt spid="142341"/>
                                        </p:tgtEl>
                                        <p:attrNameLst>
                                          <p:attrName>ppt_w</p:attrName>
                                        </p:attrNameLst>
                                      </p:cBhvr>
                                      <p:tavLst>
                                        <p:tav tm="0">
                                          <p:val>
                                            <p:strVal val="#ppt_w+.3"/>
                                          </p:val>
                                        </p:tav>
                                        <p:tav tm="100000">
                                          <p:val>
                                            <p:strVal val="#ppt_w"/>
                                          </p:val>
                                        </p:tav>
                                      </p:tavLst>
                                    </p:anim>
                                    <p:anim calcmode="lin" valueType="num">
                                      <p:cBhvr>
                                        <p:cTn id="26" dur="1000" fill="hold"/>
                                        <p:tgtEl>
                                          <p:spTgt spid="142341"/>
                                        </p:tgtEl>
                                        <p:attrNameLst>
                                          <p:attrName>ppt_h</p:attrName>
                                        </p:attrNameLst>
                                      </p:cBhvr>
                                      <p:tavLst>
                                        <p:tav tm="0">
                                          <p:val>
                                            <p:strVal val="#ppt_h"/>
                                          </p:val>
                                        </p:tav>
                                        <p:tav tm="100000">
                                          <p:val>
                                            <p:strVal val="#ppt_h"/>
                                          </p:val>
                                        </p:tav>
                                      </p:tavLst>
                                    </p:anim>
                                    <p:animEffect transition="in" filter="fade">
                                      <p:cBhvr>
                                        <p:cTn id="27" dur="1000"/>
                                        <p:tgtEl>
                                          <p:spTgt spid="142341"/>
                                        </p:tgtEl>
                                      </p:cBhvr>
                                    </p:animEffect>
                                  </p:childTnLst>
                                </p:cTn>
                              </p:par>
                              <p:par>
                                <p:cTn id="28" presetID="50" presetClass="entr" presetSubtype="0" decel="100000" fill="hold" grpId="0" nodeType="withEffect">
                                  <p:stCondLst>
                                    <p:cond delay="0"/>
                                  </p:stCondLst>
                                  <p:childTnLst>
                                    <p:set>
                                      <p:cBhvr>
                                        <p:cTn id="29" dur="1" fill="hold">
                                          <p:stCondLst>
                                            <p:cond delay="0"/>
                                          </p:stCondLst>
                                        </p:cTn>
                                        <p:tgtEl>
                                          <p:spTgt spid="142343"/>
                                        </p:tgtEl>
                                        <p:attrNameLst>
                                          <p:attrName>style.visibility</p:attrName>
                                        </p:attrNameLst>
                                      </p:cBhvr>
                                      <p:to>
                                        <p:strVal val="visible"/>
                                      </p:to>
                                    </p:set>
                                    <p:anim calcmode="lin" valueType="num">
                                      <p:cBhvr>
                                        <p:cTn id="30" dur="1000" fill="hold"/>
                                        <p:tgtEl>
                                          <p:spTgt spid="142343"/>
                                        </p:tgtEl>
                                        <p:attrNameLst>
                                          <p:attrName>ppt_w</p:attrName>
                                        </p:attrNameLst>
                                      </p:cBhvr>
                                      <p:tavLst>
                                        <p:tav tm="0">
                                          <p:val>
                                            <p:strVal val="#ppt_w+.3"/>
                                          </p:val>
                                        </p:tav>
                                        <p:tav tm="100000">
                                          <p:val>
                                            <p:strVal val="#ppt_w"/>
                                          </p:val>
                                        </p:tav>
                                      </p:tavLst>
                                    </p:anim>
                                    <p:anim calcmode="lin" valueType="num">
                                      <p:cBhvr>
                                        <p:cTn id="31" dur="1000" fill="hold"/>
                                        <p:tgtEl>
                                          <p:spTgt spid="142343"/>
                                        </p:tgtEl>
                                        <p:attrNameLst>
                                          <p:attrName>ppt_h</p:attrName>
                                        </p:attrNameLst>
                                      </p:cBhvr>
                                      <p:tavLst>
                                        <p:tav tm="0">
                                          <p:val>
                                            <p:strVal val="#ppt_h"/>
                                          </p:val>
                                        </p:tav>
                                        <p:tav tm="100000">
                                          <p:val>
                                            <p:strVal val="#ppt_h"/>
                                          </p:val>
                                        </p:tav>
                                      </p:tavLst>
                                    </p:anim>
                                    <p:animEffect transition="in" filter="fade">
                                      <p:cBhvr>
                                        <p:cTn id="32" dur="1000"/>
                                        <p:tgtEl>
                                          <p:spTgt spid="142343"/>
                                        </p:tgtEl>
                                      </p:cBhvr>
                                    </p:animEffect>
                                  </p:childTnLst>
                                </p:cTn>
                              </p:par>
                              <p:par>
                                <p:cTn id="33" presetID="50" presetClass="entr" presetSubtype="0" decel="100000" fill="hold" grpId="0" nodeType="withEffect">
                                  <p:stCondLst>
                                    <p:cond delay="0"/>
                                  </p:stCondLst>
                                  <p:childTnLst>
                                    <p:set>
                                      <p:cBhvr>
                                        <p:cTn id="34" dur="1" fill="hold">
                                          <p:stCondLst>
                                            <p:cond delay="0"/>
                                          </p:stCondLst>
                                        </p:cTn>
                                        <p:tgtEl>
                                          <p:spTgt spid="142344"/>
                                        </p:tgtEl>
                                        <p:attrNameLst>
                                          <p:attrName>style.visibility</p:attrName>
                                        </p:attrNameLst>
                                      </p:cBhvr>
                                      <p:to>
                                        <p:strVal val="visible"/>
                                      </p:to>
                                    </p:set>
                                    <p:anim calcmode="lin" valueType="num">
                                      <p:cBhvr>
                                        <p:cTn id="35" dur="1000" fill="hold"/>
                                        <p:tgtEl>
                                          <p:spTgt spid="142344"/>
                                        </p:tgtEl>
                                        <p:attrNameLst>
                                          <p:attrName>ppt_w</p:attrName>
                                        </p:attrNameLst>
                                      </p:cBhvr>
                                      <p:tavLst>
                                        <p:tav tm="0">
                                          <p:val>
                                            <p:strVal val="#ppt_w+.3"/>
                                          </p:val>
                                        </p:tav>
                                        <p:tav tm="100000">
                                          <p:val>
                                            <p:strVal val="#ppt_w"/>
                                          </p:val>
                                        </p:tav>
                                      </p:tavLst>
                                    </p:anim>
                                    <p:anim calcmode="lin" valueType="num">
                                      <p:cBhvr>
                                        <p:cTn id="36" dur="1000" fill="hold"/>
                                        <p:tgtEl>
                                          <p:spTgt spid="142344"/>
                                        </p:tgtEl>
                                        <p:attrNameLst>
                                          <p:attrName>ppt_h</p:attrName>
                                        </p:attrNameLst>
                                      </p:cBhvr>
                                      <p:tavLst>
                                        <p:tav tm="0">
                                          <p:val>
                                            <p:strVal val="#ppt_h"/>
                                          </p:val>
                                        </p:tav>
                                        <p:tav tm="100000">
                                          <p:val>
                                            <p:strVal val="#ppt_h"/>
                                          </p:val>
                                        </p:tav>
                                      </p:tavLst>
                                    </p:anim>
                                    <p:animEffect transition="in" filter="fade">
                                      <p:cBhvr>
                                        <p:cTn id="37" dur="1000"/>
                                        <p:tgtEl>
                                          <p:spTgt spid="142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p:bldP spid="142340" grpId="0"/>
      <p:bldP spid="142341" grpId="0"/>
      <p:bldP spid="142343" grpId="0"/>
      <p:bldP spid="14234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accent4"/>
            </a:gs>
            <a:gs pos="100000">
              <a:schemeClr val="accent5"/>
            </a:gs>
          </a:gsLst>
          <a:lin ang="5400000" scaled="1"/>
        </a:gradFill>
        <a:effectLst/>
      </p:bgPr>
    </p:bg>
    <p:spTree>
      <p:nvGrpSpPr>
        <p:cNvPr id="1" name=""/>
        <p:cNvGrpSpPr/>
        <p:nvPr/>
      </p:nvGrpSpPr>
      <p:grpSpPr>
        <a:xfrm>
          <a:off x="0" y="0"/>
          <a:ext cx="0" cy="0"/>
          <a:chOff x="0" y="0"/>
          <a:chExt cx="0" cy="0"/>
        </a:xfrm>
      </p:grpSpPr>
      <p:pic>
        <p:nvPicPr>
          <p:cNvPr id="25602" name="Picture 4" descr="Различные кегли">
            <a:extLst>
              <a:ext uri="{FF2B5EF4-FFF2-40B4-BE49-F238E27FC236}">
                <a16:creationId xmlns:a16="http://schemas.microsoft.com/office/drawing/2014/main" id="{531A619A-A055-4054-AD19-8508A6B98792}"/>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85800" y="5334000"/>
            <a:ext cx="6934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7">
            <a:extLst>
              <a:ext uri="{FF2B5EF4-FFF2-40B4-BE49-F238E27FC236}">
                <a16:creationId xmlns:a16="http://schemas.microsoft.com/office/drawing/2014/main" id="{49E81585-6D24-4BCD-9D6C-3B5B9DEFCB6B}"/>
              </a:ext>
            </a:extLst>
          </p:cNvPr>
          <p:cNvSpPr>
            <a:spLocks noChangeArrowheads="1"/>
          </p:cNvSpPr>
          <p:nvPr/>
        </p:nvSpPr>
        <p:spPr bwMode="auto">
          <a:xfrm>
            <a:off x="0" y="1628775"/>
            <a:ext cx="9144000" cy="344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ru-RU" altLang="ru-RU" sz="2000" b="1" i="0" u="sng" strike="noStrike" kern="1200" cap="none" spc="0" normalizeH="0" baseline="0" noProof="0">
                <a:ln>
                  <a:noFill/>
                </a:ln>
                <a:solidFill>
                  <a:srgbClr val="FF0000"/>
                </a:solidFill>
                <a:effectLst/>
                <a:uLnTx/>
                <a:uFillTx/>
                <a:latin typeface="Arial" panose="020B0604020202020204" pitchFamily="34" charset="0"/>
                <a:ea typeface="Times New Roman" panose="02020603050405020304" pitchFamily="18" charset="0"/>
                <a:cs typeface="Arial" panose="020B0604020202020204" pitchFamily="34" charset="0"/>
              </a:rPr>
              <a:t>Shrift hajmi</a:t>
            </a:r>
            <a:r>
              <a:rPr kumimoji="0" lang="ru-RU" altLang="ru-RU" sz="2000" b="1" i="0" u="none" strike="noStrike" kern="1200" cap="none" spc="0" normalizeH="0" baseline="0" noProof="0">
                <a:ln>
                  <a:noFill/>
                </a:ln>
                <a:solidFill>
                  <a:srgbClr val="0000FF"/>
                </a:solidFill>
                <a:effectLst/>
                <a:uLnTx/>
                <a:uFillTx/>
                <a:latin typeface="Arial" panose="020B0604020202020204" pitchFamily="34" charset="0"/>
                <a:ea typeface="Times New Roman" panose="02020603050405020304" pitchFamily="18" charset="0"/>
                <a:cs typeface="Arial" panose="020B0604020202020204" pitchFamily="34" charset="0"/>
              </a:rPr>
              <a:t> boshqacha nomlangan </a:t>
            </a:r>
            <a:r>
              <a:rPr kumimoji="0" lang="ru-RU" altLang="ru-RU" sz="2000" b="1" i="0" u="sng" strike="noStrike" kern="1200" cap="none" spc="0" normalizeH="0" baseline="0" noProof="0">
                <a:ln>
                  <a:noFill/>
                </a:ln>
                <a:solidFill>
                  <a:srgbClr val="FF0000"/>
                </a:solidFill>
                <a:effectLst/>
                <a:uLnTx/>
                <a:uFillTx/>
                <a:latin typeface="Arial" panose="020B0604020202020204" pitchFamily="34" charset="0"/>
                <a:ea typeface="Times New Roman" panose="02020603050405020304" pitchFamily="18" charset="0"/>
                <a:cs typeface="Arial" panose="020B0604020202020204" pitchFamily="34" charset="0"/>
              </a:rPr>
              <a:t>Kegl</a:t>
            </a:r>
            <a:r>
              <a:rPr kumimoji="0" lang="ru-RU" altLang="ru-RU" sz="2000" b="1" i="0" u="none" strike="noStrike" kern="1200" cap="none" spc="0" normalizeH="0" baseline="0" noProof="0">
                <a:ln>
                  <a:noFill/>
                </a:ln>
                <a:solidFill>
                  <a:srgbClr val="0000FF"/>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altLang="ru-RU" sz="2000" b="1"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ru-RU" altLang="ru-RU" sz="3600" b="1" i="0" u="sng" strike="noStrike" kern="1200" cap="none" spc="0" normalizeH="0" baseline="0" noProof="0">
                <a:ln>
                  <a:noFill/>
                </a:ln>
                <a:solidFill>
                  <a:srgbClr val="993366"/>
                </a:solidFill>
                <a:effectLst/>
                <a:uLnTx/>
                <a:uFillTx/>
                <a:latin typeface="Arial" panose="020B0604020202020204" pitchFamily="34" charset="0"/>
                <a:ea typeface="Times New Roman" panose="02020603050405020304" pitchFamily="18" charset="0"/>
                <a:cs typeface="Arial" panose="020B0604020202020204" pitchFamily="34" charset="0"/>
              </a:rPr>
              <a:t>Kegl</a:t>
            </a:r>
            <a:r>
              <a:rPr kumimoji="0" lang="ru-RU" altLang="ru-RU" sz="36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(shartli shrift hajmi) - bu </a:t>
            </a:r>
            <a:r>
              <a:rPr kumimoji="0" lang="ru-RU" altLang="ru-RU" sz="2800" b="0" i="0" u="none" strike="noStrike" kern="1200" cap="none" spc="0" normalizeH="0" baseline="0" noProof="0">
                <a:ln>
                  <a:noFill/>
                </a:ln>
                <a:solidFill>
                  <a:srgbClr val="000000"/>
                </a:solidFill>
                <a:effectLst/>
                <a:uLnTx/>
                <a:uFillTx/>
                <a:latin typeface="Verdana" panose="020B0604030504040204" pitchFamily="34" charset="0"/>
                <a:ea typeface="Times New Roman" panose="02020603050405020304" pitchFamily="18" charset="0"/>
                <a:cs typeface="Arial" panose="020B0604020202020204" pitchFamily="34" charset="0"/>
              </a:rPr>
              <a:t>yuqori va pastki shrift chiziqlari orasidagi masofa</a:t>
            </a:r>
            <a:r>
              <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ya'ni kichik harfning eng past qismining pastki qismidan masofa </a:t>
            </a:r>
            <a:r>
              <a:rPr kumimoji="0" lang="ru-RU" altLang="ru-RU" sz="2800" b="1" i="0" u="none" strike="noStrike" kern="1200" cap="none" spc="0" normalizeH="0" baseline="0" noProof="0">
                <a:ln>
                  <a:noFill/>
                </a:ln>
                <a:solidFill>
                  <a:srgbClr val="0000FF"/>
                </a:solidFill>
                <a:effectLst/>
                <a:uLnTx/>
                <a:uFillTx/>
                <a:latin typeface="Arial" panose="020B0604020202020204" pitchFamily="34" charset="0"/>
                <a:ea typeface="Times New Roman" panose="02020603050405020304" pitchFamily="18" charset="0"/>
                <a:cs typeface="Arial" panose="020B0604020202020204" pitchFamily="34" charset="0"/>
              </a:rPr>
              <a:t>r</a:t>
            </a:r>
            <a:r>
              <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yoki </a:t>
            </a:r>
            <a:r>
              <a:rPr kumimoji="0" lang="ru-RU" altLang="ru-RU" sz="2800" b="1" i="0" u="none" strike="noStrike" kern="1200" cap="none" spc="0" normalizeH="0" baseline="0" noProof="0">
                <a:ln>
                  <a:noFill/>
                </a:ln>
                <a:solidFill>
                  <a:srgbClr val="0000FF"/>
                </a:solidFill>
                <a:effectLst/>
                <a:uLnTx/>
                <a:uFillTx/>
                <a:latin typeface="Arial" panose="020B0604020202020204" pitchFamily="34" charset="0"/>
                <a:ea typeface="Times New Roman" panose="02020603050405020304" pitchFamily="18" charset="0"/>
                <a:cs typeface="Arial" panose="020B0604020202020204" pitchFamily="34" charset="0"/>
              </a:rPr>
              <a:t>u</a:t>
            </a:r>
            <a:r>
              <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eng yuqori bosh harfning yuqori chetiga </a:t>
            </a:r>
            <a:r>
              <a:rPr kumimoji="0" lang="ru-RU" altLang="ru-RU" sz="3200" b="1" i="0" u="none" strike="noStrike" kern="1200" cap="none" spc="0" normalizeH="0" baseline="0" noProof="0">
                <a:ln>
                  <a:noFill/>
                </a:ln>
                <a:solidFill>
                  <a:srgbClr val="0000FF"/>
                </a:solidFill>
                <a:effectLst/>
                <a:uLnTx/>
                <a:uFillTx/>
                <a:latin typeface="Arial" panose="020B0604020202020204" pitchFamily="34" charset="0"/>
                <a:ea typeface="Times New Roman" panose="02020603050405020304" pitchFamily="18" charset="0"/>
                <a:cs typeface="Arial" panose="020B0604020202020204" pitchFamily="34" charset="0"/>
              </a:rPr>
              <a:t>R</a:t>
            </a:r>
            <a:r>
              <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yoki </a:t>
            </a:r>
            <a:r>
              <a:rPr kumimoji="0" lang="ru-RU" altLang="ru-RU" sz="3200" b="1" i="0" u="none" strike="noStrike" kern="1200" cap="none" spc="0" normalizeH="0" baseline="0" noProof="0">
                <a:ln>
                  <a:noFill/>
                </a:ln>
                <a:solidFill>
                  <a:srgbClr val="0000FF"/>
                </a:solidFill>
                <a:effectLst/>
                <a:uLnTx/>
                <a:uFillTx/>
                <a:latin typeface="Arial" panose="020B0604020202020204" pitchFamily="34" charset="0"/>
                <a:ea typeface="Times New Roman" panose="02020603050405020304" pitchFamily="18" charset="0"/>
                <a:cs typeface="Arial" panose="020B0604020202020204" pitchFamily="34" charset="0"/>
              </a:rPr>
              <a:t>U</a:t>
            </a:r>
            <a:r>
              <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ru-RU" altLang="ru-RU" sz="2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25604" name="Rectangle 9">
            <a:extLst>
              <a:ext uri="{FF2B5EF4-FFF2-40B4-BE49-F238E27FC236}">
                <a16:creationId xmlns:a16="http://schemas.microsoft.com/office/drawing/2014/main" id="{400BC6BE-6272-4DBC-9C53-910147CEA913}"/>
              </a:ext>
            </a:extLst>
          </p:cNvPr>
          <p:cNvSpPr>
            <a:spLocks noChangeArrowheads="1"/>
          </p:cNvSpPr>
          <p:nvPr/>
        </p:nvSpPr>
        <p:spPr bwMode="auto">
          <a:xfrm>
            <a:off x="3962400" y="4402138"/>
            <a:ext cx="2959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tabLst>
                <a:tab pos="685800" algn="l"/>
              </a:tabLst>
              <a:defRPr>
                <a:solidFill>
                  <a:schemeClr val="tx1"/>
                </a:solidFill>
                <a:latin typeface="Arial" panose="020B0604020202020204" pitchFamily="34" charset="0"/>
              </a:defRPr>
            </a:lvl1pPr>
            <a:lvl2pPr marL="742950" indent="-285750" eaLnBrk="0" hangingPunct="0">
              <a:tabLst>
                <a:tab pos="685800" algn="l"/>
              </a:tabLst>
              <a:defRPr>
                <a:solidFill>
                  <a:schemeClr val="tx1"/>
                </a:solidFill>
                <a:latin typeface="Arial" panose="020B0604020202020204" pitchFamily="34" charset="0"/>
              </a:defRPr>
            </a:lvl2pPr>
            <a:lvl3pPr marL="1143000" indent="-228600" eaLnBrk="0" hangingPunct="0">
              <a:tabLst>
                <a:tab pos="685800" algn="l"/>
              </a:tabLst>
              <a:defRPr>
                <a:solidFill>
                  <a:schemeClr val="tx1"/>
                </a:solidFill>
                <a:latin typeface="Arial" panose="020B0604020202020204" pitchFamily="34" charset="0"/>
              </a:defRPr>
            </a:lvl3pPr>
            <a:lvl4pPr marL="1600200" indent="-228600" eaLnBrk="0" hangingPunct="0">
              <a:tabLst>
                <a:tab pos="685800" algn="l"/>
              </a:tabLst>
              <a:defRPr>
                <a:solidFill>
                  <a:schemeClr val="tx1"/>
                </a:solidFill>
                <a:latin typeface="Arial" panose="020B0604020202020204" pitchFamily="34" charset="0"/>
              </a:defRPr>
            </a:lvl4pPr>
            <a:lvl5pPr marL="2057400" indent="-228600" eaLnBrk="0" hangingPunct="0">
              <a:tabLst>
                <a:tab pos="685800"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685800"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685800"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685800"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685800" algn="l"/>
              </a:tabLs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tab pos="685800" algn="l"/>
              </a:tabLst>
              <a:defRPr/>
            </a:pPr>
            <a:r>
              <a:rPr kumimoji="0" lang="ru-RU" altLang="ru-RU" sz="14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a:t>
            </a:r>
            <a:r>
              <a:rPr kumimoji="0" lang="ru-RU" altLang="ru-RU" sz="1800" b="0" i="0" u="sng" strike="noStrike" kern="1200" cap="none" spc="0" normalizeH="0" baseline="0" noProof="0">
                <a:ln>
                  <a:noFill/>
                </a:ln>
                <a:solidFill>
                  <a:srgbClr val="993366"/>
                </a:solidFill>
                <a:effectLst/>
                <a:uLnTx/>
                <a:uFillTx/>
                <a:latin typeface="Arial" panose="020B0604020202020204" pitchFamily="34" charset="0"/>
                <a:ea typeface="Times New Roman" panose="02020603050405020304" pitchFamily="18" charset="0"/>
                <a:cs typeface="Arial" panose="020B0604020202020204" pitchFamily="34" charset="0"/>
              </a:rPr>
              <a:t>Nuqtalarda o'lchanadi</a:t>
            </a: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tab pos="685800" algn="l"/>
              </a:tabLst>
              <a:defRPr/>
            </a:pPr>
            <a:endPar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tab pos="685800" algn="l"/>
              </a:tabLst>
              <a:defRPr/>
            </a:pPr>
            <a:r>
              <a:rPr kumimoji="0" lang="ru-RU" altLang="ru-RU" sz="1800" b="1" i="0" u="sng" strike="noStrike" kern="1200" cap="none" spc="0" normalizeH="0" baseline="0" noProof="0">
                <a:ln>
                  <a:noFill/>
                </a:ln>
                <a:solidFill>
                  <a:srgbClr val="993366"/>
                </a:solidFill>
                <a:effectLst/>
                <a:uLnTx/>
                <a:uFillTx/>
                <a:latin typeface="Arial" panose="020B0604020202020204" pitchFamily="34" charset="0"/>
                <a:ea typeface="Times New Roman" panose="02020603050405020304" pitchFamily="18" charset="0"/>
                <a:cs typeface="Arial" panose="020B0604020202020204" pitchFamily="34" charset="0"/>
              </a:rPr>
              <a:t>1-band</a:t>
            </a: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 = </a:t>
            </a:r>
            <a:r>
              <a:rPr kumimoji="0" lang="ru-RU" altLang="ru-RU" sz="14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≈0,035 sm ≈ 0,35 mm. </a:t>
            </a:r>
            <a:endParaRPr kumimoji="0" lang="ru-RU" altLang="ru-RU" sz="12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
                <a:srgbClr val="000000"/>
              </a:buClr>
              <a:buSzTx/>
              <a:buFontTx/>
              <a:buNone/>
              <a:tabLst>
                <a:tab pos="685800" algn="l"/>
              </a:tabLst>
              <a:defRPr/>
            </a:pPr>
            <a:endPar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endParaRPr>
          </a:p>
        </p:txBody>
      </p:sp>
      <p:sp>
        <p:nvSpPr>
          <p:cNvPr id="25605" name="Rectangle 11">
            <a:extLst>
              <a:ext uri="{FF2B5EF4-FFF2-40B4-BE49-F238E27FC236}">
                <a16:creationId xmlns:a16="http://schemas.microsoft.com/office/drawing/2014/main" id="{C41A9C9C-FD4B-4425-BCF1-D9D2A3687383}"/>
              </a:ext>
            </a:extLst>
          </p:cNvPr>
          <p:cNvSpPr>
            <a:spLocks noChangeArrowheads="1"/>
          </p:cNvSpPr>
          <p:nvPr/>
        </p:nvSpPr>
        <p:spPr bwMode="auto">
          <a:xfrm>
            <a:off x="1981200" y="762000"/>
            <a:ext cx="4030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ru-RU" altLang="ru-RU" sz="4000" b="1" i="0" u="none" strike="noStrike" kern="1200" cap="none" spc="0" normalizeH="0" baseline="0" noProof="0">
                <a:ln>
                  <a:noFill/>
                </a:ln>
                <a:solidFill>
                  <a:srgbClr val="FF0000"/>
                </a:solidFill>
                <a:effectLst/>
                <a:uLnTx/>
                <a:uFillTx/>
                <a:latin typeface="Comic Sans MS" panose="030F0702030302020204" pitchFamily="66" charset="0"/>
                <a:ea typeface="+mn-ea"/>
                <a:cs typeface="+mn-cs"/>
              </a:rPr>
              <a:t>Shrift hajmi</a:t>
            </a:r>
          </a:p>
        </p:txBody>
      </p:sp>
      <p:pic>
        <p:nvPicPr>
          <p:cNvPr id="25606" name="Picture 13">
            <a:extLst>
              <a:ext uri="{FF2B5EF4-FFF2-40B4-BE49-F238E27FC236}">
                <a16:creationId xmlns:a16="http://schemas.microsoft.com/office/drawing/2014/main" id="{0206D6F5-3620-470A-9693-63152FBE42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25868"/>
          <a:stretch>
            <a:fillRect/>
          </a:stretch>
        </p:blipFill>
        <p:spPr bwMode="auto">
          <a:xfrm>
            <a:off x="6248400" y="990600"/>
            <a:ext cx="2362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14" descr="format">
            <a:extLst>
              <a:ext uri="{FF2B5EF4-FFF2-40B4-BE49-F238E27FC236}">
                <a16:creationId xmlns:a16="http://schemas.microsoft.com/office/drawing/2014/main" id="{729B4E02-E6FD-4541-9AE0-5C535809351A}"/>
              </a:ext>
            </a:extLst>
          </p:cNvPr>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Rectangle 15">
            <a:extLst>
              <a:ext uri="{FF2B5EF4-FFF2-40B4-BE49-F238E27FC236}">
                <a16:creationId xmlns:a16="http://schemas.microsoft.com/office/drawing/2014/main" id="{A2418B86-8BF7-44F1-89D9-B56BC95D642A}"/>
              </a:ext>
            </a:extLst>
          </p:cNvPr>
          <p:cNvSpPr>
            <a:spLocks noChangeArrowheads="1"/>
          </p:cNvSpPr>
          <p:nvPr/>
        </p:nvSpPr>
        <p:spPr bwMode="auto">
          <a:xfrm>
            <a:off x="1905000" y="5943600"/>
            <a:ext cx="495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ru-RU" altLang="ru-RU" sz="1800" b="0" i="0" u="none" strike="noStrike" kern="1200" cap="none" spc="0" normalizeH="0" baseline="0" noProof="0">
                <a:ln>
                  <a:noFill/>
                </a:ln>
                <a:solidFill>
                  <a:srgbClr val="000000"/>
                </a:solidFill>
                <a:effectLst/>
                <a:uLnTx/>
                <a:uFillTx/>
                <a:latin typeface="Arial" panose="020B0604020202020204" pitchFamily="34" charset="0"/>
                <a:ea typeface="+mn-ea"/>
                <a:cs typeface="+mn-cs"/>
              </a:rPr>
              <a:t>Rasmda bir nechta pinlar ko'rsatilgan.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100000"/>
                <a:alpha val="100000"/>
                <a:satMod val="140000"/>
              </a:schemeClr>
            </a:gs>
            <a:gs pos="14000">
              <a:schemeClr val="bg1">
                <a:tint val="100000"/>
                <a:shade val="90000"/>
                <a:alpha val="100000"/>
              </a:schemeClr>
            </a:gs>
            <a:gs pos="100000">
              <a:srgbClr val="0070C0"/>
            </a:gs>
          </a:gsLst>
          <a:lin ang="5400000" scaled="0"/>
        </a:gradFill>
        <a:effectLst/>
      </p:bgPr>
    </p:bg>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327914DC-9E03-42D3-A644-8D4E43518160}"/>
              </a:ext>
            </a:extLst>
          </p:cNvPr>
          <p:cNvSpPr>
            <a:spLocks noGrp="1" noChangeArrowheads="1"/>
          </p:cNvSpPr>
          <p:nvPr>
            <p:ph type="title"/>
          </p:nvPr>
        </p:nvSpPr>
        <p:spPr>
          <a:xfrm>
            <a:off x="852488" y="381000"/>
            <a:ext cx="8291512" cy="1143000"/>
          </a:xfrm>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Belgilarning uslubi va turi</a:t>
            </a:r>
          </a:p>
        </p:txBody>
      </p:sp>
      <p:sp>
        <p:nvSpPr>
          <p:cNvPr id="144387" name="Text Box 3">
            <a:extLst>
              <a:ext uri="{FF2B5EF4-FFF2-40B4-BE49-F238E27FC236}">
                <a16:creationId xmlns:a16="http://schemas.microsoft.com/office/drawing/2014/main" id="{97AC0EBC-5970-498B-8D5A-C3D09036F33F}"/>
              </a:ext>
            </a:extLst>
          </p:cNvPr>
          <p:cNvSpPr txBox="1">
            <a:spLocks noChangeArrowheads="1"/>
          </p:cNvSpPr>
          <p:nvPr/>
        </p:nvSpPr>
        <p:spPr bwMode="auto">
          <a:xfrm>
            <a:off x="0" y="1676400"/>
            <a:ext cx="5400675" cy="457200"/>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Chizma</a:t>
            </a:r>
            <a:r>
              <a:rPr kumimoji="0" lang="ru-RU" sz="1200" b="0" i="0" u="none" strike="noStrike" kern="1200" cap="none" spc="0" normalizeH="0" baseline="0" noProof="0">
                <a:ln>
                  <a:noFill/>
                </a:ln>
                <a:solidFill>
                  <a:srgbClr val="DA2B0E"/>
                </a:solidFill>
                <a:effectLst>
                  <a:outerShdw blurRad="38100" dist="38100" dir="2700000" algn="tl">
                    <a:srgbClr val="000000"/>
                  </a:outerShdw>
                </a:effectLst>
                <a:uLnTx/>
                <a:uFillTx/>
                <a:latin typeface="Times New Roman" pitchFamily="18" charset="0"/>
                <a:ea typeface="+mn-ea"/>
                <a:cs typeface="+mn-cs"/>
              </a:rPr>
              <a:t> </a:t>
            </a: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bu sodir bo'ladi</a:t>
            </a:r>
            <a:r>
              <a:rPr kumimoji="0" lang="ru-RU" sz="2000" b="0" i="0" u="none" strike="noStrike" kern="1200" cap="none" spc="0" normalizeH="0" baseline="0" noProof="0">
                <a:ln>
                  <a:noFill/>
                </a:ln>
                <a:solidFill>
                  <a:srgbClr val="DA2B0E"/>
                </a:solidFill>
                <a:effectLst>
                  <a:outerShdw blurRad="38100" dist="38100" dir="2700000" algn="tl">
                    <a:srgbClr val="000000"/>
                  </a:outerShdw>
                </a:effectLst>
                <a:uLnTx/>
                <a:uFillTx/>
                <a:latin typeface="Times New Roman" pitchFamily="18" charset="0"/>
                <a:ea typeface="+mn-ea"/>
                <a:cs typeface="+mn-cs"/>
              </a:rPr>
              <a:t>:</a:t>
            </a:r>
          </a:p>
        </p:txBody>
      </p:sp>
      <p:sp>
        <p:nvSpPr>
          <p:cNvPr id="26628" name="Text Box 4">
            <a:extLst>
              <a:ext uri="{FF2B5EF4-FFF2-40B4-BE49-F238E27FC236}">
                <a16:creationId xmlns:a16="http://schemas.microsoft.com/office/drawing/2014/main" id="{39BD6EC2-E998-4D1D-B365-EF9BD1DCBC67}"/>
              </a:ext>
            </a:extLst>
          </p:cNvPr>
          <p:cNvSpPr txBox="1">
            <a:spLocks noChangeArrowheads="1"/>
          </p:cNvSpPr>
          <p:nvPr/>
        </p:nvSpPr>
        <p:spPr bwMode="auto">
          <a:xfrm>
            <a:off x="990600" y="2514600"/>
            <a:ext cx="223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1"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qalin,</a:t>
            </a:r>
          </a:p>
        </p:txBody>
      </p:sp>
      <p:sp>
        <p:nvSpPr>
          <p:cNvPr id="26629" name="Text Box 5">
            <a:extLst>
              <a:ext uri="{FF2B5EF4-FFF2-40B4-BE49-F238E27FC236}">
                <a16:creationId xmlns:a16="http://schemas.microsoft.com/office/drawing/2014/main" id="{8845ACDF-2749-48F2-8296-5A3F44C09D00}"/>
              </a:ext>
            </a:extLst>
          </p:cNvPr>
          <p:cNvSpPr txBox="1">
            <a:spLocks noChangeArrowheads="1"/>
          </p:cNvSpPr>
          <p:nvPr/>
        </p:nvSpPr>
        <p:spPr bwMode="auto">
          <a:xfrm>
            <a:off x="3657600" y="32766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1"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kursiv,</a:t>
            </a:r>
          </a:p>
        </p:txBody>
      </p:sp>
      <p:sp>
        <p:nvSpPr>
          <p:cNvPr id="26630" name="Text Box 7">
            <a:extLst>
              <a:ext uri="{FF2B5EF4-FFF2-40B4-BE49-F238E27FC236}">
                <a16:creationId xmlns:a16="http://schemas.microsoft.com/office/drawing/2014/main" id="{DD1C508E-181A-4B28-BA83-1139C4AD8BFC}"/>
              </a:ext>
            </a:extLst>
          </p:cNvPr>
          <p:cNvSpPr txBox="1">
            <a:spLocks noChangeArrowheads="1"/>
          </p:cNvSpPr>
          <p:nvPr/>
        </p:nvSpPr>
        <p:spPr bwMode="auto">
          <a:xfrm>
            <a:off x="5791200" y="2590800"/>
            <a:ext cx="2557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sng" strike="noStrike" kern="1200" cap="none" spc="0" normalizeH="0" baseline="0" noProof="0">
                <a:ln>
                  <a:noFill/>
                </a:ln>
                <a:solidFill>
                  <a:srgbClr val="FFFFFF"/>
                </a:solidFill>
                <a:effectLst/>
                <a:uLnTx/>
                <a:uFillTx/>
                <a:latin typeface="Times New Roman" panose="02020603050405020304" pitchFamily="18" charset="0"/>
                <a:ea typeface="+mn-ea"/>
                <a:cs typeface="+mn-cs"/>
              </a:rPr>
              <a:t>pastki chiziq.</a:t>
            </a:r>
          </a:p>
        </p:txBody>
      </p:sp>
      <p:sp>
        <p:nvSpPr>
          <p:cNvPr id="144392" name="Text Box 8">
            <a:extLst>
              <a:ext uri="{FF2B5EF4-FFF2-40B4-BE49-F238E27FC236}">
                <a16:creationId xmlns:a16="http://schemas.microsoft.com/office/drawing/2014/main" id="{A2598F89-B4DB-4C16-93A7-67E0E0A1C310}"/>
              </a:ext>
            </a:extLst>
          </p:cNvPr>
          <p:cNvSpPr txBox="1">
            <a:spLocks noChangeArrowheads="1"/>
          </p:cNvSpPr>
          <p:nvPr/>
        </p:nvSpPr>
        <p:spPr bwMode="auto">
          <a:xfrm>
            <a:off x="0" y="3962400"/>
            <a:ext cx="3384550" cy="457200"/>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Ko'rinish</a:t>
            </a:r>
            <a:r>
              <a:rPr kumimoji="0" lang="ru-RU" sz="2000" b="0" i="0" u="none" strike="noStrike" kern="1200" cap="none" spc="0" normalizeH="0" baseline="0" noProof="0">
                <a:ln>
                  <a:noFill/>
                </a:ln>
                <a:solidFill>
                  <a:srgbClr val="DA2B0E"/>
                </a:solidFill>
                <a:effectLst>
                  <a:outerShdw blurRad="38100" dist="38100" dir="2700000" algn="tl">
                    <a:srgbClr val="000000"/>
                  </a:outerShdw>
                </a:effectLst>
                <a:uLnTx/>
                <a:uFillTx/>
                <a:latin typeface="Times New Roman" pitchFamily="18" charset="0"/>
                <a:ea typeface="+mn-ea"/>
                <a:cs typeface="+mn-cs"/>
              </a:rPr>
              <a:t> </a:t>
            </a: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belgilar</a:t>
            </a:r>
            <a:r>
              <a:rPr kumimoji="0" lang="ru-RU" sz="2000" b="0" i="0" u="none" strike="noStrike" kern="1200" cap="none" spc="0" normalizeH="0" baseline="0" noProof="0">
                <a:ln>
                  <a:noFill/>
                </a:ln>
                <a:solidFill>
                  <a:srgbClr val="DA2B0E"/>
                </a:solidFill>
                <a:effectLst>
                  <a:outerShdw blurRad="38100" dist="38100" dir="2700000" algn="tl">
                    <a:srgbClr val="000000"/>
                  </a:outerShdw>
                </a:effectLst>
                <a:uLnTx/>
                <a:uFillTx/>
                <a:latin typeface="Times New Roman" pitchFamily="18" charset="0"/>
                <a:ea typeface="+mn-ea"/>
                <a:cs typeface="+mn-cs"/>
              </a:rPr>
              <a:t>:</a:t>
            </a:r>
          </a:p>
        </p:txBody>
      </p:sp>
      <p:sp>
        <p:nvSpPr>
          <p:cNvPr id="26632" name="Text Box 9">
            <a:extLst>
              <a:ext uri="{FF2B5EF4-FFF2-40B4-BE49-F238E27FC236}">
                <a16:creationId xmlns:a16="http://schemas.microsoft.com/office/drawing/2014/main" id="{525DB043-6A60-4F26-B97D-597F794615CB}"/>
              </a:ext>
            </a:extLst>
          </p:cNvPr>
          <p:cNvSpPr txBox="1">
            <a:spLocks noChangeArrowheads="1"/>
          </p:cNvSpPr>
          <p:nvPr/>
        </p:nvSpPr>
        <p:spPr bwMode="auto">
          <a:xfrm>
            <a:off x="2411413" y="4508500"/>
            <a:ext cx="6192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30000" noProof="0">
                <a:ln>
                  <a:noFill/>
                </a:ln>
                <a:solidFill>
                  <a:srgbClr val="FFFFFF"/>
                </a:solidFill>
                <a:effectLst/>
                <a:uLnTx/>
                <a:uFillTx/>
                <a:latin typeface="Times New Roman" panose="02020603050405020304" pitchFamily="18" charset="0"/>
                <a:ea typeface="+mn-ea"/>
                <a:cs typeface="+mn-cs"/>
              </a:rPr>
              <a:t>yuqori indeks</a:t>
            </a:r>
            <a:r>
              <a:rPr kumimoji="0" lang="ru-RU" altLang="ru-RU" sz="1800" b="0" i="0" u="none" strike="noStrike" kern="1200" cap="none" spc="0" normalizeH="0" baseline="30000" noProof="0">
                <a:ln>
                  <a:noFill/>
                </a:ln>
                <a:solidFill>
                  <a:srgbClr val="FFFFFF"/>
                </a:solidFill>
                <a:effectLst/>
                <a:uLnTx/>
                <a:uFillTx/>
                <a:latin typeface="Times New Roman" panose="02020603050405020304" pitchFamily="18" charset="0"/>
                <a:ea typeface="+mn-ea"/>
                <a:cs typeface="+mn-cs"/>
              </a:rPr>
              <a:t>,</a:t>
            </a:r>
            <a:r>
              <a:rPr kumimoji="0" lang="ru-RU" altLang="ru-RU" sz="18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      </a:t>
            </a:r>
            <a:r>
              <a:rPr kumimoji="0" lang="ru-RU" altLang="ru-RU" sz="2400" b="0" i="0" u="none" strike="noStrike" kern="1200" cap="none" spc="0" normalizeH="0" baseline="-25000" noProof="0">
                <a:ln>
                  <a:noFill/>
                </a:ln>
                <a:solidFill>
                  <a:srgbClr val="FFFFFF"/>
                </a:solidFill>
                <a:effectLst/>
                <a:uLnTx/>
                <a:uFillTx/>
                <a:latin typeface="Times New Roman" panose="02020603050405020304" pitchFamily="18" charset="0"/>
                <a:ea typeface="+mn-ea"/>
                <a:cs typeface="+mn-cs"/>
              </a:rPr>
              <a:t>pastki indeks,      </a:t>
            </a: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chizilgan,</a:t>
            </a:r>
          </a:p>
        </p:txBody>
      </p:sp>
      <p:sp>
        <p:nvSpPr>
          <p:cNvPr id="26633" name="Line 10">
            <a:extLst>
              <a:ext uri="{FF2B5EF4-FFF2-40B4-BE49-F238E27FC236}">
                <a16:creationId xmlns:a16="http://schemas.microsoft.com/office/drawing/2014/main" id="{150849E7-CF65-46EB-B104-A4FEC6CBC99F}"/>
              </a:ext>
            </a:extLst>
          </p:cNvPr>
          <p:cNvSpPr>
            <a:spLocks noChangeShapeType="1"/>
          </p:cNvSpPr>
          <p:nvPr/>
        </p:nvSpPr>
        <p:spPr bwMode="auto">
          <a:xfrm>
            <a:off x="6011863" y="4797425"/>
            <a:ext cx="158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26634" name="Text Box 11">
            <a:extLst>
              <a:ext uri="{FF2B5EF4-FFF2-40B4-BE49-F238E27FC236}">
                <a16:creationId xmlns:a16="http://schemas.microsoft.com/office/drawing/2014/main" id="{6E879142-AF5A-4D22-8734-091F1AD25F72}"/>
              </a:ext>
            </a:extLst>
          </p:cNvPr>
          <p:cNvSpPr txBox="1">
            <a:spLocks noChangeArrowheads="1"/>
          </p:cNvSpPr>
          <p:nvPr/>
        </p:nvSpPr>
        <p:spPr bwMode="auto">
          <a:xfrm>
            <a:off x="2484438" y="5805488"/>
            <a:ext cx="5472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r a z r e f e n n y, siqilgan</a:t>
            </a:r>
          </a:p>
        </p:txBody>
      </p:sp>
      <p:sp>
        <p:nvSpPr>
          <p:cNvPr id="144396" name="Text Box 12">
            <a:extLst>
              <a:ext uri="{FF2B5EF4-FFF2-40B4-BE49-F238E27FC236}">
                <a16:creationId xmlns:a16="http://schemas.microsoft.com/office/drawing/2014/main" id="{353076B8-76C1-470C-9FBE-83AA622C745C}"/>
              </a:ext>
            </a:extLst>
          </p:cNvPr>
          <p:cNvSpPr txBox="1">
            <a:spLocks noChangeArrowheads="1"/>
          </p:cNvSpPr>
          <p:nvPr/>
        </p:nvSpPr>
        <p:spPr bwMode="auto">
          <a:xfrm>
            <a:off x="2484438" y="5229225"/>
            <a:ext cx="5543550" cy="457200"/>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FFFFFF"/>
                </a:solidFill>
                <a:effectLst>
                  <a:outerShdw blurRad="38100" dist="38100" dir="2700000" algn="tl">
                    <a:srgbClr val="FFFFFF"/>
                  </a:outerShdw>
                </a:effectLst>
                <a:uLnTx/>
                <a:uFillTx/>
                <a:latin typeface="Times New Roman" pitchFamily="18" charset="0"/>
                <a:ea typeface="+mn-ea"/>
                <a:cs typeface="+mn-cs"/>
              </a:rPr>
              <a:t>soya,</a:t>
            </a:r>
            <a:r>
              <a:rPr kumimoji="0" lang="ru-RU" sz="2400" b="0" i="0" u="none" strike="noStrike" kern="1200" cap="none" spc="0" normalizeH="0" baseline="0" noProof="0">
                <a:ln>
                  <a:noFill/>
                </a:ln>
                <a:solidFill>
                  <a:srgbClr val="FFFFFF"/>
                </a:solidFill>
                <a:effectLst/>
                <a:uLnTx/>
                <a:uFillTx/>
                <a:latin typeface="Times New Roman" pitchFamily="18" charset="0"/>
                <a:ea typeface="+mn-ea"/>
                <a:cs typeface="+mn-cs"/>
              </a:rPr>
              <a:t>        </a:t>
            </a:r>
            <a:r>
              <a:rPr kumimoji="0" lang="ru-RU" sz="2400" b="0" i="0" u="none" strike="noStrike" kern="1200" cap="none" spc="0" normalizeH="0" baseline="0" noProof="0">
                <a:ln>
                  <a:noFill/>
                </a:ln>
                <a:solidFill>
                  <a:srgbClr val="FFFF99"/>
                </a:solidFill>
                <a:effectDag name="">
                  <a:cont type="tree" name="">
                    <a:effect ref="fillLine"/>
                    <a:outerShdw dist="38100" dir="13500000" algn="br">
                      <a:srgbClr val="FFFFBB"/>
                    </a:outerShdw>
                  </a:cont>
                  <a:cont type="tree" name="">
                    <a:effect ref="fillLine"/>
                    <a:outerShdw dist="38100" dir="2700000" algn="tl">
                      <a:srgbClr val="99985B"/>
                    </a:outerShdw>
                  </a:cont>
                  <a:effect ref="fillLine"/>
                </a:effectDag>
                <a:uLnTx/>
                <a:uFillTx/>
                <a:latin typeface="Times New Roman" pitchFamily="18" charset="0"/>
                <a:ea typeface="+mn-ea"/>
                <a:cs typeface="+mn-cs"/>
              </a:rPr>
              <a:t>yengillik,</a:t>
            </a:r>
          </a:p>
        </p:txBody>
      </p:sp>
      <p:pic>
        <p:nvPicPr>
          <p:cNvPr id="26636" name="Picture 14">
            <a:extLst>
              <a:ext uri="{FF2B5EF4-FFF2-40B4-BE49-F238E27FC236}">
                <a16:creationId xmlns:a16="http://schemas.microsoft.com/office/drawing/2014/main" id="{F2B28EB5-88E8-4235-901D-BD2BF7016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8276"/>
          <a:stretch>
            <a:fillRect/>
          </a:stretch>
        </p:blipFill>
        <p:spPr bwMode="auto">
          <a:xfrm>
            <a:off x="3352800" y="2514600"/>
            <a:ext cx="22860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7" name="Picture 15" descr="format">
            <a:extLst>
              <a:ext uri="{FF2B5EF4-FFF2-40B4-BE49-F238E27FC236}">
                <a16:creationId xmlns:a16="http://schemas.microsoft.com/office/drawing/2014/main" id="{D5B6CD47-7FB3-4A57-840B-8299B6684667}"/>
              </a:ext>
            </a:extLst>
          </p:cNvPr>
          <p:cNvPicPr>
            <a:picLocks noChangeAspect="1" noChangeArrowheads="1"/>
          </p:cNvPicPr>
          <p:nvPr/>
        </p:nvPicPr>
        <p:blipFill>
          <a:blip r:embed="rId3">
            <a:lum bright="-6000" contrast="6000"/>
            <a:extLst>
              <a:ext uri="{28A0092B-C50C-407E-A947-70E740481C1C}">
                <a14:useLocalDpi xmlns:a14="http://schemas.microsoft.com/office/drawing/2010/main" val="0"/>
              </a:ext>
            </a:extLst>
          </a:blip>
          <a:srcRect/>
          <a:stretch>
            <a:fillRect/>
          </a:stretch>
        </p:blipFill>
        <p:spPr bwMode="auto">
          <a:xfrm>
            <a:off x="0" y="1524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100000"/>
                <a:alpha val="100000"/>
                <a:satMod val="140000"/>
              </a:schemeClr>
            </a:gs>
            <a:gs pos="31000">
              <a:srgbClr val="0070C0"/>
            </a:gs>
            <a:gs pos="100000">
              <a:srgbClr val="00B0F0"/>
            </a:gs>
          </a:gsLst>
          <a:lin ang="5400000" scaled="0"/>
        </a:grad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AA4417A2-EBD0-4777-A8E5-02AE8CC4E943}"/>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Belgilar rangi</a:t>
            </a:r>
          </a:p>
        </p:txBody>
      </p:sp>
      <p:sp>
        <p:nvSpPr>
          <p:cNvPr id="145411" name="Text Box 3">
            <a:extLst>
              <a:ext uri="{FF2B5EF4-FFF2-40B4-BE49-F238E27FC236}">
                <a16:creationId xmlns:a16="http://schemas.microsoft.com/office/drawing/2014/main" id="{747A19F7-1C8B-4243-859D-830C01265C84}"/>
              </a:ext>
            </a:extLst>
          </p:cNvPr>
          <p:cNvSpPr txBox="1">
            <a:spLocks noChangeArrowheads="1"/>
          </p:cNvSpPr>
          <p:nvPr/>
        </p:nvSpPr>
        <p:spPr bwMode="auto">
          <a:xfrm>
            <a:off x="1258888" y="1773238"/>
            <a:ext cx="6624637" cy="457200"/>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Ko'p rangli</a:t>
            </a:r>
            <a:r>
              <a:rPr kumimoji="0" lang="ru-RU" sz="1200" b="0" i="0" u="none" strike="noStrike" kern="1200" cap="none" spc="0" normalizeH="0" baseline="0" noProof="0">
                <a:ln>
                  <a:noFill/>
                </a:ln>
                <a:solidFill>
                  <a:srgbClr val="DA2B0E"/>
                </a:solidFill>
                <a:effectLst>
                  <a:outerShdw blurRad="38100" dist="38100" dir="2700000" algn="tl">
                    <a:srgbClr val="000000"/>
                  </a:outerShdw>
                </a:effectLst>
                <a:uLnTx/>
                <a:uFillTx/>
                <a:latin typeface="Times New Roman" pitchFamily="18" charset="0"/>
                <a:ea typeface="+mn-ea"/>
                <a:cs typeface="+mn-cs"/>
              </a:rPr>
              <a:t> </a:t>
            </a: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chop etish</a:t>
            </a:r>
          </a:p>
        </p:txBody>
      </p:sp>
      <p:sp>
        <p:nvSpPr>
          <p:cNvPr id="27652" name="Text Box 4">
            <a:extLst>
              <a:ext uri="{FF2B5EF4-FFF2-40B4-BE49-F238E27FC236}">
                <a16:creationId xmlns:a16="http://schemas.microsoft.com/office/drawing/2014/main" id="{B5AFC4B6-783C-4CFB-960E-818DF1F53D38}"/>
              </a:ext>
            </a:extLst>
          </p:cNvPr>
          <p:cNvSpPr txBox="1">
            <a:spLocks noChangeArrowheads="1"/>
          </p:cNvSpPr>
          <p:nvPr/>
        </p:nvSpPr>
        <p:spPr bwMode="auto">
          <a:xfrm>
            <a:off x="1258888" y="2636838"/>
            <a:ext cx="6769100" cy="311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3600" b="1" i="0" u="none" strike="noStrike" kern="1200" cap="none" spc="0" normalizeH="0" baseline="0" noProof="0">
                <a:ln>
                  <a:noFill/>
                </a:ln>
                <a:solidFill>
                  <a:srgbClr val="008000"/>
                </a:solidFill>
                <a:effectLst/>
                <a:uLnTx/>
                <a:uFillTx/>
                <a:latin typeface="Times New Roman" panose="02020603050405020304" pitchFamily="18" charset="0"/>
                <a:ea typeface="+mn-ea"/>
                <a:cs typeface="+mn-cs"/>
              </a:rPr>
              <a:t>Lukomoryada yashil eman bor,</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3600" b="1" i="0" u="none" strike="noStrike" kern="1200" cap="none" spc="0" normalizeH="0" baseline="0" noProof="0">
                <a:ln>
                  <a:noFill/>
                </a:ln>
                <a:solidFill>
                  <a:srgbClr val="FFBD03"/>
                </a:solidFill>
                <a:effectLst/>
                <a:uLnTx/>
                <a:uFillTx/>
                <a:latin typeface="Times New Roman" panose="02020603050405020304" pitchFamily="18" charset="0"/>
                <a:ea typeface="+mn-ea"/>
                <a:cs typeface="+mn-cs"/>
              </a:rPr>
              <a:t>Eman tomidagi zlotik zanjir.</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3600" b="1" i="0" u="none" strike="noStrike" kern="1200" cap="none" spc="0" normalizeH="0" baseline="0" noProof="0">
                <a:ln>
                  <a:noFill/>
                </a:ln>
                <a:solidFill>
                  <a:srgbClr val="5A4EF4"/>
                </a:solidFill>
                <a:effectLst/>
                <a:uLnTx/>
                <a:uFillTx/>
                <a:latin typeface="Times New Roman" panose="02020603050405020304" pitchFamily="18" charset="0"/>
                <a:ea typeface="+mn-ea"/>
                <a:cs typeface="+mn-cs"/>
              </a:rPr>
              <a:t>Va kechayu kunduz olim mushuk</a:t>
            </a: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altLang="ru-RU" sz="3600" b="1" i="0" u="none" strike="noStrike" kern="1200" cap="none" spc="0" normalizeH="0" baseline="0" noProof="0">
                <a:ln>
                  <a:noFill/>
                </a:ln>
                <a:solidFill>
                  <a:srgbClr val="C00000"/>
                </a:solidFill>
                <a:effectLst/>
                <a:uLnTx/>
                <a:uFillTx/>
                <a:latin typeface="Times New Roman" panose="02020603050405020304" pitchFamily="18" charset="0"/>
                <a:ea typeface="+mn-ea"/>
                <a:cs typeface="+mn-cs"/>
              </a:rPr>
              <a:t>Hamma narsa zanjir atrofida aylanadi.</a:t>
            </a:r>
          </a:p>
        </p:txBody>
      </p:sp>
      <p:pic>
        <p:nvPicPr>
          <p:cNvPr id="27653" name="Picture 6">
            <a:extLst>
              <a:ext uri="{FF2B5EF4-FFF2-40B4-BE49-F238E27FC236}">
                <a16:creationId xmlns:a16="http://schemas.microsoft.com/office/drawing/2014/main" id="{B1F7215D-31BC-4FE3-AD42-B5449CE607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259" r="12903" b="3275"/>
          <a:stretch>
            <a:fillRect/>
          </a:stretch>
        </p:blipFill>
        <p:spPr bwMode="auto">
          <a:xfrm>
            <a:off x="5257800" y="1066800"/>
            <a:ext cx="1295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7" descr="format">
            <a:extLst>
              <a:ext uri="{FF2B5EF4-FFF2-40B4-BE49-F238E27FC236}">
                <a16:creationId xmlns:a16="http://schemas.microsoft.com/office/drawing/2014/main" id="{73596B80-C45C-4F68-B467-E58554DEBD6C}"/>
              </a:ext>
            </a:extLst>
          </p:cNvPr>
          <p:cNvPicPr>
            <a:picLocks noChangeAspect="1" noChangeArrowheads="1"/>
          </p:cNvPicPr>
          <p:nvPr/>
        </p:nvPicPr>
        <p:blipFill>
          <a:blip r:embed="rId3">
            <a:lum bright="-6000" contrast="6000"/>
            <a:extLst>
              <a:ext uri="{28A0092B-C50C-407E-A947-70E740481C1C}">
                <a14:useLocalDpi xmlns:a14="http://schemas.microsoft.com/office/drawing/2010/main" val="0"/>
              </a:ext>
            </a:extLst>
          </a:blip>
          <a:srcRect/>
          <a:stretch>
            <a:fillRect/>
          </a:stretch>
        </p:blipFill>
        <p:spPr bwMode="auto">
          <a:xfrm>
            <a:off x="0" y="0"/>
            <a:ext cx="9144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a:extLst>
              <a:ext uri="{FF2B5EF4-FFF2-40B4-BE49-F238E27FC236}">
                <a16:creationId xmlns:a16="http://schemas.microsoft.com/office/drawing/2014/main" id="{6B99ED86-DC2C-499C-993E-7BE07C91F777}"/>
              </a:ext>
            </a:extLst>
          </p:cNvPr>
          <p:cNvSpPr>
            <a:spLocks noGrp="1" noChangeArrowheads="1"/>
          </p:cNvSpPr>
          <p:nvPr>
            <p:ph type="ctrTitle"/>
          </p:nvPr>
        </p:nvSpPr>
        <p:spPr>
          <a:xfrm>
            <a:off x="2286000" y="1828800"/>
            <a:ext cx="6858000" cy="2209800"/>
          </a:xfrm>
        </p:spPr>
        <p:txBody>
          <a:bodyPr/>
          <a:lstStyle/>
          <a:p>
            <a:pPr algn="ctr" eaLnBrk="1" hangingPunct="1"/>
            <a:r>
              <a:rPr lang="ru-RU" altLang="ru-RU" sz="4600"/>
              <a:t>Matn terish va formatlash qoidalari</a:t>
            </a:r>
          </a:p>
        </p:txBody>
      </p:sp>
      <p:sp>
        <p:nvSpPr>
          <p:cNvPr id="38918" name="Text Box 6">
            <a:extLst>
              <a:ext uri="{FF2B5EF4-FFF2-40B4-BE49-F238E27FC236}">
                <a16:creationId xmlns:a16="http://schemas.microsoft.com/office/drawing/2014/main" id="{5FE42666-5EED-4488-8A87-6ECDD28D6361}"/>
              </a:ext>
            </a:extLst>
          </p:cNvPr>
          <p:cNvSpPr txBox="1">
            <a:spLocks noChangeArrowheads="1"/>
          </p:cNvSpPr>
          <p:nvPr/>
        </p:nvSpPr>
        <p:spPr bwMode="auto">
          <a:xfrm>
            <a:off x="762000" y="4648200"/>
            <a:ext cx="784860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2000" b="1" i="1" u="sng" strike="noStrike" kern="1200" cap="none" spc="0" normalizeH="0" baseline="0" noProof="0">
                <a:ln>
                  <a:noFill/>
                </a:ln>
                <a:solidFill>
                  <a:srgbClr val="FF0000"/>
                </a:solidFill>
                <a:effectLst/>
                <a:uLnTx/>
                <a:uFillTx/>
                <a:latin typeface="Arial" panose="020B0604020202020204" pitchFamily="34" charset="0"/>
                <a:ea typeface="+mn-ea"/>
                <a:cs typeface="+mn-cs"/>
              </a:rPr>
              <a:t>Keyinchalik samarali ishlash uchun-matn avval to'liq yoziladi (tinish belgilarini hisobga olgan holda) va shundan keyingina formatlanadi!!! </a:t>
            </a:r>
          </a:p>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altLang="ru-RU" sz="2000" b="1" i="1" u="none" strike="noStrike" kern="1200" cap="none" spc="0" normalizeH="0" baseline="0" noProof="0">
                <a:ln>
                  <a:noFill/>
                </a:ln>
                <a:solidFill>
                  <a:srgbClr val="FFFFFF"/>
                </a:solidFill>
                <a:effectLst/>
                <a:uLnTx/>
                <a:uFillTx/>
                <a:latin typeface="Arial" panose="020B0604020202020204" pitchFamily="34" charset="0"/>
                <a:ea typeface="+mn-ea"/>
                <a:cs typeface="+mn-cs"/>
              </a:rPr>
              <a:t>Tinish belgisi so'zning orqasida darhol qo'yiladi va shundan keyingina bo'sh joy (istisnolar: tire, defis, qavs, tirnoq)!!!</a:t>
            </a:r>
          </a:p>
        </p:txBody>
      </p:sp>
      <p:pic>
        <p:nvPicPr>
          <p:cNvPr id="28676" name="Picture 7" descr="j0292112">
            <a:extLst>
              <a:ext uri="{FF2B5EF4-FFF2-40B4-BE49-F238E27FC236}">
                <a16:creationId xmlns:a16="http://schemas.microsoft.com/office/drawing/2014/main" id="{DDDC6E5F-9952-45DC-B496-C72E2CB08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0"/>
            <a:ext cx="15240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8916"/>
                                        </p:tgtEl>
                                        <p:attrNameLst>
                                          <p:attrName>style.visibility</p:attrName>
                                        </p:attrNameLst>
                                      </p:cBhvr>
                                      <p:to>
                                        <p:strVal val="visible"/>
                                      </p:to>
                                    </p:set>
                                    <p:anim calcmode="discrete" valueType="clr">
                                      <p:cBhvr override="childStyle">
                                        <p:cTn id="7" dur="80"/>
                                        <p:tgtEl>
                                          <p:spTgt spid="3891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8916"/>
                                        </p:tgtEl>
                                        <p:attrNameLst>
                                          <p:attrName>fillcolor</p:attrName>
                                        </p:attrNameLst>
                                      </p:cBhvr>
                                      <p:tavLst>
                                        <p:tav tm="0">
                                          <p:val>
                                            <p:clrVal>
                                              <a:schemeClr val="accent2"/>
                                            </p:clrVal>
                                          </p:val>
                                        </p:tav>
                                        <p:tav tm="50000">
                                          <p:val>
                                            <p:clrVal>
                                              <a:schemeClr val="hlink"/>
                                            </p:clrVal>
                                          </p:val>
                                        </p:tav>
                                      </p:tavLst>
                                    </p:anim>
                                    <p:set>
                                      <p:cBhvr>
                                        <p:cTn id="9" dur="80"/>
                                        <p:tgtEl>
                                          <p:spTgt spid="38916"/>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38918"/>
                                        </p:tgtEl>
                                        <p:attrNameLst>
                                          <p:attrName>style.visibility</p:attrName>
                                        </p:attrNameLst>
                                      </p:cBhvr>
                                      <p:to>
                                        <p:strVal val="visible"/>
                                      </p:to>
                                    </p:set>
                                    <p:anim calcmode="lin" valueType="num">
                                      <p:cBhvr>
                                        <p:cTn id="14" dur="2000" fill="hold"/>
                                        <p:tgtEl>
                                          <p:spTgt spid="38918"/>
                                        </p:tgtEl>
                                        <p:attrNameLst>
                                          <p:attrName>ppt_w</p:attrName>
                                        </p:attrNameLst>
                                      </p:cBhvr>
                                      <p:tavLst>
                                        <p:tav tm="0">
                                          <p:val>
                                            <p:fltVal val="0"/>
                                          </p:val>
                                        </p:tav>
                                        <p:tav tm="100000">
                                          <p:val>
                                            <p:strVal val="#ppt_w"/>
                                          </p:val>
                                        </p:tav>
                                      </p:tavLst>
                                    </p:anim>
                                    <p:anim calcmode="lin" valueType="num">
                                      <p:cBhvr>
                                        <p:cTn id="15" dur="2000" fill="hold"/>
                                        <p:tgtEl>
                                          <p:spTgt spid="38918"/>
                                        </p:tgtEl>
                                        <p:attrNameLst>
                                          <p:attrName>ppt_h</p:attrName>
                                        </p:attrNameLst>
                                      </p:cBhvr>
                                      <p:tavLst>
                                        <p:tav tm="0">
                                          <p:val>
                                            <p:fltVal val="0"/>
                                          </p:val>
                                        </p:tav>
                                        <p:tav tm="100000">
                                          <p:val>
                                            <p:strVal val="#ppt_h"/>
                                          </p:val>
                                        </p:tav>
                                      </p:tavLst>
                                    </p:anim>
                                    <p:animEffect transition="in" filter="fade">
                                      <p:cBhvr>
                                        <p:cTn id="16" dur="20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a:extLst>
              <a:ext uri="{FF2B5EF4-FFF2-40B4-BE49-F238E27FC236}">
                <a16:creationId xmlns:a16="http://schemas.microsoft.com/office/drawing/2014/main" id="{7086D000-C9F0-43DC-93AB-4D942BD5CB8C}"/>
              </a:ext>
            </a:extLst>
          </p:cNvPr>
          <p:cNvSpPr>
            <a:spLocks noChangeArrowheads="1"/>
          </p:cNvSpPr>
          <p:nvPr/>
        </p:nvSpPr>
        <p:spPr bwMode="auto">
          <a:xfrm>
            <a:off x="228600" y="495300"/>
            <a:ext cx="8686800" cy="619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533400" eaLnBrk="0" hangingPunct="0">
              <a:tabLst>
                <a:tab pos="498475" algn="l"/>
              </a:tabLst>
              <a:defRPr>
                <a:solidFill>
                  <a:schemeClr val="tx1"/>
                </a:solidFill>
                <a:latin typeface="Arial" panose="020B0604020202020204" pitchFamily="34" charset="0"/>
              </a:defRPr>
            </a:lvl1pPr>
            <a:lvl2pPr marL="742950" indent="-285750" eaLnBrk="0" hangingPunct="0">
              <a:tabLst>
                <a:tab pos="498475" algn="l"/>
              </a:tabLst>
              <a:defRPr>
                <a:solidFill>
                  <a:schemeClr val="tx1"/>
                </a:solidFill>
                <a:latin typeface="Arial" panose="020B0604020202020204" pitchFamily="34" charset="0"/>
              </a:defRPr>
            </a:lvl2pPr>
            <a:lvl3pPr marL="1143000" indent="-228600" eaLnBrk="0" hangingPunct="0">
              <a:tabLst>
                <a:tab pos="498475" algn="l"/>
              </a:tabLst>
              <a:defRPr>
                <a:solidFill>
                  <a:schemeClr val="tx1"/>
                </a:solidFill>
                <a:latin typeface="Arial" panose="020B0604020202020204" pitchFamily="34" charset="0"/>
              </a:defRPr>
            </a:lvl3pPr>
            <a:lvl4pPr marL="1600200" indent="-228600" eaLnBrk="0" hangingPunct="0">
              <a:tabLst>
                <a:tab pos="498475" algn="l"/>
              </a:tabLst>
              <a:defRPr>
                <a:solidFill>
                  <a:schemeClr val="tx1"/>
                </a:solidFill>
                <a:latin typeface="Arial" panose="020B0604020202020204" pitchFamily="34" charset="0"/>
              </a:defRPr>
            </a:lvl4pPr>
            <a:lvl5pPr marL="2057400" indent="-228600" eaLnBrk="0" hangingPunct="0">
              <a:tabLst>
                <a:tab pos="498475"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498475"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498475"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498475"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498475" algn="l"/>
              </a:tabLst>
              <a:defRPr>
                <a:solidFill>
                  <a:schemeClr val="tx1"/>
                </a:solidFill>
                <a:latin typeface="Arial" panose="020B0604020202020204" pitchFamily="34" charset="0"/>
              </a:defRPr>
            </a:lvl9pPr>
          </a:lstStyle>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2000" b="1" i="0" u="none" strike="noStrike" kern="1200" cap="none" spc="0" normalizeH="0" baseline="0" noProof="0">
                <a:ln>
                  <a:noFill/>
                </a:ln>
                <a:solidFill>
                  <a:srgbClr val="FF0000"/>
                </a:solidFill>
                <a:effectLst/>
                <a:uLnTx/>
                <a:uFillTx/>
                <a:latin typeface="Arial" panose="020B0604020202020204" pitchFamily="34" charset="0"/>
                <a:ea typeface="+mn-ea"/>
                <a:cs typeface="+mn-cs"/>
              </a:rPr>
              <a:t>So'zlar orasiga bitta bo'sh joy qo'yiladi;</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endParaRPr kumimoji="0" lang="ru-RU" altLang="ru-RU" sz="2000" b="1" i="0" u="none" strike="noStrike" kern="1200" cap="none" spc="0" normalizeH="0" baseline="0" noProof="0">
              <a:ln>
                <a:noFill/>
              </a:ln>
              <a:solidFill>
                <a:srgbClr val="FF0000"/>
              </a:solidFill>
              <a:effectLst/>
              <a:uLnTx/>
              <a:uFillTx/>
              <a:latin typeface="Arial" panose="020B0604020202020204" pitchFamily="34" charset="0"/>
              <a:ea typeface="+mn-ea"/>
              <a:cs typeface="+mn-cs"/>
            </a:endParaRP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t>Bo'sh joy oldin emas, keyin qo'yiladi:</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yo'g'on ichak; * savol belgisi;</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undov belgisi • * Ellipsis;</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yopiladigan qavs; * yopiladigan tirnoq.</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t>Bo'sh joy oldin qo'yiladi, keyin emas:</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qavslarni ochish; * Tirnoqlarni ochish.</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t>Chiziq chizig'idan oldin va keyin bo'sh joy qo'yiladi.</a:t>
            </a:r>
            <a:b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b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Bundan tashqari, chiziq oldida ajralmas bo'shliq qo'yiladi: </a:t>
            </a:r>
            <a:r>
              <a:rPr kumimoji="0" lang="en-US" altLang="ru-RU" sz="1800" b="0" i="1" u="none" strike="noStrike" kern="1200" cap="none" spc="0" normalizeH="0" baseline="0" noProof="0">
                <a:ln>
                  <a:noFill/>
                </a:ln>
                <a:solidFill>
                  <a:srgbClr val="FFFFFF"/>
                </a:solidFill>
                <a:effectLst/>
                <a:uLnTx/>
                <a:uFillTx/>
                <a:latin typeface="Arial" panose="020B0604020202020204" pitchFamily="34" charset="0"/>
                <a:ea typeface="+mn-ea"/>
                <a:cs typeface="+mn-cs"/>
              </a:rPr>
              <a:t>Ctrl </a:t>
            </a:r>
            <a:r>
              <a:rPr kumimoji="0" lang="ru-RU" altLang="ru-RU" sz="1800" b="0" i="1" u="none" strike="noStrike" kern="1200" cap="none" spc="0" normalizeH="0" baseline="0" noProof="0">
                <a:ln>
                  <a:noFill/>
                </a:ln>
                <a:solidFill>
                  <a:srgbClr val="FFFFFF"/>
                </a:solidFill>
                <a:effectLst/>
                <a:uLnTx/>
                <a:uFillTx/>
                <a:latin typeface="Arial" panose="020B0604020202020204" pitchFamily="34" charset="0"/>
                <a:ea typeface="+mn-ea"/>
                <a:cs typeface="+mn-cs"/>
              </a:rPr>
              <a:t>+ </a:t>
            </a:r>
            <a:r>
              <a:rPr kumimoji="0" lang="en-US" altLang="ru-RU" sz="1800" b="0" i="1" u="none" strike="noStrike" kern="1200" cap="none" spc="0" normalizeH="0" baseline="0" noProof="0">
                <a:ln>
                  <a:noFill/>
                </a:ln>
                <a:solidFill>
                  <a:srgbClr val="FFFFFF"/>
                </a:solidFill>
                <a:effectLst/>
                <a:uLnTx/>
                <a:uFillTx/>
                <a:latin typeface="Arial" panose="020B0604020202020204" pitchFamily="34" charset="0"/>
                <a:ea typeface="+mn-ea"/>
                <a:cs typeface="+mn-cs"/>
              </a:rPr>
              <a:t>Shift </a:t>
            </a:r>
            <a:r>
              <a:rPr kumimoji="0" lang="ru-RU" altLang="ru-RU" sz="1800" b="0" i="1" u="none" strike="noStrike" kern="1200" cap="none" spc="0" normalizeH="0" baseline="0" noProof="0">
                <a:ln>
                  <a:noFill/>
                </a:ln>
                <a:solidFill>
                  <a:srgbClr val="FFFFFF"/>
                </a:solidFill>
                <a:effectLst/>
                <a:uLnTx/>
                <a:uFillTx/>
                <a:latin typeface="Arial" panose="020B0604020202020204" pitchFamily="34" charset="0"/>
                <a:ea typeface="+mn-ea"/>
                <a:cs typeface="+mn-cs"/>
              </a:rPr>
              <a:t>+ bo'sh joy.</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t>Bo'sh joy qo'yilmaydi:</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qavsni ochgandan keyin;</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tirnoqni ochgandan keyin;</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rPr>
              <a:t>* defisdan oldin va keyin.</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t>Tugmani bosing </a:t>
            </a:r>
            <a:r>
              <a:rPr kumimoji="0" lang="en-US" altLang="ru-RU" sz="1800" b="1" i="1" u="none" strike="noStrike" kern="1200" cap="none" spc="0" normalizeH="0" baseline="0" noProof="0">
                <a:ln>
                  <a:noFill/>
                </a:ln>
                <a:solidFill>
                  <a:srgbClr val="FF0000"/>
                </a:solidFill>
                <a:effectLst/>
                <a:uLnTx/>
                <a:uFillTx/>
                <a:latin typeface="Arial" panose="020B0604020202020204" pitchFamily="34" charset="0"/>
                <a:ea typeface="+mn-ea"/>
                <a:cs typeface="+mn-cs"/>
              </a:rPr>
              <a:t>Enter </a:t>
            </a:r>
            <a:r>
              <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rPr>
              <a:t>faqat paragraf oxirida kerak.</a:t>
            </a: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endParaRPr kumimoji="0" lang="ru-RU" altLang="ru-RU" sz="1800" b="1" i="0" u="none" strike="noStrike" kern="1200" cap="none" spc="0" normalizeH="0" baseline="0" noProof="0">
              <a:ln>
                <a:noFill/>
              </a:ln>
              <a:solidFill>
                <a:srgbClr val="FF0000"/>
              </a:solidFill>
              <a:effectLst/>
              <a:uLnTx/>
              <a:uFillTx/>
              <a:latin typeface="Arial" panose="020B0604020202020204" pitchFamily="34" charset="0"/>
              <a:ea typeface="+mn-ea"/>
              <a:cs typeface="+mn-cs"/>
            </a:endParaRPr>
          </a:p>
          <a:p>
            <a:pPr marL="0" marR="0" lvl="0" indent="533400" algn="l" defTabSz="914400" rtl="0" eaLnBrk="1" fontAlgn="auto" latinLnBrk="0" hangingPunct="1">
              <a:lnSpc>
                <a:spcPct val="100000"/>
              </a:lnSpc>
              <a:spcBef>
                <a:spcPts val="0"/>
              </a:spcBef>
              <a:spcAft>
                <a:spcPts val="0"/>
              </a:spcAft>
              <a:buClrTx/>
              <a:buSzTx/>
              <a:buFontTx/>
              <a:buNone/>
              <a:tabLst>
                <a:tab pos="498475" algn="l"/>
              </a:tabLst>
              <a:defRPr/>
            </a:pPr>
            <a:r>
              <a:rPr kumimoji="0" lang="ru-RU" altLang="ru-RU" sz="1800" b="0" i="1" u="none" strike="noStrike" kern="1200" cap="none" spc="0" normalizeH="0" baseline="0" noProof="0">
                <a:ln>
                  <a:noFill/>
                </a:ln>
                <a:solidFill>
                  <a:srgbClr val="0000FF"/>
                </a:solidFill>
                <a:effectLst/>
                <a:uLnTx/>
                <a:uFillTx/>
                <a:latin typeface="Arial" panose="020B0604020202020204" pitchFamily="34" charset="0"/>
                <a:ea typeface="+mn-ea"/>
                <a:cs typeface="+mn-cs"/>
              </a:rPr>
              <a:t>Esingizda bo'lsin: yozish jarayonida sahifaning o'ng chetiga yetganda, matn avtomatik ravishda keyingi qatorga o'tkaziladi.</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1B925630-5306-435A-AAF3-6733536D2088}"/>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Paragraflarni formatlash</a:t>
            </a:r>
          </a:p>
        </p:txBody>
      </p:sp>
      <p:sp>
        <p:nvSpPr>
          <p:cNvPr id="146435" name="Rectangle 3">
            <a:extLst>
              <a:ext uri="{FF2B5EF4-FFF2-40B4-BE49-F238E27FC236}">
                <a16:creationId xmlns:a16="http://schemas.microsoft.com/office/drawing/2014/main" id="{F4175EAD-857A-4B97-BA64-45B3C42D6E09}"/>
              </a:ext>
            </a:extLst>
          </p:cNvPr>
          <p:cNvSpPr>
            <a:spLocks noGrp="1" noChangeArrowheads="1"/>
          </p:cNvSpPr>
          <p:nvPr>
            <p:ph type="body" idx="1"/>
          </p:nvPr>
        </p:nvSpPr>
        <p:spPr>
          <a:xfrm>
            <a:off x="2109788" y="2205038"/>
            <a:ext cx="7034212" cy="2900362"/>
          </a:xfrm>
        </p:spPr>
        <p:txBody>
          <a:bodyPr/>
          <a:lstStyle/>
          <a:p>
            <a:pPr eaLnBrk="1" hangingPunct="1">
              <a:buClr>
                <a:srgbClr val="DA2B0E"/>
              </a:buClr>
              <a:buFont typeface="Wingdings" panose="05000000000000000000" pitchFamily="2" charset="2"/>
              <a:buBlip>
                <a:blip r:embed="rId2"/>
              </a:buBlip>
              <a:defRPr/>
            </a:pPr>
            <a:r>
              <a:rPr lang="ru-RU">
                <a:solidFill>
                  <a:srgbClr val="DA2B0E"/>
                </a:solidFill>
                <a:effectLst>
                  <a:outerShdw blurRad="38100" dist="38100" dir="2700000" algn="tl">
                    <a:srgbClr val="000000"/>
                  </a:outerShdw>
                </a:effectLst>
                <a:latin typeface="Comic Sans MS" pitchFamily="66" charset="0"/>
              </a:rPr>
              <a:t>Ajratish</a:t>
            </a:r>
          </a:p>
          <a:p>
            <a:pPr eaLnBrk="1" hangingPunct="1">
              <a:buClr>
                <a:srgbClr val="DA2B0E"/>
              </a:buClr>
              <a:buFont typeface="Wingdings" panose="05000000000000000000" pitchFamily="2" charset="2"/>
              <a:buBlip>
                <a:blip r:embed="rId2"/>
              </a:buBlip>
              <a:defRPr/>
            </a:pPr>
            <a:r>
              <a:rPr lang="ru-RU">
                <a:solidFill>
                  <a:srgbClr val="DA2B0E"/>
                </a:solidFill>
                <a:effectLst>
                  <a:outerShdw blurRad="38100" dist="38100" dir="2700000" algn="tl">
                    <a:srgbClr val="000000"/>
                  </a:outerShdw>
                </a:effectLst>
                <a:latin typeface="Comic Sans MS" pitchFamily="66" charset="0"/>
              </a:rPr>
              <a:t> Hizalama</a:t>
            </a:r>
          </a:p>
          <a:p>
            <a:pPr eaLnBrk="1" hangingPunct="1">
              <a:buClr>
                <a:srgbClr val="DA2B0E"/>
              </a:buClr>
              <a:buFont typeface="Wingdings" panose="05000000000000000000" pitchFamily="2" charset="2"/>
              <a:buBlip>
                <a:blip r:embed="rId2"/>
              </a:buBlip>
              <a:defRPr/>
            </a:pPr>
            <a:r>
              <a:rPr lang="ru-RU">
                <a:solidFill>
                  <a:srgbClr val="DA2B0E"/>
                </a:solidFill>
                <a:effectLst>
                  <a:outerShdw blurRad="38100" dist="38100" dir="2700000" algn="tl">
                    <a:srgbClr val="000000"/>
                  </a:outerShdw>
                </a:effectLst>
                <a:latin typeface="Comic Sans MS" pitchFamily="66" charset="0"/>
              </a:rPr>
              <a:t>Birinchi satrning indentatsiyasi</a:t>
            </a:r>
          </a:p>
          <a:p>
            <a:pPr eaLnBrk="1" hangingPunct="1">
              <a:buClr>
                <a:srgbClr val="DA2B0E"/>
              </a:buClr>
              <a:buFont typeface="Wingdings" panose="05000000000000000000" pitchFamily="2" charset="2"/>
              <a:buBlip>
                <a:blip r:embed="rId2"/>
              </a:buBlip>
              <a:defRPr/>
            </a:pPr>
            <a:r>
              <a:rPr lang="ru-RU">
                <a:solidFill>
                  <a:srgbClr val="DA2B0E"/>
                </a:solidFill>
                <a:effectLst>
                  <a:outerShdw blurRad="38100" dist="38100" dir="2700000" algn="tl">
                    <a:srgbClr val="000000"/>
                  </a:outerShdw>
                </a:effectLst>
                <a:latin typeface="Comic Sans MS" pitchFamily="66" charset="0"/>
              </a:rPr>
              <a:t>Chiziqlar oralig'i</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 calcmode="lin" valueType="num">
                                      <p:cBhvr additive="base">
                                        <p:cTn id="7" dur="500" fill="hold"/>
                                        <p:tgtEl>
                                          <p:spTgt spid="146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643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 calcmode="lin" valueType="num">
                                      <p:cBhvr additive="base">
                                        <p:cTn id="12" dur="500" fill="hold"/>
                                        <p:tgtEl>
                                          <p:spTgt spid="14643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46435">
                                            <p:txEl>
                                              <p:pRg st="1" end="1"/>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146435">
                                            <p:txEl>
                                              <p:pRg st="2" end="2"/>
                                            </p:txEl>
                                          </p:spTgt>
                                        </p:tgtEl>
                                        <p:attrNameLst>
                                          <p:attrName>style.visibility</p:attrName>
                                        </p:attrNameLst>
                                      </p:cBhvr>
                                      <p:to>
                                        <p:strVal val="visible"/>
                                      </p:to>
                                    </p:set>
                                    <p:anim calcmode="lin" valueType="num">
                                      <p:cBhvr additive="base">
                                        <p:cTn id="17" dur="500" fill="hold"/>
                                        <p:tgtEl>
                                          <p:spTgt spid="1464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6435">
                                            <p:txEl>
                                              <p:pRg st="2" end="2"/>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nodeType="afterEffect">
                                  <p:stCondLst>
                                    <p:cond delay="0"/>
                                  </p:stCondLst>
                                  <p:childTnLst>
                                    <p:set>
                                      <p:cBhvr>
                                        <p:cTn id="21" dur="1" fill="hold">
                                          <p:stCondLst>
                                            <p:cond delay="0"/>
                                          </p:stCondLst>
                                        </p:cTn>
                                        <p:tgtEl>
                                          <p:spTgt spid="146435">
                                            <p:txEl>
                                              <p:pRg st="3" end="3"/>
                                            </p:txEl>
                                          </p:spTgt>
                                        </p:tgtEl>
                                        <p:attrNameLst>
                                          <p:attrName>style.visibility</p:attrName>
                                        </p:attrNameLst>
                                      </p:cBhvr>
                                      <p:to>
                                        <p:strVal val="visible"/>
                                      </p:to>
                                    </p:set>
                                    <p:anim calcmode="lin" valueType="num">
                                      <p:cBhvr additive="base">
                                        <p:cTn id="22" dur="500" fill="hold"/>
                                        <p:tgtEl>
                                          <p:spTgt spid="146435">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4643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62A94AD4-7CA2-45B4-878F-F2C6204D1E8A}"/>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Hizalama</a:t>
            </a:r>
          </a:p>
        </p:txBody>
      </p:sp>
      <p:sp>
        <p:nvSpPr>
          <p:cNvPr id="147459" name="Text Box 3">
            <a:extLst>
              <a:ext uri="{FF2B5EF4-FFF2-40B4-BE49-F238E27FC236}">
                <a16:creationId xmlns:a16="http://schemas.microsoft.com/office/drawing/2014/main" id="{7E0C6712-D44F-4221-8B5C-CDE51943C498}"/>
              </a:ext>
            </a:extLst>
          </p:cNvPr>
          <p:cNvSpPr txBox="1">
            <a:spLocks noChangeArrowheads="1"/>
          </p:cNvSpPr>
          <p:nvPr/>
        </p:nvSpPr>
        <p:spPr bwMode="auto">
          <a:xfrm>
            <a:off x="1511300" y="1773238"/>
            <a:ext cx="7632700" cy="822325"/>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Hizalama-bu matnning sahifa chegaralariga nisbatan joylashishi</a:t>
            </a:r>
          </a:p>
        </p:txBody>
      </p:sp>
      <p:sp>
        <p:nvSpPr>
          <p:cNvPr id="31748" name="Text Box 4">
            <a:extLst>
              <a:ext uri="{FF2B5EF4-FFF2-40B4-BE49-F238E27FC236}">
                <a16:creationId xmlns:a16="http://schemas.microsoft.com/office/drawing/2014/main" id="{8A1F40AE-14DA-4F43-9E5E-B09FD91EF285}"/>
              </a:ext>
            </a:extLst>
          </p:cNvPr>
          <p:cNvSpPr txBox="1">
            <a:spLocks noChangeArrowheads="1"/>
          </p:cNvSpPr>
          <p:nvPr/>
        </p:nvSpPr>
        <p:spPr bwMode="auto">
          <a:xfrm>
            <a:off x="1187450" y="3573463"/>
            <a:ext cx="1584325" cy="21605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altLang="ru-RU"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Matnni chapga tekislash misoli</a:t>
            </a:r>
          </a:p>
        </p:txBody>
      </p:sp>
      <p:sp>
        <p:nvSpPr>
          <p:cNvPr id="31749" name="Text Box 5">
            <a:extLst>
              <a:ext uri="{FF2B5EF4-FFF2-40B4-BE49-F238E27FC236}">
                <a16:creationId xmlns:a16="http://schemas.microsoft.com/office/drawing/2014/main" id="{A89C9F28-584E-4D7E-97CE-94145A858332}"/>
              </a:ext>
            </a:extLst>
          </p:cNvPr>
          <p:cNvSpPr txBox="1">
            <a:spLocks noChangeArrowheads="1"/>
          </p:cNvSpPr>
          <p:nvPr/>
        </p:nvSpPr>
        <p:spPr bwMode="auto">
          <a:xfrm>
            <a:off x="3059113" y="3573463"/>
            <a:ext cx="1584325" cy="21605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Hizalama misoli</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o'ng tomondagi matn</a:t>
            </a:r>
          </a:p>
        </p:txBody>
      </p:sp>
      <p:sp>
        <p:nvSpPr>
          <p:cNvPr id="31750" name="Text Box 6">
            <a:extLst>
              <a:ext uri="{FF2B5EF4-FFF2-40B4-BE49-F238E27FC236}">
                <a16:creationId xmlns:a16="http://schemas.microsoft.com/office/drawing/2014/main" id="{DA94E568-7108-49B3-802A-94C91D929E0E}"/>
              </a:ext>
            </a:extLst>
          </p:cNvPr>
          <p:cNvSpPr txBox="1">
            <a:spLocks noChangeArrowheads="1"/>
          </p:cNvSpPr>
          <p:nvPr/>
        </p:nvSpPr>
        <p:spPr bwMode="auto">
          <a:xfrm>
            <a:off x="5148263" y="3573463"/>
            <a:ext cx="1584325" cy="21605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altLang="ru-RU"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Matnni markazga tekislash misoli</a:t>
            </a:r>
          </a:p>
        </p:txBody>
      </p:sp>
      <p:sp>
        <p:nvSpPr>
          <p:cNvPr id="31751" name="Text Box 7">
            <a:extLst>
              <a:ext uri="{FF2B5EF4-FFF2-40B4-BE49-F238E27FC236}">
                <a16:creationId xmlns:a16="http://schemas.microsoft.com/office/drawing/2014/main" id="{80495E87-1549-44BB-BDF0-6D2892EE29A2}"/>
              </a:ext>
            </a:extLst>
          </p:cNvPr>
          <p:cNvSpPr txBox="1">
            <a:spLocks noChangeArrowheads="1"/>
          </p:cNvSpPr>
          <p:nvPr/>
        </p:nvSpPr>
        <p:spPr bwMode="auto">
          <a:xfrm>
            <a:off x="6948488" y="3573463"/>
            <a:ext cx="1584325" cy="2160587"/>
          </a:xfrm>
          <a:prstGeom prst="rect">
            <a:avLst/>
          </a:prstGeom>
          <a:solidFill>
            <a:srgbClr val="FFFFFF"/>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ru-RU" altLang="ru-RU" sz="16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Matnni kenglik bo'yicha tekislashga misol</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C56279D2-2F21-4033-9685-5AF0B05FCC5C}"/>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Birinchi satrning indentatsiyasi</a:t>
            </a:r>
          </a:p>
        </p:txBody>
      </p:sp>
      <p:sp>
        <p:nvSpPr>
          <p:cNvPr id="148483" name="Text Box 3">
            <a:extLst>
              <a:ext uri="{FF2B5EF4-FFF2-40B4-BE49-F238E27FC236}">
                <a16:creationId xmlns:a16="http://schemas.microsoft.com/office/drawing/2014/main" id="{47DC190A-C88C-4D77-8054-4C6AE039BE4E}"/>
              </a:ext>
            </a:extLst>
          </p:cNvPr>
          <p:cNvSpPr txBox="1">
            <a:spLocks noChangeArrowheads="1"/>
          </p:cNvSpPr>
          <p:nvPr/>
        </p:nvSpPr>
        <p:spPr bwMode="auto">
          <a:xfrm>
            <a:off x="1116013" y="5661025"/>
            <a:ext cx="2447925" cy="701675"/>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sz="2000" b="0" i="0" u="none" strike="noStrike" kern="1200" cap="none" spc="0" normalizeH="0" baseline="0" noProof="0">
                <a:ln>
                  <a:noFill/>
                </a:ln>
                <a:solidFill>
                  <a:srgbClr val="FFFFFF"/>
                </a:solidFill>
                <a:effectLst>
                  <a:outerShdw blurRad="38100" dist="38100" dir="2700000" algn="tl">
                    <a:srgbClr val="FFFFFF"/>
                  </a:outerShdw>
                </a:effectLst>
                <a:uLnTx/>
                <a:uFillTx/>
                <a:latin typeface="Comic Sans MS" pitchFamily="66" charset="0"/>
                <a:ea typeface="+mn-ea"/>
                <a:cs typeface="+mn-cs"/>
              </a:rPr>
              <a:t>Ijobiy chekinish</a:t>
            </a:r>
          </a:p>
        </p:txBody>
      </p:sp>
      <p:sp>
        <p:nvSpPr>
          <p:cNvPr id="148484" name="Text Box 4">
            <a:extLst>
              <a:ext uri="{FF2B5EF4-FFF2-40B4-BE49-F238E27FC236}">
                <a16:creationId xmlns:a16="http://schemas.microsoft.com/office/drawing/2014/main" id="{E676A863-642B-42F5-86DA-886F3B1FC7E3}"/>
              </a:ext>
            </a:extLst>
          </p:cNvPr>
          <p:cNvSpPr txBox="1">
            <a:spLocks noChangeArrowheads="1"/>
          </p:cNvSpPr>
          <p:nvPr/>
        </p:nvSpPr>
        <p:spPr bwMode="auto">
          <a:xfrm>
            <a:off x="3563938" y="5661025"/>
            <a:ext cx="2447925" cy="701675"/>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sz="2000" b="0" i="0" u="none" strike="noStrike" kern="1200" cap="none" spc="0" normalizeH="0" baseline="0" noProof="0">
                <a:ln>
                  <a:noFill/>
                </a:ln>
                <a:solidFill>
                  <a:srgbClr val="FFFFFF"/>
                </a:solidFill>
                <a:effectLst>
                  <a:outerShdw blurRad="38100" dist="38100" dir="2700000" algn="tl">
                    <a:srgbClr val="FFFFFF"/>
                  </a:outerShdw>
                </a:effectLst>
                <a:uLnTx/>
                <a:uFillTx/>
                <a:latin typeface="Comic Sans MS" pitchFamily="66" charset="0"/>
                <a:ea typeface="+mn-ea"/>
                <a:cs typeface="+mn-cs"/>
              </a:rPr>
              <a:t>Salbiy chekinish</a:t>
            </a:r>
          </a:p>
        </p:txBody>
      </p:sp>
      <p:sp>
        <p:nvSpPr>
          <p:cNvPr id="148485" name="Text Box 5">
            <a:extLst>
              <a:ext uri="{FF2B5EF4-FFF2-40B4-BE49-F238E27FC236}">
                <a16:creationId xmlns:a16="http://schemas.microsoft.com/office/drawing/2014/main" id="{89C4DFBB-8DCF-4C65-80BD-936944A3D49B}"/>
              </a:ext>
            </a:extLst>
          </p:cNvPr>
          <p:cNvSpPr txBox="1">
            <a:spLocks noChangeArrowheads="1"/>
          </p:cNvSpPr>
          <p:nvPr/>
        </p:nvSpPr>
        <p:spPr bwMode="auto">
          <a:xfrm>
            <a:off x="6516688" y="5661025"/>
            <a:ext cx="1943100" cy="701675"/>
          </a:xfrm>
          <a:prstGeom prst="rect">
            <a:avLst/>
          </a:prstGeom>
          <a:noFill/>
          <a:ln w="9525">
            <a:noFill/>
            <a:miter lim="800000"/>
            <a:headEnd/>
            <a:tailEnd/>
          </a:ln>
          <a:effectLst/>
        </p:spPr>
        <p:txBody>
          <a:bodyPr>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ru-RU" sz="2000" b="0" i="0" u="none" strike="noStrike" kern="1200" cap="none" spc="0" normalizeH="0" baseline="0" noProof="0">
                <a:ln>
                  <a:noFill/>
                </a:ln>
                <a:solidFill>
                  <a:srgbClr val="FFFFFF"/>
                </a:solidFill>
                <a:effectLst>
                  <a:outerShdw blurRad="38100" dist="38100" dir="2700000" algn="tl">
                    <a:srgbClr val="FFFFFF"/>
                  </a:outerShdw>
                </a:effectLst>
                <a:uLnTx/>
                <a:uFillTx/>
                <a:latin typeface="Comic Sans MS" pitchFamily="66" charset="0"/>
                <a:ea typeface="+mn-ea"/>
                <a:cs typeface="+mn-cs"/>
              </a:rPr>
              <a:t>Nolinchi</a:t>
            </a:r>
            <a:r>
              <a:rPr kumimoji="0" lang="ru-RU" sz="2000" b="0" i="0" u="none" strike="noStrike" kern="1200" cap="none" spc="0" normalizeH="0" baseline="0" noProof="0">
                <a:ln>
                  <a:noFill/>
                </a:ln>
                <a:solidFill>
                  <a:srgbClr val="FFFF99"/>
                </a:solidFill>
                <a:effectDag name="">
                  <a:cont type="tree" name="">
                    <a:effect ref="fillLine"/>
                    <a:outerShdw dist="38100" dir="13500000" algn="br">
                      <a:srgbClr val="FFFFBB"/>
                    </a:outerShdw>
                  </a:cont>
                  <a:cont type="tree" name="">
                    <a:effect ref="fillLine"/>
                    <a:outerShdw dist="38100" dir="2700000" algn="tl">
                      <a:srgbClr val="99985B"/>
                    </a:outerShdw>
                  </a:cont>
                  <a:effect ref="fillLine"/>
                </a:effectDag>
                <a:uLnTx/>
                <a:uFillTx/>
                <a:latin typeface="Comic Sans MS" pitchFamily="66" charset="0"/>
                <a:ea typeface="+mn-ea"/>
                <a:cs typeface="+mn-cs"/>
              </a:rPr>
              <a:t> </a:t>
            </a:r>
            <a:r>
              <a:rPr kumimoji="0" lang="ru-RU" sz="2000" b="0" i="0" u="none" strike="noStrike" kern="1200" cap="none" spc="0" normalizeH="0" baseline="0" noProof="0">
                <a:ln>
                  <a:noFill/>
                </a:ln>
                <a:solidFill>
                  <a:srgbClr val="FFFFFF"/>
                </a:solidFill>
                <a:effectLst>
                  <a:outerShdw blurRad="38100" dist="38100" dir="2700000" algn="tl">
                    <a:srgbClr val="FFFFFF"/>
                  </a:outerShdw>
                </a:effectLst>
                <a:uLnTx/>
                <a:uFillTx/>
                <a:latin typeface="Comic Sans MS" pitchFamily="66" charset="0"/>
                <a:ea typeface="+mn-ea"/>
                <a:cs typeface="+mn-cs"/>
              </a:rPr>
              <a:t>orqaga chekinish</a:t>
            </a:r>
          </a:p>
        </p:txBody>
      </p:sp>
      <p:grpSp>
        <p:nvGrpSpPr>
          <p:cNvPr id="32774" name="Group 6">
            <a:extLst>
              <a:ext uri="{FF2B5EF4-FFF2-40B4-BE49-F238E27FC236}">
                <a16:creationId xmlns:a16="http://schemas.microsoft.com/office/drawing/2014/main" id="{609F5701-0732-455F-9D2E-8E743B34A1E7}"/>
              </a:ext>
            </a:extLst>
          </p:cNvPr>
          <p:cNvGrpSpPr>
            <a:grpSpLocks/>
          </p:cNvGrpSpPr>
          <p:nvPr/>
        </p:nvGrpSpPr>
        <p:grpSpPr bwMode="auto">
          <a:xfrm>
            <a:off x="1331913" y="2565400"/>
            <a:ext cx="2089150" cy="3024188"/>
            <a:chOff x="839" y="1616"/>
            <a:chExt cx="1316" cy="1905"/>
          </a:xfrm>
        </p:grpSpPr>
        <p:sp>
          <p:nvSpPr>
            <p:cNvPr id="32851" name="Rectangle 7">
              <a:extLst>
                <a:ext uri="{FF2B5EF4-FFF2-40B4-BE49-F238E27FC236}">
                  <a16:creationId xmlns:a16="http://schemas.microsoft.com/office/drawing/2014/main" id="{4A77A570-947C-448C-A615-CFCF6886AF64}"/>
                </a:ext>
              </a:extLst>
            </p:cNvPr>
            <p:cNvSpPr>
              <a:spLocks noChangeArrowheads="1"/>
            </p:cNvSpPr>
            <p:nvPr/>
          </p:nvSpPr>
          <p:spPr bwMode="auto">
            <a:xfrm>
              <a:off x="839" y="1616"/>
              <a:ext cx="1316" cy="190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4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2852" name="Group 8">
              <a:extLst>
                <a:ext uri="{FF2B5EF4-FFF2-40B4-BE49-F238E27FC236}">
                  <a16:creationId xmlns:a16="http://schemas.microsoft.com/office/drawing/2014/main" id="{D09D09C2-BDCD-4470-88A6-736F0A05FDE2}"/>
                </a:ext>
              </a:extLst>
            </p:cNvPr>
            <p:cNvGrpSpPr>
              <a:grpSpLocks/>
            </p:cNvGrpSpPr>
            <p:nvPr/>
          </p:nvGrpSpPr>
          <p:grpSpPr bwMode="auto">
            <a:xfrm>
              <a:off x="1156" y="1797"/>
              <a:ext cx="907" cy="182"/>
              <a:chOff x="1156" y="1797"/>
              <a:chExt cx="907" cy="182"/>
            </a:xfrm>
          </p:grpSpPr>
          <p:sp>
            <p:nvSpPr>
              <p:cNvPr id="32883" name="Line 9">
                <a:extLst>
                  <a:ext uri="{FF2B5EF4-FFF2-40B4-BE49-F238E27FC236}">
                    <a16:creationId xmlns:a16="http://schemas.microsoft.com/office/drawing/2014/main" id="{F95FAAFC-0861-48A0-A797-1BD92A24F589}"/>
                  </a:ext>
                </a:extLst>
              </p:cNvPr>
              <p:cNvSpPr>
                <a:spLocks noChangeShapeType="1"/>
              </p:cNvSpPr>
              <p:nvPr/>
            </p:nvSpPr>
            <p:spPr bwMode="auto">
              <a:xfrm>
                <a:off x="1338" y="1797"/>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4" name="Line 10">
                <a:extLst>
                  <a:ext uri="{FF2B5EF4-FFF2-40B4-BE49-F238E27FC236}">
                    <a16:creationId xmlns:a16="http://schemas.microsoft.com/office/drawing/2014/main" id="{9A73C440-F987-4F22-83F3-09897CD607CE}"/>
                  </a:ext>
                </a:extLst>
              </p:cNvPr>
              <p:cNvSpPr>
                <a:spLocks noChangeShapeType="1"/>
              </p:cNvSpPr>
              <p:nvPr/>
            </p:nvSpPr>
            <p:spPr bwMode="auto">
              <a:xfrm>
                <a:off x="1156"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5" name="Line 11">
                <a:extLst>
                  <a:ext uri="{FF2B5EF4-FFF2-40B4-BE49-F238E27FC236}">
                    <a16:creationId xmlns:a16="http://schemas.microsoft.com/office/drawing/2014/main" id="{10B60707-FF57-4DD1-81FB-AB6165C3EC4C}"/>
                  </a:ext>
                </a:extLst>
              </p:cNvPr>
              <p:cNvSpPr>
                <a:spLocks noChangeShapeType="1"/>
              </p:cNvSpPr>
              <p:nvPr/>
            </p:nvSpPr>
            <p:spPr bwMode="auto">
              <a:xfrm>
                <a:off x="1156"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6" name="Line 12">
                <a:extLst>
                  <a:ext uri="{FF2B5EF4-FFF2-40B4-BE49-F238E27FC236}">
                    <a16:creationId xmlns:a16="http://schemas.microsoft.com/office/drawing/2014/main" id="{08438974-A0D9-4894-8DF3-546FAB536DBB}"/>
                  </a:ext>
                </a:extLst>
              </p:cNvPr>
              <p:cNvSpPr>
                <a:spLocks noChangeShapeType="1"/>
              </p:cNvSpPr>
              <p:nvPr/>
            </p:nvSpPr>
            <p:spPr bwMode="auto">
              <a:xfrm>
                <a:off x="1156"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7" name="Line 13">
                <a:extLst>
                  <a:ext uri="{FF2B5EF4-FFF2-40B4-BE49-F238E27FC236}">
                    <a16:creationId xmlns:a16="http://schemas.microsoft.com/office/drawing/2014/main" id="{9527F2F6-8AF9-48C5-8312-B2EA4E7D1F37}"/>
                  </a:ext>
                </a:extLst>
              </p:cNvPr>
              <p:cNvSpPr>
                <a:spLocks noChangeShapeType="1"/>
              </p:cNvSpPr>
              <p:nvPr/>
            </p:nvSpPr>
            <p:spPr bwMode="auto">
              <a:xfrm>
                <a:off x="1156"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53" name="Group 14">
              <a:extLst>
                <a:ext uri="{FF2B5EF4-FFF2-40B4-BE49-F238E27FC236}">
                  <a16:creationId xmlns:a16="http://schemas.microsoft.com/office/drawing/2014/main" id="{7E47A5DA-2EDF-45F9-9C4C-2C56F18073D5}"/>
                </a:ext>
              </a:extLst>
            </p:cNvPr>
            <p:cNvGrpSpPr>
              <a:grpSpLocks/>
            </p:cNvGrpSpPr>
            <p:nvPr/>
          </p:nvGrpSpPr>
          <p:grpSpPr bwMode="auto">
            <a:xfrm>
              <a:off x="1156" y="2069"/>
              <a:ext cx="907" cy="182"/>
              <a:chOff x="1156" y="1797"/>
              <a:chExt cx="907" cy="182"/>
            </a:xfrm>
          </p:grpSpPr>
          <p:sp>
            <p:nvSpPr>
              <p:cNvPr id="32878" name="Line 15">
                <a:extLst>
                  <a:ext uri="{FF2B5EF4-FFF2-40B4-BE49-F238E27FC236}">
                    <a16:creationId xmlns:a16="http://schemas.microsoft.com/office/drawing/2014/main" id="{5085CCDB-A444-4771-AF0B-9DCC55978FE3}"/>
                  </a:ext>
                </a:extLst>
              </p:cNvPr>
              <p:cNvSpPr>
                <a:spLocks noChangeShapeType="1"/>
              </p:cNvSpPr>
              <p:nvPr/>
            </p:nvSpPr>
            <p:spPr bwMode="auto">
              <a:xfrm>
                <a:off x="1338" y="1797"/>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9" name="Line 16">
                <a:extLst>
                  <a:ext uri="{FF2B5EF4-FFF2-40B4-BE49-F238E27FC236}">
                    <a16:creationId xmlns:a16="http://schemas.microsoft.com/office/drawing/2014/main" id="{0649B5D9-F84B-4320-8567-2FCE71ACF876}"/>
                  </a:ext>
                </a:extLst>
              </p:cNvPr>
              <p:cNvSpPr>
                <a:spLocks noChangeShapeType="1"/>
              </p:cNvSpPr>
              <p:nvPr/>
            </p:nvSpPr>
            <p:spPr bwMode="auto">
              <a:xfrm>
                <a:off x="1156"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0" name="Line 17">
                <a:extLst>
                  <a:ext uri="{FF2B5EF4-FFF2-40B4-BE49-F238E27FC236}">
                    <a16:creationId xmlns:a16="http://schemas.microsoft.com/office/drawing/2014/main" id="{90D7A605-B150-40AF-85DF-9C8E248C6A04}"/>
                  </a:ext>
                </a:extLst>
              </p:cNvPr>
              <p:cNvSpPr>
                <a:spLocks noChangeShapeType="1"/>
              </p:cNvSpPr>
              <p:nvPr/>
            </p:nvSpPr>
            <p:spPr bwMode="auto">
              <a:xfrm>
                <a:off x="1156"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1" name="Line 18">
                <a:extLst>
                  <a:ext uri="{FF2B5EF4-FFF2-40B4-BE49-F238E27FC236}">
                    <a16:creationId xmlns:a16="http://schemas.microsoft.com/office/drawing/2014/main" id="{976D4746-D624-4E14-84B5-58FE742EAD87}"/>
                  </a:ext>
                </a:extLst>
              </p:cNvPr>
              <p:cNvSpPr>
                <a:spLocks noChangeShapeType="1"/>
              </p:cNvSpPr>
              <p:nvPr/>
            </p:nvSpPr>
            <p:spPr bwMode="auto">
              <a:xfrm>
                <a:off x="1156"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82" name="Line 19">
                <a:extLst>
                  <a:ext uri="{FF2B5EF4-FFF2-40B4-BE49-F238E27FC236}">
                    <a16:creationId xmlns:a16="http://schemas.microsoft.com/office/drawing/2014/main" id="{8649C114-EC6C-4C94-93C7-2FE26F129DF4}"/>
                  </a:ext>
                </a:extLst>
              </p:cNvPr>
              <p:cNvSpPr>
                <a:spLocks noChangeShapeType="1"/>
              </p:cNvSpPr>
              <p:nvPr/>
            </p:nvSpPr>
            <p:spPr bwMode="auto">
              <a:xfrm>
                <a:off x="1156"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54" name="Group 20">
              <a:extLst>
                <a:ext uri="{FF2B5EF4-FFF2-40B4-BE49-F238E27FC236}">
                  <a16:creationId xmlns:a16="http://schemas.microsoft.com/office/drawing/2014/main" id="{A1F21EA0-75D6-4389-AC60-1C03BC6AB770}"/>
                </a:ext>
              </a:extLst>
            </p:cNvPr>
            <p:cNvGrpSpPr>
              <a:grpSpLocks/>
            </p:cNvGrpSpPr>
            <p:nvPr/>
          </p:nvGrpSpPr>
          <p:grpSpPr bwMode="auto">
            <a:xfrm>
              <a:off x="1156" y="2296"/>
              <a:ext cx="907" cy="182"/>
              <a:chOff x="1156" y="1797"/>
              <a:chExt cx="907" cy="182"/>
            </a:xfrm>
          </p:grpSpPr>
          <p:sp>
            <p:nvSpPr>
              <p:cNvPr id="32873" name="Line 21">
                <a:extLst>
                  <a:ext uri="{FF2B5EF4-FFF2-40B4-BE49-F238E27FC236}">
                    <a16:creationId xmlns:a16="http://schemas.microsoft.com/office/drawing/2014/main" id="{48389DC9-9427-4333-8845-712948715037}"/>
                  </a:ext>
                </a:extLst>
              </p:cNvPr>
              <p:cNvSpPr>
                <a:spLocks noChangeShapeType="1"/>
              </p:cNvSpPr>
              <p:nvPr/>
            </p:nvSpPr>
            <p:spPr bwMode="auto">
              <a:xfrm>
                <a:off x="1338" y="1797"/>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4" name="Line 22">
                <a:extLst>
                  <a:ext uri="{FF2B5EF4-FFF2-40B4-BE49-F238E27FC236}">
                    <a16:creationId xmlns:a16="http://schemas.microsoft.com/office/drawing/2014/main" id="{AC4196A6-15F0-4744-93E3-1CB463BF19CA}"/>
                  </a:ext>
                </a:extLst>
              </p:cNvPr>
              <p:cNvSpPr>
                <a:spLocks noChangeShapeType="1"/>
              </p:cNvSpPr>
              <p:nvPr/>
            </p:nvSpPr>
            <p:spPr bwMode="auto">
              <a:xfrm>
                <a:off x="1156"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5" name="Line 23">
                <a:extLst>
                  <a:ext uri="{FF2B5EF4-FFF2-40B4-BE49-F238E27FC236}">
                    <a16:creationId xmlns:a16="http://schemas.microsoft.com/office/drawing/2014/main" id="{6CE8D37F-94E3-4ED7-AE4A-218D45DC77C6}"/>
                  </a:ext>
                </a:extLst>
              </p:cNvPr>
              <p:cNvSpPr>
                <a:spLocks noChangeShapeType="1"/>
              </p:cNvSpPr>
              <p:nvPr/>
            </p:nvSpPr>
            <p:spPr bwMode="auto">
              <a:xfrm>
                <a:off x="1156"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6" name="Line 24">
                <a:extLst>
                  <a:ext uri="{FF2B5EF4-FFF2-40B4-BE49-F238E27FC236}">
                    <a16:creationId xmlns:a16="http://schemas.microsoft.com/office/drawing/2014/main" id="{D0324DE1-C6D2-48F6-A1F9-63F7A17681C8}"/>
                  </a:ext>
                </a:extLst>
              </p:cNvPr>
              <p:cNvSpPr>
                <a:spLocks noChangeShapeType="1"/>
              </p:cNvSpPr>
              <p:nvPr/>
            </p:nvSpPr>
            <p:spPr bwMode="auto">
              <a:xfrm>
                <a:off x="1156"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7" name="Line 25">
                <a:extLst>
                  <a:ext uri="{FF2B5EF4-FFF2-40B4-BE49-F238E27FC236}">
                    <a16:creationId xmlns:a16="http://schemas.microsoft.com/office/drawing/2014/main" id="{77959371-3862-414A-9877-045B17C2BB67}"/>
                  </a:ext>
                </a:extLst>
              </p:cNvPr>
              <p:cNvSpPr>
                <a:spLocks noChangeShapeType="1"/>
              </p:cNvSpPr>
              <p:nvPr/>
            </p:nvSpPr>
            <p:spPr bwMode="auto">
              <a:xfrm>
                <a:off x="1156"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55" name="Group 26">
              <a:extLst>
                <a:ext uri="{FF2B5EF4-FFF2-40B4-BE49-F238E27FC236}">
                  <a16:creationId xmlns:a16="http://schemas.microsoft.com/office/drawing/2014/main" id="{C3405839-475B-4D23-8432-2914AC66632E}"/>
                </a:ext>
              </a:extLst>
            </p:cNvPr>
            <p:cNvGrpSpPr>
              <a:grpSpLocks/>
            </p:cNvGrpSpPr>
            <p:nvPr/>
          </p:nvGrpSpPr>
          <p:grpSpPr bwMode="auto">
            <a:xfrm>
              <a:off x="1156" y="2568"/>
              <a:ext cx="907" cy="182"/>
              <a:chOff x="1156" y="1797"/>
              <a:chExt cx="907" cy="182"/>
            </a:xfrm>
          </p:grpSpPr>
          <p:sp>
            <p:nvSpPr>
              <p:cNvPr id="32868" name="Line 27">
                <a:extLst>
                  <a:ext uri="{FF2B5EF4-FFF2-40B4-BE49-F238E27FC236}">
                    <a16:creationId xmlns:a16="http://schemas.microsoft.com/office/drawing/2014/main" id="{C899D8E6-E2DE-48B2-8689-2EA709800B14}"/>
                  </a:ext>
                </a:extLst>
              </p:cNvPr>
              <p:cNvSpPr>
                <a:spLocks noChangeShapeType="1"/>
              </p:cNvSpPr>
              <p:nvPr/>
            </p:nvSpPr>
            <p:spPr bwMode="auto">
              <a:xfrm>
                <a:off x="1338" y="1797"/>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9" name="Line 28">
                <a:extLst>
                  <a:ext uri="{FF2B5EF4-FFF2-40B4-BE49-F238E27FC236}">
                    <a16:creationId xmlns:a16="http://schemas.microsoft.com/office/drawing/2014/main" id="{BBD265AD-7E59-48AC-8A3B-AAC59FF929CF}"/>
                  </a:ext>
                </a:extLst>
              </p:cNvPr>
              <p:cNvSpPr>
                <a:spLocks noChangeShapeType="1"/>
              </p:cNvSpPr>
              <p:nvPr/>
            </p:nvSpPr>
            <p:spPr bwMode="auto">
              <a:xfrm>
                <a:off x="1156"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0" name="Line 29">
                <a:extLst>
                  <a:ext uri="{FF2B5EF4-FFF2-40B4-BE49-F238E27FC236}">
                    <a16:creationId xmlns:a16="http://schemas.microsoft.com/office/drawing/2014/main" id="{88C5318A-A6D5-4513-BB4C-DF4D518D3FAA}"/>
                  </a:ext>
                </a:extLst>
              </p:cNvPr>
              <p:cNvSpPr>
                <a:spLocks noChangeShapeType="1"/>
              </p:cNvSpPr>
              <p:nvPr/>
            </p:nvSpPr>
            <p:spPr bwMode="auto">
              <a:xfrm>
                <a:off x="1156"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1" name="Line 30">
                <a:extLst>
                  <a:ext uri="{FF2B5EF4-FFF2-40B4-BE49-F238E27FC236}">
                    <a16:creationId xmlns:a16="http://schemas.microsoft.com/office/drawing/2014/main" id="{CCDBB9E3-3A62-43FC-8513-6A84A3D1116B}"/>
                  </a:ext>
                </a:extLst>
              </p:cNvPr>
              <p:cNvSpPr>
                <a:spLocks noChangeShapeType="1"/>
              </p:cNvSpPr>
              <p:nvPr/>
            </p:nvSpPr>
            <p:spPr bwMode="auto">
              <a:xfrm>
                <a:off x="1156"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72" name="Line 31">
                <a:extLst>
                  <a:ext uri="{FF2B5EF4-FFF2-40B4-BE49-F238E27FC236}">
                    <a16:creationId xmlns:a16="http://schemas.microsoft.com/office/drawing/2014/main" id="{58865B39-3642-4F72-BC9A-6DF54ABFA74B}"/>
                  </a:ext>
                </a:extLst>
              </p:cNvPr>
              <p:cNvSpPr>
                <a:spLocks noChangeShapeType="1"/>
              </p:cNvSpPr>
              <p:nvPr/>
            </p:nvSpPr>
            <p:spPr bwMode="auto">
              <a:xfrm>
                <a:off x="1156"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56" name="Group 32">
              <a:extLst>
                <a:ext uri="{FF2B5EF4-FFF2-40B4-BE49-F238E27FC236}">
                  <a16:creationId xmlns:a16="http://schemas.microsoft.com/office/drawing/2014/main" id="{6E71269D-0C1A-473A-8375-F6F36BD9B485}"/>
                </a:ext>
              </a:extLst>
            </p:cNvPr>
            <p:cNvGrpSpPr>
              <a:grpSpLocks/>
            </p:cNvGrpSpPr>
            <p:nvPr/>
          </p:nvGrpSpPr>
          <p:grpSpPr bwMode="auto">
            <a:xfrm>
              <a:off x="1156" y="2840"/>
              <a:ext cx="907" cy="182"/>
              <a:chOff x="1156" y="1797"/>
              <a:chExt cx="907" cy="182"/>
            </a:xfrm>
          </p:grpSpPr>
          <p:sp>
            <p:nvSpPr>
              <p:cNvPr id="32863" name="Line 33">
                <a:extLst>
                  <a:ext uri="{FF2B5EF4-FFF2-40B4-BE49-F238E27FC236}">
                    <a16:creationId xmlns:a16="http://schemas.microsoft.com/office/drawing/2014/main" id="{8A991AFF-9B04-4B2D-B5CB-8E26595532CD}"/>
                  </a:ext>
                </a:extLst>
              </p:cNvPr>
              <p:cNvSpPr>
                <a:spLocks noChangeShapeType="1"/>
              </p:cNvSpPr>
              <p:nvPr/>
            </p:nvSpPr>
            <p:spPr bwMode="auto">
              <a:xfrm>
                <a:off x="1338" y="1797"/>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4" name="Line 34">
                <a:extLst>
                  <a:ext uri="{FF2B5EF4-FFF2-40B4-BE49-F238E27FC236}">
                    <a16:creationId xmlns:a16="http://schemas.microsoft.com/office/drawing/2014/main" id="{1F662785-9375-4015-83DA-787062E48925}"/>
                  </a:ext>
                </a:extLst>
              </p:cNvPr>
              <p:cNvSpPr>
                <a:spLocks noChangeShapeType="1"/>
              </p:cNvSpPr>
              <p:nvPr/>
            </p:nvSpPr>
            <p:spPr bwMode="auto">
              <a:xfrm>
                <a:off x="1156"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5" name="Line 35">
                <a:extLst>
                  <a:ext uri="{FF2B5EF4-FFF2-40B4-BE49-F238E27FC236}">
                    <a16:creationId xmlns:a16="http://schemas.microsoft.com/office/drawing/2014/main" id="{C188FB8B-5702-4204-97F7-27F4F139BE87}"/>
                  </a:ext>
                </a:extLst>
              </p:cNvPr>
              <p:cNvSpPr>
                <a:spLocks noChangeShapeType="1"/>
              </p:cNvSpPr>
              <p:nvPr/>
            </p:nvSpPr>
            <p:spPr bwMode="auto">
              <a:xfrm>
                <a:off x="1156"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6" name="Line 36">
                <a:extLst>
                  <a:ext uri="{FF2B5EF4-FFF2-40B4-BE49-F238E27FC236}">
                    <a16:creationId xmlns:a16="http://schemas.microsoft.com/office/drawing/2014/main" id="{072E0A47-8790-49F2-A537-119C00C41E77}"/>
                  </a:ext>
                </a:extLst>
              </p:cNvPr>
              <p:cNvSpPr>
                <a:spLocks noChangeShapeType="1"/>
              </p:cNvSpPr>
              <p:nvPr/>
            </p:nvSpPr>
            <p:spPr bwMode="auto">
              <a:xfrm>
                <a:off x="1156"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7" name="Line 37">
                <a:extLst>
                  <a:ext uri="{FF2B5EF4-FFF2-40B4-BE49-F238E27FC236}">
                    <a16:creationId xmlns:a16="http://schemas.microsoft.com/office/drawing/2014/main" id="{41A8F177-E8E1-4676-AECD-4C0F986C1BFC}"/>
                  </a:ext>
                </a:extLst>
              </p:cNvPr>
              <p:cNvSpPr>
                <a:spLocks noChangeShapeType="1"/>
              </p:cNvSpPr>
              <p:nvPr/>
            </p:nvSpPr>
            <p:spPr bwMode="auto">
              <a:xfrm>
                <a:off x="1156"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57" name="Group 38">
              <a:extLst>
                <a:ext uri="{FF2B5EF4-FFF2-40B4-BE49-F238E27FC236}">
                  <a16:creationId xmlns:a16="http://schemas.microsoft.com/office/drawing/2014/main" id="{FDC26326-E5D7-4577-A0B1-2A58A65F91D4}"/>
                </a:ext>
              </a:extLst>
            </p:cNvPr>
            <p:cNvGrpSpPr>
              <a:grpSpLocks/>
            </p:cNvGrpSpPr>
            <p:nvPr/>
          </p:nvGrpSpPr>
          <p:grpSpPr bwMode="auto">
            <a:xfrm>
              <a:off x="1156" y="3113"/>
              <a:ext cx="907" cy="182"/>
              <a:chOff x="1156" y="1797"/>
              <a:chExt cx="907" cy="182"/>
            </a:xfrm>
          </p:grpSpPr>
          <p:sp>
            <p:nvSpPr>
              <p:cNvPr id="32858" name="Line 39">
                <a:extLst>
                  <a:ext uri="{FF2B5EF4-FFF2-40B4-BE49-F238E27FC236}">
                    <a16:creationId xmlns:a16="http://schemas.microsoft.com/office/drawing/2014/main" id="{A71F47E5-A0EB-4AE1-8254-037BB1BD2637}"/>
                  </a:ext>
                </a:extLst>
              </p:cNvPr>
              <p:cNvSpPr>
                <a:spLocks noChangeShapeType="1"/>
              </p:cNvSpPr>
              <p:nvPr/>
            </p:nvSpPr>
            <p:spPr bwMode="auto">
              <a:xfrm>
                <a:off x="1338" y="1797"/>
                <a:ext cx="68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59" name="Line 40">
                <a:extLst>
                  <a:ext uri="{FF2B5EF4-FFF2-40B4-BE49-F238E27FC236}">
                    <a16:creationId xmlns:a16="http://schemas.microsoft.com/office/drawing/2014/main" id="{3ACDF114-CD18-41E3-96FE-14D60DC4EDB3}"/>
                  </a:ext>
                </a:extLst>
              </p:cNvPr>
              <p:cNvSpPr>
                <a:spLocks noChangeShapeType="1"/>
              </p:cNvSpPr>
              <p:nvPr/>
            </p:nvSpPr>
            <p:spPr bwMode="auto">
              <a:xfrm>
                <a:off x="1156"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0" name="Line 41">
                <a:extLst>
                  <a:ext uri="{FF2B5EF4-FFF2-40B4-BE49-F238E27FC236}">
                    <a16:creationId xmlns:a16="http://schemas.microsoft.com/office/drawing/2014/main" id="{667E19CB-78F5-4837-AF5C-3ED7DC7B623E}"/>
                  </a:ext>
                </a:extLst>
              </p:cNvPr>
              <p:cNvSpPr>
                <a:spLocks noChangeShapeType="1"/>
              </p:cNvSpPr>
              <p:nvPr/>
            </p:nvSpPr>
            <p:spPr bwMode="auto">
              <a:xfrm>
                <a:off x="1156"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1" name="Line 42">
                <a:extLst>
                  <a:ext uri="{FF2B5EF4-FFF2-40B4-BE49-F238E27FC236}">
                    <a16:creationId xmlns:a16="http://schemas.microsoft.com/office/drawing/2014/main" id="{85EDD79C-3F4F-4A95-9CBB-EE7EE3461D92}"/>
                  </a:ext>
                </a:extLst>
              </p:cNvPr>
              <p:cNvSpPr>
                <a:spLocks noChangeShapeType="1"/>
              </p:cNvSpPr>
              <p:nvPr/>
            </p:nvSpPr>
            <p:spPr bwMode="auto">
              <a:xfrm>
                <a:off x="1156"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62" name="Line 43">
                <a:extLst>
                  <a:ext uri="{FF2B5EF4-FFF2-40B4-BE49-F238E27FC236}">
                    <a16:creationId xmlns:a16="http://schemas.microsoft.com/office/drawing/2014/main" id="{0280FFDE-F127-4245-B866-78666DF645C8}"/>
                  </a:ext>
                </a:extLst>
              </p:cNvPr>
              <p:cNvSpPr>
                <a:spLocks noChangeShapeType="1"/>
              </p:cNvSpPr>
              <p:nvPr/>
            </p:nvSpPr>
            <p:spPr bwMode="auto">
              <a:xfrm>
                <a:off x="1156"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grpSp>
        <p:nvGrpSpPr>
          <p:cNvPr id="32775" name="Group 44">
            <a:extLst>
              <a:ext uri="{FF2B5EF4-FFF2-40B4-BE49-F238E27FC236}">
                <a16:creationId xmlns:a16="http://schemas.microsoft.com/office/drawing/2014/main" id="{9F0F7E62-1BA4-4001-A405-BEE112F07565}"/>
              </a:ext>
            </a:extLst>
          </p:cNvPr>
          <p:cNvGrpSpPr>
            <a:grpSpLocks/>
          </p:cNvGrpSpPr>
          <p:nvPr/>
        </p:nvGrpSpPr>
        <p:grpSpPr bwMode="auto">
          <a:xfrm>
            <a:off x="6372225" y="2565400"/>
            <a:ext cx="2089150" cy="3024188"/>
            <a:chOff x="2426" y="1616"/>
            <a:chExt cx="1316" cy="1905"/>
          </a:xfrm>
        </p:grpSpPr>
        <p:sp>
          <p:nvSpPr>
            <p:cNvPr id="32815" name="Rectangle 45">
              <a:extLst>
                <a:ext uri="{FF2B5EF4-FFF2-40B4-BE49-F238E27FC236}">
                  <a16:creationId xmlns:a16="http://schemas.microsoft.com/office/drawing/2014/main" id="{4EB8E206-6618-4A73-B972-EABA3A273CF0}"/>
                </a:ext>
              </a:extLst>
            </p:cNvPr>
            <p:cNvSpPr>
              <a:spLocks noChangeArrowheads="1"/>
            </p:cNvSpPr>
            <p:nvPr/>
          </p:nvSpPr>
          <p:spPr bwMode="auto">
            <a:xfrm>
              <a:off x="2426" y="1616"/>
              <a:ext cx="1316" cy="190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4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2816" name="Group 46">
              <a:extLst>
                <a:ext uri="{FF2B5EF4-FFF2-40B4-BE49-F238E27FC236}">
                  <a16:creationId xmlns:a16="http://schemas.microsoft.com/office/drawing/2014/main" id="{95011364-617A-4EB4-978D-39A6518EB996}"/>
                </a:ext>
              </a:extLst>
            </p:cNvPr>
            <p:cNvGrpSpPr>
              <a:grpSpLocks/>
            </p:cNvGrpSpPr>
            <p:nvPr/>
          </p:nvGrpSpPr>
          <p:grpSpPr bwMode="auto">
            <a:xfrm>
              <a:off x="2653" y="1842"/>
              <a:ext cx="907" cy="137"/>
              <a:chOff x="2653" y="1842"/>
              <a:chExt cx="907" cy="137"/>
            </a:xfrm>
          </p:grpSpPr>
          <p:sp>
            <p:nvSpPr>
              <p:cNvPr id="32847" name="Line 47">
                <a:extLst>
                  <a:ext uri="{FF2B5EF4-FFF2-40B4-BE49-F238E27FC236}">
                    <a16:creationId xmlns:a16="http://schemas.microsoft.com/office/drawing/2014/main" id="{7DAEF9F9-1178-496E-8508-1B10372F197C}"/>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8" name="Line 48">
                <a:extLst>
                  <a:ext uri="{FF2B5EF4-FFF2-40B4-BE49-F238E27FC236}">
                    <a16:creationId xmlns:a16="http://schemas.microsoft.com/office/drawing/2014/main" id="{06A7CD7C-62B8-4C24-979D-1ABC05B6C321}"/>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9" name="Line 49">
                <a:extLst>
                  <a:ext uri="{FF2B5EF4-FFF2-40B4-BE49-F238E27FC236}">
                    <a16:creationId xmlns:a16="http://schemas.microsoft.com/office/drawing/2014/main" id="{309DC36B-8B22-4095-A130-A8FF89134FF1}"/>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50" name="Line 50">
                <a:extLst>
                  <a:ext uri="{FF2B5EF4-FFF2-40B4-BE49-F238E27FC236}">
                    <a16:creationId xmlns:a16="http://schemas.microsoft.com/office/drawing/2014/main" id="{B9675C9E-32EE-40C7-9DC8-0A15EC5C1591}"/>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17" name="Group 51">
              <a:extLst>
                <a:ext uri="{FF2B5EF4-FFF2-40B4-BE49-F238E27FC236}">
                  <a16:creationId xmlns:a16="http://schemas.microsoft.com/office/drawing/2014/main" id="{54D2F722-41B6-4407-A812-A0CF5113C537}"/>
                </a:ext>
              </a:extLst>
            </p:cNvPr>
            <p:cNvGrpSpPr>
              <a:grpSpLocks/>
            </p:cNvGrpSpPr>
            <p:nvPr/>
          </p:nvGrpSpPr>
          <p:grpSpPr bwMode="auto">
            <a:xfrm>
              <a:off x="2653" y="2069"/>
              <a:ext cx="907" cy="137"/>
              <a:chOff x="2653" y="1842"/>
              <a:chExt cx="907" cy="137"/>
            </a:xfrm>
          </p:grpSpPr>
          <p:sp>
            <p:nvSpPr>
              <p:cNvPr id="32843" name="Line 52">
                <a:extLst>
                  <a:ext uri="{FF2B5EF4-FFF2-40B4-BE49-F238E27FC236}">
                    <a16:creationId xmlns:a16="http://schemas.microsoft.com/office/drawing/2014/main" id="{51D40145-6048-4884-B435-DC6E71F6CA0C}"/>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4" name="Line 53">
                <a:extLst>
                  <a:ext uri="{FF2B5EF4-FFF2-40B4-BE49-F238E27FC236}">
                    <a16:creationId xmlns:a16="http://schemas.microsoft.com/office/drawing/2014/main" id="{A7B1AD47-9130-44F5-A79C-816A52D8B72C}"/>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5" name="Line 54">
                <a:extLst>
                  <a:ext uri="{FF2B5EF4-FFF2-40B4-BE49-F238E27FC236}">
                    <a16:creationId xmlns:a16="http://schemas.microsoft.com/office/drawing/2014/main" id="{85B7E2CA-8BAC-4804-9D95-7C781DF4E5A8}"/>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6" name="Line 55">
                <a:extLst>
                  <a:ext uri="{FF2B5EF4-FFF2-40B4-BE49-F238E27FC236}">
                    <a16:creationId xmlns:a16="http://schemas.microsoft.com/office/drawing/2014/main" id="{DB4B592A-6DD1-47C4-8C75-FEE6073D62B8}"/>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18" name="Group 56">
              <a:extLst>
                <a:ext uri="{FF2B5EF4-FFF2-40B4-BE49-F238E27FC236}">
                  <a16:creationId xmlns:a16="http://schemas.microsoft.com/office/drawing/2014/main" id="{C0DD9881-5715-4E2B-9FF5-01095E78C0AD}"/>
                </a:ext>
              </a:extLst>
            </p:cNvPr>
            <p:cNvGrpSpPr>
              <a:grpSpLocks/>
            </p:cNvGrpSpPr>
            <p:nvPr/>
          </p:nvGrpSpPr>
          <p:grpSpPr bwMode="auto">
            <a:xfrm>
              <a:off x="2653" y="2296"/>
              <a:ext cx="907" cy="137"/>
              <a:chOff x="2653" y="1842"/>
              <a:chExt cx="907" cy="137"/>
            </a:xfrm>
          </p:grpSpPr>
          <p:sp>
            <p:nvSpPr>
              <p:cNvPr id="32839" name="Line 57">
                <a:extLst>
                  <a:ext uri="{FF2B5EF4-FFF2-40B4-BE49-F238E27FC236}">
                    <a16:creationId xmlns:a16="http://schemas.microsoft.com/office/drawing/2014/main" id="{8F587B88-3FD7-44AF-923E-C0BF00E49534}"/>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0" name="Line 58">
                <a:extLst>
                  <a:ext uri="{FF2B5EF4-FFF2-40B4-BE49-F238E27FC236}">
                    <a16:creationId xmlns:a16="http://schemas.microsoft.com/office/drawing/2014/main" id="{16493E86-10B5-435A-8E71-47D8A6D0F2A9}"/>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1" name="Line 59">
                <a:extLst>
                  <a:ext uri="{FF2B5EF4-FFF2-40B4-BE49-F238E27FC236}">
                    <a16:creationId xmlns:a16="http://schemas.microsoft.com/office/drawing/2014/main" id="{FDFD8E7E-A35D-4F6D-AB5B-96C478B299B8}"/>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42" name="Line 60">
                <a:extLst>
                  <a:ext uri="{FF2B5EF4-FFF2-40B4-BE49-F238E27FC236}">
                    <a16:creationId xmlns:a16="http://schemas.microsoft.com/office/drawing/2014/main" id="{ED049100-9605-4746-9E57-0B5989E166E6}"/>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19" name="Group 61">
              <a:extLst>
                <a:ext uri="{FF2B5EF4-FFF2-40B4-BE49-F238E27FC236}">
                  <a16:creationId xmlns:a16="http://schemas.microsoft.com/office/drawing/2014/main" id="{B5FA16B9-8A5B-46AC-9B12-12B736A974F3}"/>
                </a:ext>
              </a:extLst>
            </p:cNvPr>
            <p:cNvGrpSpPr>
              <a:grpSpLocks/>
            </p:cNvGrpSpPr>
            <p:nvPr/>
          </p:nvGrpSpPr>
          <p:grpSpPr bwMode="auto">
            <a:xfrm>
              <a:off x="2653" y="2523"/>
              <a:ext cx="907" cy="137"/>
              <a:chOff x="2653" y="1842"/>
              <a:chExt cx="907" cy="137"/>
            </a:xfrm>
          </p:grpSpPr>
          <p:sp>
            <p:nvSpPr>
              <p:cNvPr id="32835" name="Line 62">
                <a:extLst>
                  <a:ext uri="{FF2B5EF4-FFF2-40B4-BE49-F238E27FC236}">
                    <a16:creationId xmlns:a16="http://schemas.microsoft.com/office/drawing/2014/main" id="{E2F8FE86-C2DE-449C-B9D0-CEE30EC1B90A}"/>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6" name="Line 63">
                <a:extLst>
                  <a:ext uri="{FF2B5EF4-FFF2-40B4-BE49-F238E27FC236}">
                    <a16:creationId xmlns:a16="http://schemas.microsoft.com/office/drawing/2014/main" id="{710786B4-DE11-451F-946E-FB57BCC472B8}"/>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7" name="Line 64">
                <a:extLst>
                  <a:ext uri="{FF2B5EF4-FFF2-40B4-BE49-F238E27FC236}">
                    <a16:creationId xmlns:a16="http://schemas.microsoft.com/office/drawing/2014/main" id="{BEE4CFAC-E516-44B0-A90B-07F1016626BE}"/>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8" name="Line 65">
                <a:extLst>
                  <a:ext uri="{FF2B5EF4-FFF2-40B4-BE49-F238E27FC236}">
                    <a16:creationId xmlns:a16="http://schemas.microsoft.com/office/drawing/2014/main" id="{3B6E9AA6-5610-4232-AEE4-BAAB971374C2}"/>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20" name="Group 66">
              <a:extLst>
                <a:ext uri="{FF2B5EF4-FFF2-40B4-BE49-F238E27FC236}">
                  <a16:creationId xmlns:a16="http://schemas.microsoft.com/office/drawing/2014/main" id="{0EB4B1DC-8B26-48AE-96F5-1A8733350351}"/>
                </a:ext>
              </a:extLst>
            </p:cNvPr>
            <p:cNvGrpSpPr>
              <a:grpSpLocks/>
            </p:cNvGrpSpPr>
            <p:nvPr/>
          </p:nvGrpSpPr>
          <p:grpSpPr bwMode="auto">
            <a:xfrm>
              <a:off x="2653" y="2750"/>
              <a:ext cx="907" cy="137"/>
              <a:chOff x="2653" y="1842"/>
              <a:chExt cx="907" cy="137"/>
            </a:xfrm>
          </p:grpSpPr>
          <p:sp>
            <p:nvSpPr>
              <p:cNvPr id="32831" name="Line 67">
                <a:extLst>
                  <a:ext uri="{FF2B5EF4-FFF2-40B4-BE49-F238E27FC236}">
                    <a16:creationId xmlns:a16="http://schemas.microsoft.com/office/drawing/2014/main" id="{3A2AA476-6A7E-47C1-B9BB-8DF4027A974D}"/>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2" name="Line 68">
                <a:extLst>
                  <a:ext uri="{FF2B5EF4-FFF2-40B4-BE49-F238E27FC236}">
                    <a16:creationId xmlns:a16="http://schemas.microsoft.com/office/drawing/2014/main" id="{8E3826CC-3AB8-47F0-8560-35BCCD0B6887}"/>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3" name="Line 69">
                <a:extLst>
                  <a:ext uri="{FF2B5EF4-FFF2-40B4-BE49-F238E27FC236}">
                    <a16:creationId xmlns:a16="http://schemas.microsoft.com/office/drawing/2014/main" id="{3E2BEB9B-76CA-41DB-88BF-C05427B1D4CA}"/>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4" name="Line 70">
                <a:extLst>
                  <a:ext uri="{FF2B5EF4-FFF2-40B4-BE49-F238E27FC236}">
                    <a16:creationId xmlns:a16="http://schemas.microsoft.com/office/drawing/2014/main" id="{522FC046-7CB1-479C-9485-3737EEC45F26}"/>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21" name="Group 71">
              <a:extLst>
                <a:ext uri="{FF2B5EF4-FFF2-40B4-BE49-F238E27FC236}">
                  <a16:creationId xmlns:a16="http://schemas.microsoft.com/office/drawing/2014/main" id="{FB16AA98-6F58-4F63-8F61-F1528F6233C1}"/>
                </a:ext>
              </a:extLst>
            </p:cNvPr>
            <p:cNvGrpSpPr>
              <a:grpSpLocks/>
            </p:cNvGrpSpPr>
            <p:nvPr/>
          </p:nvGrpSpPr>
          <p:grpSpPr bwMode="auto">
            <a:xfrm>
              <a:off x="2653" y="2976"/>
              <a:ext cx="907" cy="137"/>
              <a:chOff x="2653" y="1842"/>
              <a:chExt cx="907" cy="137"/>
            </a:xfrm>
          </p:grpSpPr>
          <p:sp>
            <p:nvSpPr>
              <p:cNvPr id="32827" name="Line 72">
                <a:extLst>
                  <a:ext uri="{FF2B5EF4-FFF2-40B4-BE49-F238E27FC236}">
                    <a16:creationId xmlns:a16="http://schemas.microsoft.com/office/drawing/2014/main" id="{B5FBCFF5-DBAA-4C44-98D7-3DADFEAC3AEB}"/>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28" name="Line 73">
                <a:extLst>
                  <a:ext uri="{FF2B5EF4-FFF2-40B4-BE49-F238E27FC236}">
                    <a16:creationId xmlns:a16="http://schemas.microsoft.com/office/drawing/2014/main" id="{03E70A57-CF32-4F14-9083-F6B5506AD581}"/>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29" name="Line 74">
                <a:extLst>
                  <a:ext uri="{FF2B5EF4-FFF2-40B4-BE49-F238E27FC236}">
                    <a16:creationId xmlns:a16="http://schemas.microsoft.com/office/drawing/2014/main" id="{4D1505DF-88BF-4A07-B845-DAE2237AF1BC}"/>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30" name="Line 75">
                <a:extLst>
                  <a:ext uri="{FF2B5EF4-FFF2-40B4-BE49-F238E27FC236}">
                    <a16:creationId xmlns:a16="http://schemas.microsoft.com/office/drawing/2014/main" id="{441AAF82-8438-403C-8EBC-7A8709E752DE}"/>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822" name="Group 76">
              <a:extLst>
                <a:ext uri="{FF2B5EF4-FFF2-40B4-BE49-F238E27FC236}">
                  <a16:creationId xmlns:a16="http://schemas.microsoft.com/office/drawing/2014/main" id="{5A112DF5-0A89-4FA4-8744-321D6C6D7755}"/>
                </a:ext>
              </a:extLst>
            </p:cNvPr>
            <p:cNvGrpSpPr>
              <a:grpSpLocks/>
            </p:cNvGrpSpPr>
            <p:nvPr/>
          </p:nvGrpSpPr>
          <p:grpSpPr bwMode="auto">
            <a:xfrm>
              <a:off x="2653" y="3203"/>
              <a:ext cx="907" cy="137"/>
              <a:chOff x="2653" y="1842"/>
              <a:chExt cx="907" cy="137"/>
            </a:xfrm>
          </p:grpSpPr>
          <p:sp>
            <p:nvSpPr>
              <p:cNvPr id="32823" name="Line 77">
                <a:extLst>
                  <a:ext uri="{FF2B5EF4-FFF2-40B4-BE49-F238E27FC236}">
                    <a16:creationId xmlns:a16="http://schemas.microsoft.com/office/drawing/2014/main" id="{6A4A4A70-20BC-4DC5-8B57-E7EB39193D32}"/>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24" name="Line 78">
                <a:extLst>
                  <a:ext uri="{FF2B5EF4-FFF2-40B4-BE49-F238E27FC236}">
                    <a16:creationId xmlns:a16="http://schemas.microsoft.com/office/drawing/2014/main" id="{B5DA1740-1F3B-489A-91A8-3C0426EA716C}"/>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25" name="Line 79">
                <a:extLst>
                  <a:ext uri="{FF2B5EF4-FFF2-40B4-BE49-F238E27FC236}">
                    <a16:creationId xmlns:a16="http://schemas.microsoft.com/office/drawing/2014/main" id="{15B2EAE5-857F-4CCC-99EE-27F791D68E88}"/>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26" name="Line 80">
                <a:extLst>
                  <a:ext uri="{FF2B5EF4-FFF2-40B4-BE49-F238E27FC236}">
                    <a16:creationId xmlns:a16="http://schemas.microsoft.com/office/drawing/2014/main" id="{79791566-2DAC-435F-AE72-1D083C13DC67}"/>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grpSp>
        <p:nvGrpSpPr>
          <p:cNvPr id="32776" name="Group 81">
            <a:extLst>
              <a:ext uri="{FF2B5EF4-FFF2-40B4-BE49-F238E27FC236}">
                <a16:creationId xmlns:a16="http://schemas.microsoft.com/office/drawing/2014/main" id="{79BC3FE3-E193-4242-A7CB-8F83EE80680C}"/>
              </a:ext>
            </a:extLst>
          </p:cNvPr>
          <p:cNvGrpSpPr>
            <a:grpSpLocks/>
          </p:cNvGrpSpPr>
          <p:nvPr/>
        </p:nvGrpSpPr>
        <p:grpSpPr bwMode="auto">
          <a:xfrm>
            <a:off x="3851275" y="2565400"/>
            <a:ext cx="2089150" cy="3024188"/>
            <a:chOff x="2381" y="1616"/>
            <a:chExt cx="1316" cy="1905"/>
          </a:xfrm>
        </p:grpSpPr>
        <p:sp>
          <p:nvSpPr>
            <p:cNvPr id="32778" name="Rectangle 82">
              <a:extLst>
                <a:ext uri="{FF2B5EF4-FFF2-40B4-BE49-F238E27FC236}">
                  <a16:creationId xmlns:a16="http://schemas.microsoft.com/office/drawing/2014/main" id="{0DC9CB52-0666-4388-8696-0CEE532C7314}"/>
                </a:ext>
              </a:extLst>
            </p:cNvPr>
            <p:cNvSpPr>
              <a:spLocks noChangeArrowheads="1"/>
            </p:cNvSpPr>
            <p:nvPr/>
          </p:nvSpPr>
          <p:spPr bwMode="auto">
            <a:xfrm>
              <a:off x="2381" y="1616"/>
              <a:ext cx="1316" cy="190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40000"/>
                </a:spcBef>
                <a:spcAft>
                  <a:spcPts val="0"/>
                </a:spcAft>
                <a:buClrTx/>
                <a:buSzTx/>
                <a:buFontTx/>
                <a:buNone/>
                <a:tabLst/>
                <a:defRPr/>
              </a:pPr>
              <a:endParaRPr kumimoji="0" lang="ru-RU" altLang="ru-RU" sz="2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grpSp>
          <p:nvGrpSpPr>
            <p:cNvPr id="32779" name="Group 83">
              <a:extLst>
                <a:ext uri="{FF2B5EF4-FFF2-40B4-BE49-F238E27FC236}">
                  <a16:creationId xmlns:a16="http://schemas.microsoft.com/office/drawing/2014/main" id="{EA8F389E-D63B-4A08-A415-293CBB180B46}"/>
                </a:ext>
              </a:extLst>
            </p:cNvPr>
            <p:cNvGrpSpPr>
              <a:grpSpLocks/>
            </p:cNvGrpSpPr>
            <p:nvPr/>
          </p:nvGrpSpPr>
          <p:grpSpPr bwMode="auto">
            <a:xfrm>
              <a:off x="2562" y="1797"/>
              <a:ext cx="998" cy="182"/>
              <a:chOff x="2562" y="1797"/>
              <a:chExt cx="998" cy="182"/>
            </a:xfrm>
          </p:grpSpPr>
          <p:sp>
            <p:nvSpPr>
              <p:cNvPr id="32810" name="Line 84">
                <a:extLst>
                  <a:ext uri="{FF2B5EF4-FFF2-40B4-BE49-F238E27FC236}">
                    <a16:creationId xmlns:a16="http://schemas.microsoft.com/office/drawing/2014/main" id="{0692582D-DDBC-4A0B-BB4F-085196AD2094}"/>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11" name="Line 85">
                <a:extLst>
                  <a:ext uri="{FF2B5EF4-FFF2-40B4-BE49-F238E27FC236}">
                    <a16:creationId xmlns:a16="http://schemas.microsoft.com/office/drawing/2014/main" id="{A39FC9C3-BD27-4F90-9EB9-A34CEA1EFD49}"/>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12" name="Line 86">
                <a:extLst>
                  <a:ext uri="{FF2B5EF4-FFF2-40B4-BE49-F238E27FC236}">
                    <a16:creationId xmlns:a16="http://schemas.microsoft.com/office/drawing/2014/main" id="{8800971C-C5D6-44DB-BF98-FA0E823A4371}"/>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13" name="Line 87">
                <a:extLst>
                  <a:ext uri="{FF2B5EF4-FFF2-40B4-BE49-F238E27FC236}">
                    <a16:creationId xmlns:a16="http://schemas.microsoft.com/office/drawing/2014/main" id="{E6EDEDEE-E67D-4597-A2E0-C9B357B157C7}"/>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14" name="Line 88">
                <a:extLst>
                  <a:ext uri="{FF2B5EF4-FFF2-40B4-BE49-F238E27FC236}">
                    <a16:creationId xmlns:a16="http://schemas.microsoft.com/office/drawing/2014/main" id="{A94DBBA5-AA82-46F1-8092-86FAEA7C2FE4}"/>
                  </a:ext>
                </a:extLst>
              </p:cNvPr>
              <p:cNvSpPr>
                <a:spLocks noChangeShapeType="1"/>
              </p:cNvSpPr>
              <p:nvPr/>
            </p:nvSpPr>
            <p:spPr bwMode="auto">
              <a:xfrm>
                <a:off x="2562" y="179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780" name="Group 89">
              <a:extLst>
                <a:ext uri="{FF2B5EF4-FFF2-40B4-BE49-F238E27FC236}">
                  <a16:creationId xmlns:a16="http://schemas.microsoft.com/office/drawing/2014/main" id="{FA0AC9DB-D91D-4D45-B231-72F2A22448B4}"/>
                </a:ext>
              </a:extLst>
            </p:cNvPr>
            <p:cNvGrpSpPr>
              <a:grpSpLocks/>
            </p:cNvGrpSpPr>
            <p:nvPr/>
          </p:nvGrpSpPr>
          <p:grpSpPr bwMode="auto">
            <a:xfrm>
              <a:off x="2562" y="2069"/>
              <a:ext cx="998" cy="182"/>
              <a:chOff x="2562" y="1797"/>
              <a:chExt cx="998" cy="182"/>
            </a:xfrm>
          </p:grpSpPr>
          <p:sp>
            <p:nvSpPr>
              <p:cNvPr id="32805" name="Line 90">
                <a:extLst>
                  <a:ext uri="{FF2B5EF4-FFF2-40B4-BE49-F238E27FC236}">
                    <a16:creationId xmlns:a16="http://schemas.microsoft.com/office/drawing/2014/main" id="{80136678-470D-4E24-A423-9A621FFC37A3}"/>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6" name="Line 91">
                <a:extLst>
                  <a:ext uri="{FF2B5EF4-FFF2-40B4-BE49-F238E27FC236}">
                    <a16:creationId xmlns:a16="http://schemas.microsoft.com/office/drawing/2014/main" id="{88C77205-1404-4DA8-907C-240ABCCB3B1B}"/>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7" name="Line 92">
                <a:extLst>
                  <a:ext uri="{FF2B5EF4-FFF2-40B4-BE49-F238E27FC236}">
                    <a16:creationId xmlns:a16="http://schemas.microsoft.com/office/drawing/2014/main" id="{27E1596C-F176-4723-AEE5-4DCAE95E942C}"/>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8" name="Line 93">
                <a:extLst>
                  <a:ext uri="{FF2B5EF4-FFF2-40B4-BE49-F238E27FC236}">
                    <a16:creationId xmlns:a16="http://schemas.microsoft.com/office/drawing/2014/main" id="{CCF4EE93-976F-4232-A0F2-8BF934A98A18}"/>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9" name="Line 94">
                <a:extLst>
                  <a:ext uri="{FF2B5EF4-FFF2-40B4-BE49-F238E27FC236}">
                    <a16:creationId xmlns:a16="http://schemas.microsoft.com/office/drawing/2014/main" id="{7F2BC4F4-4C64-4D83-A750-22C8A0EEDC15}"/>
                  </a:ext>
                </a:extLst>
              </p:cNvPr>
              <p:cNvSpPr>
                <a:spLocks noChangeShapeType="1"/>
              </p:cNvSpPr>
              <p:nvPr/>
            </p:nvSpPr>
            <p:spPr bwMode="auto">
              <a:xfrm>
                <a:off x="2562" y="179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781" name="Group 95">
              <a:extLst>
                <a:ext uri="{FF2B5EF4-FFF2-40B4-BE49-F238E27FC236}">
                  <a16:creationId xmlns:a16="http://schemas.microsoft.com/office/drawing/2014/main" id="{0569DCF6-F478-4B2D-8B8C-FC1F84D31868}"/>
                </a:ext>
              </a:extLst>
            </p:cNvPr>
            <p:cNvGrpSpPr>
              <a:grpSpLocks/>
            </p:cNvGrpSpPr>
            <p:nvPr/>
          </p:nvGrpSpPr>
          <p:grpSpPr bwMode="auto">
            <a:xfrm>
              <a:off x="2562" y="2341"/>
              <a:ext cx="998" cy="182"/>
              <a:chOff x="2562" y="1797"/>
              <a:chExt cx="998" cy="182"/>
            </a:xfrm>
          </p:grpSpPr>
          <p:sp>
            <p:nvSpPr>
              <p:cNvPr id="32800" name="Line 96">
                <a:extLst>
                  <a:ext uri="{FF2B5EF4-FFF2-40B4-BE49-F238E27FC236}">
                    <a16:creationId xmlns:a16="http://schemas.microsoft.com/office/drawing/2014/main" id="{8D27D73E-2DBA-4840-8F15-BEDBC0E2F901}"/>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1" name="Line 97">
                <a:extLst>
                  <a:ext uri="{FF2B5EF4-FFF2-40B4-BE49-F238E27FC236}">
                    <a16:creationId xmlns:a16="http://schemas.microsoft.com/office/drawing/2014/main" id="{5A672A64-19EF-4DF6-916A-F1F986221F1D}"/>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2" name="Line 98">
                <a:extLst>
                  <a:ext uri="{FF2B5EF4-FFF2-40B4-BE49-F238E27FC236}">
                    <a16:creationId xmlns:a16="http://schemas.microsoft.com/office/drawing/2014/main" id="{1C529B25-BF2A-4C9F-B461-1970EE0765EA}"/>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3" name="Line 99">
                <a:extLst>
                  <a:ext uri="{FF2B5EF4-FFF2-40B4-BE49-F238E27FC236}">
                    <a16:creationId xmlns:a16="http://schemas.microsoft.com/office/drawing/2014/main" id="{A6D1011F-4CBF-4B5A-BA90-4DDA7A2153CB}"/>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804" name="Line 100">
                <a:extLst>
                  <a:ext uri="{FF2B5EF4-FFF2-40B4-BE49-F238E27FC236}">
                    <a16:creationId xmlns:a16="http://schemas.microsoft.com/office/drawing/2014/main" id="{12DF1C2E-9FFC-4C78-87EC-1175A2F1BDE3}"/>
                  </a:ext>
                </a:extLst>
              </p:cNvPr>
              <p:cNvSpPr>
                <a:spLocks noChangeShapeType="1"/>
              </p:cNvSpPr>
              <p:nvPr/>
            </p:nvSpPr>
            <p:spPr bwMode="auto">
              <a:xfrm>
                <a:off x="2562" y="179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782" name="Group 101">
              <a:extLst>
                <a:ext uri="{FF2B5EF4-FFF2-40B4-BE49-F238E27FC236}">
                  <a16:creationId xmlns:a16="http://schemas.microsoft.com/office/drawing/2014/main" id="{FDF946FA-781F-4C0A-88F9-32381FCC067B}"/>
                </a:ext>
              </a:extLst>
            </p:cNvPr>
            <p:cNvGrpSpPr>
              <a:grpSpLocks/>
            </p:cNvGrpSpPr>
            <p:nvPr/>
          </p:nvGrpSpPr>
          <p:grpSpPr bwMode="auto">
            <a:xfrm>
              <a:off x="2562" y="2614"/>
              <a:ext cx="998" cy="182"/>
              <a:chOff x="2562" y="1797"/>
              <a:chExt cx="998" cy="182"/>
            </a:xfrm>
          </p:grpSpPr>
          <p:sp>
            <p:nvSpPr>
              <p:cNvPr id="32795" name="Line 102">
                <a:extLst>
                  <a:ext uri="{FF2B5EF4-FFF2-40B4-BE49-F238E27FC236}">
                    <a16:creationId xmlns:a16="http://schemas.microsoft.com/office/drawing/2014/main" id="{D6F9F002-390D-4F81-A8B9-13E5702BA61D}"/>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6" name="Line 103">
                <a:extLst>
                  <a:ext uri="{FF2B5EF4-FFF2-40B4-BE49-F238E27FC236}">
                    <a16:creationId xmlns:a16="http://schemas.microsoft.com/office/drawing/2014/main" id="{19F59D24-236B-408B-808A-4415BD1F4721}"/>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7" name="Line 104">
                <a:extLst>
                  <a:ext uri="{FF2B5EF4-FFF2-40B4-BE49-F238E27FC236}">
                    <a16:creationId xmlns:a16="http://schemas.microsoft.com/office/drawing/2014/main" id="{2B68D7AD-6C1B-411D-95E2-87588D2258A0}"/>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8" name="Line 105">
                <a:extLst>
                  <a:ext uri="{FF2B5EF4-FFF2-40B4-BE49-F238E27FC236}">
                    <a16:creationId xmlns:a16="http://schemas.microsoft.com/office/drawing/2014/main" id="{A77BFD16-B162-4980-99EC-E699232F930C}"/>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9" name="Line 106">
                <a:extLst>
                  <a:ext uri="{FF2B5EF4-FFF2-40B4-BE49-F238E27FC236}">
                    <a16:creationId xmlns:a16="http://schemas.microsoft.com/office/drawing/2014/main" id="{D263F91A-D6B1-4EEE-9093-DB20DA3BAD17}"/>
                  </a:ext>
                </a:extLst>
              </p:cNvPr>
              <p:cNvSpPr>
                <a:spLocks noChangeShapeType="1"/>
              </p:cNvSpPr>
              <p:nvPr/>
            </p:nvSpPr>
            <p:spPr bwMode="auto">
              <a:xfrm>
                <a:off x="2562" y="179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783" name="Group 107">
              <a:extLst>
                <a:ext uri="{FF2B5EF4-FFF2-40B4-BE49-F238E27FC236}">
                  <a16:creationId xmlns:a16="http://schemas.microsoft.com/office/drawing/2014/main" id="{1ECFAC2E-22EA-4900-836B-7958B8283008}"/>
                </a:ext>
              </a:extLst>
            </p:cNvPr>
            <p:cNvGrpSpPr>
              <a:grpSpLocks/>
            </p:cNvGrpSpPr>
            <p:nvPr/>
          </p:nvGrpSpPr>
          <p:grpSpPr bwMode="auto">
            <a:xfrm>
              <a:off x="2562" y="2886"/>
              <a:ext cx="998" cy="182"/>
              <a:chOff x="2562" y="1797"/>
              <a:chExt cx="998" cy="182"/>
            </a:xfrm>
          </p:grpSpPr>
          <p:sp>
            <p:nvSpPr>
              <p:cNvPr id="32790" name="Line 108">
                <a:extLst>
                  <a:ext uri="{FF2B5EF4-FFF2-40B4-BE49-F238E27FC236}">
                    <a16:creationId xmlns:a16="http://schemas.microsoft.com/office/drawing/2014/main" id="{F42E3B7A-FB20-49C3-BBFF-2149D7C7825F}"/>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1" name="Line 109">
                <a:extLst>
                  <a:ext uri="{FF2B5EF4-FFF2-40B4-BE49-F238E27FC236}">
                    <a16:creationId xmlns:a16="http://schemas.microsoft.com/office/drawing/2014/main" id="{5A3A5E8A-37A9-44DA-BD80-A85916219981}"/>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2" name="Line 110">
                <a:extLst>
                  <a:ext uri="{FF2B5EF4-FFF2-40B4-BE49-F238E27FC236}">
                    <a16:creationId xmlns:a16="http://schemas.microsoft.com/office/drawing/2014/main" id="{0C02E041-DAD5-40E7-8013-0EA5E84A850C}"/>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3" name="Line 111">
                <a:extLst>
                  <a:ext uri="{FF2B5EF4-FFF2-40B4-BE49-F238E27FC236}">
                    <a16:creationId xmlns:a16="http://schemas.microsoft.com/office/drawing/2014/main" id="{DA7D5C1B-573D-47D2-8D05-7D0AB383F8EB}"/>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94" name="Line 112">
                <a:extLst>
                  <a:ext uri="{FF2B5EF4-FFF2-40B4-BE49-F238E27FC236}">
                    <a16:creationId xmlns:a16="http://schemas.microsoft.com/office/drawing/2014/main" id="{6603DDBA-E5FD-4CB8-9918-5C1E07E5A167}"/>
                  </a:ext>
                </a:extLst>
              </p:cNvPr>
              <p:cNvSpPr>
                <a:spLocks noChangeShapeType="1"/>
              </p:cNvSpPr>
              <p:nvPr/>
            </p:nvSpPr>
            <p:spPr bwMode="auto">
              <a:xfrm>
                <a:off x="2562" y="179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nvGrpSpPr>
            <p:cNvPr id="32784" name="Group 113">
              <a:extLst>
                <a:ext uri="{FF2B5EF4-FFF2-40B4-BE49-F238E27FC236}">
                  <a16:creationId xmlns:a16="http://schemas.microsoft.com/office/drawing/2014/main" id="{C8B85B9C-8D1F-4B78-B5FF-2E37EE270063}"/>
                </a:ext>
              </a:extLst>
            </p:cNvPr>
            <p:cNvGrpSpPr>
              <a:grpSpLocks/>
            </p:cNvGrpSpPr>
            <p:nvPr/>
          </p:nvGrpSpPr>
          <p:grpSpPr bwMode="auto">
            <a:xfrm>
              <a:off x="2562" y="3113"/>
              <a:ext cx="998" cy="182"/>
              <a:chOff x="2562" y="1797"/>
              <a:chExt cx="998" cy="182"/>
            </a:xfrm>
          </p:grpSpPr>
          <p:sp>
            <p:nvSpPr>
              <p:cNvPr id="32785" name="Line 114">
                <a:extLst>
                  <a:ext uri="{FF2B5EF4-FFF2-40B4-BE49-F238E27FC236}">
                    <a16:creationId xmlns:a16="http://schemas.microsoft.com/office/drawing/2014/main" id="{A22C4631-1135-4739-BBFE-0909BC3E091A}"/>
                  </a:ext>
                </a:extLst>
              </p:cNvPr>
              <p:cNvSpPr>
                <a:spLocks noChangeShapeType="1"/>
              </p:cNvSpPr>
              <p:nvPr/>
            </p:nvSpPr>
            <p:spPr bwMode="auto">
              <a:xfrm>
                <a:off x="2653" y="1842"/>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86" name="Line 115">
                <a:extLst>
                  <a:ext uri="{FF2B5EF4-FFF2-40B4-BE49-F238E27FC236}">
                    <a16:creationId xmlns:a16="http://schemas.microsoft.com/office/drawing/2014/main" id="{AAEAB130-D9D8-45B9-BCD6-980E2C2D8C7B}"/>
                  </a:ext>
                </a:extLst>
              </p:cNvPr>
              <p:cNvSpPr>
                <a:spLocks noChangeShapeType="1"/>
              </p:cNvSpPr>
              <p:nvPr/>
            </p:nvSpPr>
            <p:spPr bwMode="auto">
              <a:xfrm>
                <a:off x="2653" y="1888"/>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87" name="Line 116">
                <a:extLst>
                  <a:ext uri="{FF2B5EF4-FFF2-40B4-BE49-F238E27FC236}">
                    <a16:creationId xmlns:a16="http://schemas.microsoft.com/office/drawing/2014/main" id="{7A1A3420-B2C7-481C-98AE-A80457C0B2CD}"/>
                  </a:ext>
                </a:extLst>
              </p:cNvPr>
              <p:cNvSpPr>
                <a:spLocks noChangeShapeType="1"/>
              </p:cNvSpPr>
              <p:nvPr/>
            </p:nvSpPr>
            <p:spPr bwMode="auto">
              <a:xfrm>
                <a:off x="2653" y="1933"/>
                <a:ext cx="90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88" name="Line 117">
                <a:extLst>
                  <a:ext uri="{FF2B5EF4-FFF2-40B4-BE49-F238E27FC236}">
                    <a16:creationId xmlns:a16="http://schemas.microsoft.com/office/drawing/2014/main" id="{B557C76A-0ABF-44BB-9A6F-DB3B482329C2}"/>
                  </a:ext>
                </a:extLst>
              </p:cNvPr>
              <p:cNvSpPr>
                <a:spLocks noChangeShapeType="1"/>
              </p:cNvSpPr>
              <p:nvPr/>
            </p:nvSpPr>
            <p:spPr bwMode="auto">
              <a:xfrm>
                <a:off x="2653" y="1979"/>
                <a:ext cx="40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sp>
            <p:nvSpPr>
              <p:cNvPr id="32789" name="Line 118">
                <a:extLst>
                  <a:ext uri="{FF2B5EF4-FFF2-40B4-BE49-F238E27FC236}">
                    <a16:creationId xmlns:a16="http://schemas.microsoft.com/office/drawing/2014/main" id="{861A6EE7-20AE-4C33-A7F1-24F281B34C8D}"/>
                  </a:ext>
                </a:extLst>
              </p:cNvPr>
              <p:cNvSpPr>
                <a:spLocks noChangeShapeType="1"/>
              </p:cNvSpPr>
              <p:nvPr/>
            </p:nvSpPr>
            <p:spPr bwMode="auto">
              <a:xfrm>
                <a:off x="2562" y="1797"/>
                <a:ext cx="99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Arial Narrow"/>
                  <a:ea typeface="+mn-ea"/>
                  <a:cs typeface="+mn-cs"/>
                </a:endParaRPr>
              </a:p>
            </p:txBody>
          </p:sp>
        </p:grpSp>
      </p:grpSp>
      <p:sp>
        <p:nvSpPr>
          <p:cNvPr id="148599" name="Text Box 119">
            <a:extLst>
              <a:ext uri="{FF2B5EF4-FFF2-40B4-BE49-F238E27FC236}">
                <a16:creationId xmlns:a16="http://schemas.microsoft.com/office/drawing/2014/main" id="{B150707B-D625-40F7-8803-FE85B74D055E}"/>
              </a:ext>
            </a:extLst>
          </p:cNvPr>
          <p:cNvSpPr txBox="1">
            <a:spLocks noChangeArrowheads="1"/>
          </p:cNvSpPr>
          <p:nvPr/>
        </p:nvSpPr>
        <p:spPr bwMode="auto">
          <a:xfrm>
            <a:off x="1403350" y="1628775"/>
            <a:ext cx="7343775" cy="822325"/>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Birinchi qatorning paragrafning qolgan satrlariga nisbatan pozitsiyasi</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FB35690B-368D-49D4-8C4F-AAE7E33EF257}"/>
              </a:ext>
            </a:extLst>
          </p:cNvPr>
          <p:cNvSpPr>
            <a:spLocks noGrp="1" noChangeArrowheads="1"/>
          </p:cNvSpPr>
          <p:nvPr>
            <p:ph type="title"/>
          </p:nvPr>
        </p:nvSpPr>
        <p:spPr/>
        <p:txBody>
          <a:bodyPr/>
          <a:lstStyle/>
          <a:p>
            <a:pPr eaLnBrk="1" hangingPunct="1">
              <a:defRPr/>
            </a:pPr>
            <a:r>
              <a:rPr lang="ru-RU">
                <a:solidFill>
                  <a:srgbClr val="DA2B0E"/>
                </a:solidFill>
                <a:effectLst>
                  <a:outerShdw blurRad="38100" dist="38100" dir="2700000" algn="tl">
                    <a:srgbClr val="000000"/>
                  </a:outerShdw>
                </a:effectLst>
                <a:latin typeface="Comic Sans MS" pitchFamily="66" charset="0"/>
              </a:rPr>
              <a:t>Chiziqlar oralig'i</a:t>
            </a:r>
            <a:r>
              <a:rPr lang="ru-RU">
                <a:solidFill>
                  <a:srgbClr val="FFFF99"/>
                </a:solidFill>
                <a:effectDag name="">
                  <a:cont type="tree" name="">
                    <a:effect ref="fillLine"/>
                    <a:outerShdw dist="38100" dir="13500000" algn="br">
                      <a:srgbClr val="FFFFBB"/>
                    </a:outerShdw>
                  </a:cont>
                  <a:cont type="tree" name="">
                    <a:effect ref="fillLine"/>
                    <a:outerShdw dist="38100" dir="2700000" algn="tl">
                      <a:srgbClr val="99985B"/>
                    </a:outerShdw>
                  </a:cont>
                  <a:effect ref="fillLine"/>
                </a:effectDag>
                <a:latin typeface="Comic Sans MS" pitchFamily="66" charset="0"/>
              </a:rPr>
              <a:t> </a:t>
            </a:r>
          </a:p>
        </p:txBody>
      </p:sp>
      <p:sp>
        <p:nvSpPr>
          <p:cNvPr id="150531" name="Text Box 3">
            <a:extLst>
              <a:ext uri="{FF2B5EF4-FFF2-40B4-BE49-F238E27FC236}">
                <a16:creationId xmlns:a16="http://schemas.microsoft.com/office/drawing/2014/main" id="{9274B60D-269C-457E-844D-30F51E431456}"/>
              </a:ext>
            </a:extLst>
          </p:cNvPr>
          <p:cNvSpPr txBox="1">
            <a:spLocks noChangeArrowheads="1"/>
          </p:cNvSpPr>
          <p:nvPr/>
        </p:nvSpPr>
        <p:spPr bwMode="auto">
          <a:xfrm>
            <a:off x="1331913" y="1700213"/>
            <a:ext cx="7561262" cy="822325"/>
          </a:xfrm>
          <a:prstGeom prst="rect">
            <a:avLst/>
          </a:prstGeom>
          <a:noFill/>
          <a:ln w="9525">
            <a:noFill/>
            <a:miter lim="800000"/>
            <a:headEnd/>
            <a:tailEnd/>
          </a:ln>
          <a:effec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ru-RU" sz="2400" b="0" i="0" u="none" strike="noStrike" kern="1200" cap="none" spc="0" normalizeH="0" baseline="0" noProof="0">
                <a:ln>
                  <a:noFill/>
                </a:ln>
                <a:solidFill>
                  <a:srgbClr val="DA2B0E"/>
                </a:solidFill>
                <a:effectLst>
                  <a:outerShdw blurRad="38100" dist="38100" dir="2700000" algn="tl">
                    <a:srgbClr val="000000"/>
                  </a:outerShdw>
                </a:effectLst>
                <a:uLnTx/>
                <a:uFillTx/>
                <a:latin typeface="Comic Sans MS" pitchFamily="66" charset="0"/>
                <a:ea typeface="+mn-ea"/>
                <a:cs typeface="+mn-cs"/>
              </a:rPr>
              <a:t>Satr oralig'i-bu matn satrlari orasidagi masofa</a:t>
            </a:r>
          </a:p>
        </p:txBody>
      </p:sp>
      <p:grpSp>
        <p:nvGrpSpPr>
          <p:cNvPr id="33796" name="Group 4">
            <a:extLst>
              <a:ext uri="{FF2B5EF4-FFF2-40B4-BE49-F238E27FC236}">
                <a16:creationId xmlns:a16="http://schemas.microsoft.com/office/drawing/2014/main" id="{3AE4C622-898A-4CBC-8A34-0759CDF01360}"/>
              </a:ext>
            </a:extLst>
          </p:cNvPr>
          <p:cNvGrpSpPr>
            <a:grpSpLocks/>
          </p:cNvGrpSpPr>
          <p:nvPr/>
        </p:nvGrpSpPr>
        <p:grpSpPr bwMode="auto">
          <a:xfrm>
            <a:off x="1403350" y="2781300"/>
            <a:ext cx="2160588" cy="3168650"/>
            <a:chOff x="884" y="1752"/>
            <a:chExt cx="1361" cy="1996"/>
          </a:xfrm>
        </p:grpSpPr>
        <p:sp>
          <p:nvSpPr>
            <p:cNvPr id="33802" name="Rectangle 5">
              <a:extLst>
                <a:ext uri="{FF2B5EF4-FFF2-40B4-BE49-F238E27FC236}">
                  <a16:creationId xmlns:a16="http://schemas.microsoft.com/office/drawing/2014/main" id="{CA26FE53-27E1-4CA7-AD55-FB0390641889}"/>
                </a:ext>
              </a:extLst>
            </p:cNvPr>
            <p:cNvSpPr>
              <a:spLocks noChangeArrowheads="1"/>
            </p:cNvSpPr>
            <p:nvPr/>
          </p:nvSpPr>
          <p:spPr bwMode="auto">
            <a:xfrm>
              <a:off x="884" y="1752"/>
              <a:ext cx="1361" cy="1996"/>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33803" name="Text Box 6">
              <a:extLst>
                <a:ext uri="{FF2B5EF4-FFF2-40B4-BE49-F238E27FC236}">
                  <a16:creationId xmlns:a16="http://schemas.microsoft.com/office/drawing/2014/main" id="{A83B89DF-0F5F-4BA9-BFE9-12850A81892D}"/>
                </a:ext>
              </a:extLst>
            </p:cNvPr>
            <p:cNvSpPr txBox="1">
              <a:spLocks noChangeArrowheads="1"/>
            </p:cNvSpPr>
            <p:nvPr/>
          </p:nvSpPr>
          <p:spPr bwMode="auto">
            <a:xfrm>
              <a:off x="884" y="1842"/>
              <a:ext cx="1316" cy="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Bitta interval bitta interval bitta interval bitta interval bitta interval</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Yagona interval</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Yagona interval</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Yagona interval</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Bitta interval bitta interval bitta interval bitta interval bitta interval</a:t>
              </a:r>
            </a:p>
          </p:txBody>
        </p:sp>
      </p:grpSp>
      <p:grpSp>
        <p:nvGrpSpPr>
          <p:cNvPr id="33797" name="Group 7">
            <a:extLst>
              <a:ext uri="{FF2B5EF4-FFF2-40B4-BE49-F238E27FC236}">
                <a16:creationId xmlns:a16="http://schemas.microsoft.com/office/drawing/2014/main" id="{B206A606-FB2A-49C5-B10B-4F8B0D672A59}"/>
              </a:ext>
            </a:extLst>
          </p:cNvPr>
          <p:cNvGrpSpPr>
            <a:grpSpLocks/>
          </p:cNvGrpSpPr>
          <p:nvPr/>
        </p:nvGrpSpPr>
        <p:grpSpPr bwMode="auto">
          <a:xfrm>
            <a:off x="3708400" y="2781300"/>
            <a:ext cx="2232025" cy="3168650"/>
            <a:chOff x="2336" y="1752"/>
            <a:chExt cx="1406" cy="1996"/>
          </a:xfrm>
        </p:grpSpPr>
        <p:sp>
          <p:nvSpPr>
            <p:cNvPr id="33800" name="Rectangle 8">
              <a:extLst>
                <a:ext uri="{FF2B5EF4-FFF2-40B4-BE49-F238E27FC236}">
                  <a16:creationId xmlns:a16="http://schemas.microsoft.com/office/drawing/2014/main" id="{7700860B-9CC0-4763-AA24-6BA231A96423}"/>
                </a:ext>
              </a:extLst>
            </p:cNvPr>
            <p:cNvSpPr>
              <a:spLocks noChangeArrowheads="1"/>
            </p:cNvSpPr>
            <p:nvPr/>
          </p:nvSpPr>
          <p:spPr bwMode="auto">
            <a:xfrm>
              <a:off x="2381" y="1752"/>
              <a:ext cx="1361" cy="1996"/>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33801" name="Text Box 9">
              <a:extLst>
                <a:ext uri="{FF2B5EF4-FFF2-40B4-BE49-F238E27FC236}">
                  <a16:creationId xmlns:a16="http://schemas.microsoft.com/office/drawing/2014/main" id="{5D9A1111-1EBE-4061-A900-6DA213A83D10}"/>
                </a:ext>
              </a:extLst>
            </p:cNvPr>
            <p:cNvSpPr txBox="1">
              <a:spLocks noChangeArrowheads="1"/>
            </p:cNvSpPr>
            <p:nvPr/>
          </p:nvSpPr>
          <p:spPr bwMode="auto">
            <a:xfrm>
              <a:off x="2336" y="1797"/>
              <a:ext cx="1316" cy="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Bir yarim interval bir yarim interval bir yarim interval bir yarim interval bir yarim interval</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Bir yarim oraliq</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Bir yarim oraliq</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Bir yarim oraliq</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Bir yarim oraliq</a:t>
              </a:r>
            </a:p>
          </p:txBody>
        </p:sp>
      </p:grpSp>
      <p:sp>
        <p:nvSpPr>
          <p:cNvPr id="33798" name="Rectangle 10">
            <a:extLst>
              <a:ext uri="{FF2B5EF4-FFF2-40B4-BE49-F238E27FC236}">
                <a16:creationId xmlns:a16="http://schemas.microsoft.com/office/drawing/2014/main" id="{5E21B637-AFE6-4AA0-B81D-7A8B73CD4FAA}"/>
              </a:ext>
            </a:extLst>
          </p:cNvPr>
          <p:cNvSpPr>
            <a:spLocks noChangeArrowheads="1"/>
          </p:cNvSpPr>
          <p:nvPr/>
        </p:nvSpPr>
        <p:spPr bwMode="auto">
          <a:xfrm>
            <a:off x="6227763" y="2781300"/>
            <a:ext cx="2160587" cy="316865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ru-RU" altLang="ru-RU"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33799" name="Text Box 11">
            <a:extLst>
              <a:ext uri="{FF2B5EF4-FFF2-40B4-BE49-F238E27FC236}">
                <a16:creationId xmlns:a16="http://schemas.microsoft.com/office/drawing/2014/main" id="{D5B4D64F-0CEF-49EA-B29E-61AFBE8FB0D1}"/>
              </a:ext>
            </a:extLst>
          </p:cNvPr>
          <p:cNvSpPr txBox="1">
            <a:spLocks noChangeArrowheads="1"/>
          </p:cNvSpPr>
          <p:nvPr/>
        </p:nvSpPr>
        <p:spPr bwMode="auto">
          <a:xfrm>
            <a:off x="6227763" y="2781300"/>
            <a:ext cx="2016125" cy="307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auto" latinLnBrk="0" hangingPunct="1">
              <a:lnSpc>
                <a:spcPct val="2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Ikki interval ikki interval ikki interval ikki interval ikki interval</a:t>
            </a:r>
          </a:p>
          <a:p>
            <a:pPr marL="0" marR="0" lvl="0" indent="0" algn="r" defTabSz="914400" rtl="0" eaLnBrk="1" fontAlgn="auto" latinLnBrk="0" hangingPunct="1">
              <a:lnSpc>
                <a:spcPct val="2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Ikki oraliq</a:t>
            </a:r>
          </a:p>
          <a:p>
            <a:pPr marL="0" marR="0" lvl="0" indent="0" algn="r" defTabSz="914400" rtl="0" eaLnBrk="1" fontAlgn="auto" latinLnBrk="0" hangingPunct="1">
              <a:lnSpc>
                <a:spcPct val="200000"/>
              </a:lnSpc>
              <a:spcBef>
                <a:spcPts val="0"/>
              </a:spcBef>
              <a:spcAft>
                <a:spcPts val="0"/>
              </a:spcAft>
              <a:buClrTx/>
              <a:buSzTx/>
              <a:buFontTx/>
              <a:buNone/>
              <a:tabLst/>
              <a:defRPr/>
            </a:pPr>
            <a:r>
              <a:rPr kumimoji="0" lang="ru-RU" altLang="ru-RU" sz="14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rPr>
              <a:t>Ikki oraliq</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E028F39-8A68-4D72-A626-7BD2B33F1034}"/>
              </a:ext>
            </a:extLst>
          </p:cNvPr>
          <p:cNvSpPr>
            <a:spLocks noGrp="1" noChangeArrowheads="1"/>
          </p:cNvSpPr>
          <p:nvPr>
            <p:ph type="title"/>
          </p:nvPr>
        </p:nvSpPr>
        <p:spPr/>
        <p:txBody>
          <a:bodyPr/>
          <a:lstStyle/>
          <a:p>
            <a:pPr algn="ctr" eaLnBrk="1" hangingPunct="1"/>
            <a:r>
              <a:rPr lang="ru-RU" altLang="ru-RU"/>
              <a:t>Bosib chiqarilmaydigan belgilar</a:t>
            </a:r>
          </a:p>
        </p:txBody>
      </p:sp>
      <p:graphicFrame>
        <p:nvGraphicFramePr>
          <p:cNvPr id="166915" name="Group 3">
            <a:extLst>
              <a:ext uri="{FF2B5EF4-FFF2-40B4-BE49-F238E27FC236}">
                <a16:creationId xmlns:a16="http://schemas.microsoft.com/office/drawing/2014/main" id="{1BD14B87-3A62-4E96-84E5-8A8F1808B18D}"/>
              </a:ext>
            </a:extLst>
          </p:cNvPr>
          <p:cNvGraphicFramePr>
            <a:graphicFrameLocks noGrp="1"/>
          </p:cNvGraphicFramePr>
          <p:nvPr>
            <p:ph sz="half" idx="2"/>
          </p:nvPr>
        </p:nvGraphicFramePr>
        <p:xfrm>
          <a:off x="914400" y="1905000"/>
          <a:ext cx="7543800" cy="4491470"/>
        </p:xfrm>
        <a:graphic>
          <a:graphicData uri="http://schemas.openxmlformats.org/drawingml/2006/table">
            <a:tbl>
              <a:tblPr/>
              <a:tblGrid>
                <a:gridCol w="12192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88683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3900" b="1" i="0" u="none" strike="noStrike" cap="none" normalizeH="0" baseline="0">
                          <a:ln>
                            <a:noFill/>
                          </a:ln>
                          <a:solidFill>
                            <a:schemeClr val="tx1"/>
                          </a:solidFill>
                          <a:effectLst/>
                          <a:latin typeface="Arial" charset="0"/>
                          <a:cs typeface="Arial" charset="0"/>
                          <a:sym typeface="SymbolPS" pitchFamily="18" charset="2"/>
                        </a:rPr>
                        <a:t></a:t>
                      </a:r>
                      <a:endParaRPr kumimoji="0" lang="en-US" sz="2800" b="1" i="0" u="none" strike="noStrike" cap="none" normalizeH="0" baseline="0">
                        <a:ln>
                          <a:noFill/>
                        </a:ln>
                        <a:solidFill>
                          <a:schemeClr val="tx1"/>
                        </a:solidFill>
                        <a:effectLst/>
                        <a:latin typeface="Arial" charset="0"/>
                        <a:cs typeface="Arial" charset="0"/>
                        <a:sym typeface="SymbolPS" pitchFamily="18" charset="2"/>
                      </a:endParaRP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ru-RU" sz="11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100" b="1" i="0" u="none" strike="noStrike" cap="none" normalizeH="0" baseline="0">
                          <a:ln>
                            <a:noFill/>
                          </a:ln>
                          <a:solidFill>
                            <a:schemeClr val="tx1"/>
                          </a:solidFill>
                          <a:effectLst/>
                          <a:latin typeface="Arial" charset="0"/>
                          <a:cs typeface="Arial" charset="0"/>
                          <a:sym typeface="SymbolPS" pitchFamily="18" charset="2"/>
                        </a:rPr>
                        <a:t>bo'sh joy belgisi (bo'sh joy)</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140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3900" b="1" i="0" u="none" strike="noStrike" cap="none" normalizeH="0" baseline="0">
                          <a:ln>
                            <a:noFill/>
                          </a:ln>
                          <a:solidFill>
                            <a:schemeClr val="tx1"/>
                          </a:solidFill>
                          <a:effectLst/>
                          <a:latin typeface="Arial" charset="0"/>
                          <a:cs typeface="Arial" charset="0"/>
                          <a:sym typeface="Symbol" pitchFamily="18" charset="2"/>
                        </a:rPr>
                        <a:t></a:t>
                      </a:r>
                      <a:endParaRPr kumimoji="0" lang="ru-RU" sz="3900" b="1" i="0" u="none" strike="noStrike" cap="none" normalizeH="0" baseline="0">
                        <a:ln>
                          <a:noFill/>
                        </a:ln>
                        <a:solidFill>
                          <a:schemeClr val="tx1"/>
                        </a:solidFill>
                        <a:effectLst/>
                        <a:latin typeface="Arial" charset="0"/>
                        <a:cs typeface="Arial" charset="0"/>
                        <a:sym typeface="Symbol" pitchFamily="18" charset="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100" b="1" i="0" u="none" strike="noStrike" cap="none" normalizeH="0" baseline="0">
                          <a:ln>
                            <a:noFill/>
                          </a:ln>
                          <a:solidFill>
                            <a:schemeClr val="tx1"/>
                          </a:solidFill>
                          <a:effectLst/>
                          <a:latin typeface="Arial" charset="0"/>
                          <a:cs typeface="Arial" charset="0"/>
                          <a:sym typeface="Symbol" pitchFamily="18" charset="2"/>
                        </a:rPr>
                        <a:t>uzaytirilmaydigan bo'shliq belgisi (</a:t>
                      </a:r>
                      <a:r>
                        <a:rPr kumimoji="0" lang="en-US" sz="2100" b="1" i="0" u="none" strike="noStrike" cap="none" normalizeH="0" baseline="0">
                          <a:ln>
                            <a:noFill/>
                          </a:ln>
                          <a:solidFill>
                            <a:schemeClr val="tx1"/>
                          </a:solidFill>
                          <a:effectLst/>
                          <a:latin typeface="Arial" charset="0"/>
                          <a:cs typeface="Arial" charset="0"/>
                          <a:sym typeface="Symbol" pitchFamily="18" charset="2"/>
                        </a:rPr>
                        <a:t>Ctrl+Shift+</a:t>
                      </a:r>
                      <a:r>
                        <a:rPr kumimoji="0" lang="ru-RU" sz="2100" b="1" i="0" u="none" strike="noStrike" cap="none" normalizeH="0" baseline="0">
                          <a:ln>
                            <a:noFill/>
                          </a:ln>
                          <a:solidFill>
                            <a:schemeClr val="tx1"/>
                          </a:solidFill>
                          <a:effectLst/>
                          <a:latin typeface="Arial" charset="0"/>
                          <a:cs typeface="Arial" charset="0"/>
                          <a:sym typeface="Symbol" pitchFamily="18" charset="2"/>
                        </a:rPr>
                        <a:t>Bo'sh joy)</a:t>
                      </a:r>
                      <a:endParaRPr kumimoji="0" lang="ru-RU" sz="2100" b="0" i="0" u="none" strike="noStrike" cap="none" normalizeH="0" baseline="0">
                        <a:ln>
                          <a:noFill/>
                        </a:ln>
                        <a:solidFill>
                          <a:schemeClr val="tx1"/>
                        </a:solidFill>
                        <a:effectLst/>
                        <a:latin typeface="Arial" charset="0"/>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540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a:ln>
                            <a:noFill/>
                          </a:ln>
                          <a:solidFill>
                            <a:schemeClr val="tx1"/>
                          </a:solidFill>
                          <a:effectLst/>
                          <a:latin typeface="Arial" charset="0"/>
                          <a:cs typeface="Arial" charset="0"/>
                          <a:sym typeface="Symbol" pitchFamily="18" charset="2"/>
                        </a:rPr>
                        <a:t>→</a:t>
                      </a:r>
                      <a:endParaRPr kumimoji="0" lang="ru-RU" sz="2800" b="1" i="0" u="none" strike="noStrike" cap="none" normalizeH="0" baseline="0">
                        <a:ln>
                          <a:noFill/>
                        </a:ln>
                        <a:solidFill>
                          <a:schemeClr val="tx1"/>
                        </a:solidFill>
                        <a:effectLst/>
                        <a:latin typeface="Arial" charset="0"/>
                        <a:cs typeface="Arial" charset="0"/>
                        <a:sym typeface="Symbol" pitchFamily="18" charset="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100" b="1" i="0" u="none" strike="noStrike" cap="none" normalizeH="0" baseline="0">
                          <a:ln>
                            <a:noFill/>
                          </a:ln>
                          <a:solidFill>
                            <a:schemeClr val="tx1"/>
                          </a:solidFill>
                          <a:effectLst/>
                          <a:latin typeface="Arial" charset="0"/>
                          <a:cs typeface="Arial" charset="0"/>
                          <a:sym typeface="Symbol" pitchFamily="18" charset="2"/>
                        </a:rPr>
                        <a:t>yorliq belgisi (</a:t>
                      </a:r>
                      <a:r>
                        <a:rPr kumimoji="0" lang="en-US" sz="2100" b="1" i="0" u="none" strike="noStrike" cap="none" normalizeH="0" baseline="0">
                          <a:ln>
                            <a:noFill/>
                          </a:ln>
                          <a:solidFill>
                            <a:schemeClr val="tx1"/>
                          </a:solidFill>
                          <a:effectLst/>
                          <a:latin typeface="Arial" charset="0"/>
                          <a:cs typeface="Arial" charset="0"/>
                          <a:sym typeface="Symbol" pitchFamily="18" charset="2"/>
                        </a:rPr>
                        <a:t>Tab)</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ru-RU" sz="2100" b="0" i="0" u="none" strike="noStrike" cap="none" normalizeH="0" baseline="0">
                        <a:ln>
                          <a:noFill/>
                        </a:ln>
                        <a:solidFill>
                          <a:schemeClr val="tx1"/>
                        </a:solidFill>
                        <a:effectLst/>
                        <a:latin typeface="Arial" charset="0"/>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140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a:ln>
                            <a:noFill/>
                          </a:ln>
                          <a:solidFill>
                            <a:schemeClr val="tx1"/>
                          </a:solidFill>
                          <a:effectLst/>
                          <a:latin typeface="Arial" charset="0"/>
                          <a:cs typeface="Arial" charset="0"/>
                          <a:sym typeface="Symbol" pitchFamily="18" charset="2"/>
                        </a:rPr>
                        <a:t></a:t>
                      </a:r>
                      <a:endParaRPr kumimoji="0" lang="ru-RU" sz="2800" b="1" i="0" u="none" strike="noStrike" cap="none" normalizeH="0" baseline="0">
                        <a:ln>
                          <a:noFill/>
                        </a:ln>
                        <a:solidFill>
                          <a:schemeClr val="tx1"/>
                        </a:solidFill>
                        <a:effectLst/>
                        <a:latin typeface="Arial" charset="0"/>
                        <a:cs typeface="Arial" charset="0"/>
                        <a:sym typeface="Symbol" pitchFamily="18" charset="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100" b="1" i="0" u="none" strike="noStrike" cap="none" normalizeH="0" baseline="0">
                          <a:ln>
                            <a:noFill/>
                          </a:ln>
                          <a:solidFill>
                            <a:schemeClr val="tx1"/>
                          </a:solidFill>
                          <a:effectLst/>
                          <a:latin typeface="Arial" charset="0"/>
                          <a:cs typeface="Arial" charset="0"/>
                          <a:sym typeface="Symbol" pitchFamily="18" charset="2"/>
                        </a:rPr>
                        <a:t>majburiy chiziq tugash belgisi (</a:t>
                      </a:r>
                      <a:r>
                        <a:rPr kumimoji="0" lang="en-US" sz="2100" b="1" i="0" u="none" strike="noStrike" cap="none" normalizeH="0" baseline="0">
                          <a:ln>
                            <a:noFill/>
                          </a:ln>
                          <a:solidFill>
                            <a:schemeClr val="tx1"/>
                          </a:solidFill>
                          <a:effectLst/>
                          <a:latin typeface="Arial" charset="0"/>
                          <a:cs typeface="Arial" charset="0"/>
                          <a:sym typeface="Symbol" pitchFamily="18" charset="2"/>
                        </a:rPr>
                        <a:t>Shift+Enter)</a:t>
                      </a:r>
                      <a:endParaRPr kumimoji="0" lang="ru-RU" sz="2100" b="0" i="0" u="none" strike="noStrike" cap="none" normalizeH="0" baseline="0">
                        <a:ln>
                          <a:noFill/>
                        </a:ln>
                        <a:solidFill>
                          <a:schemeClr val="tx1"/>
                        </a:solidFill>
                        <a:effectLst/>
                        <a:latin typeface="Arial" charset="0"/>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7299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sz="2800" b="1" i="0" u="none" strike="noStrike" cap="none" normalizeH="0" baseline="0">
                          <a:ln>
                            <a:noFill/>
                          </a:ln>
                          <a:solidFill>
                            <a:schemeClr val="tx1"/>
                          </a:solidFill>
                          <a:effectLst/>
                          <a:latin typeface="Arial" charset="0"/>
                          <a:cs typeface="Arial" charset="0"/>
                          <a:sym typeface="Symbol" pitchFamily="18" charset="2"/>
                        </a:rPr>
                        <a:t>¶</a:t>
                      </a:r>
                      <a:endParaRPr kumimoji="0" lang="ru-RU" sz="2800" b="1" i="0" u="none" strike="noStrike" cap="none" normalizeH="0" baseline="0">
                        <a:ln>
                          <a:noFill/>
                        </a:ln>
                        <a:solidFill>
                          <a:schemeClr val="tx1"/>
                        </a:solidFill>
                        <a:effectLst/>
                        <a:latin typeface="Arial" charset="0"/>
                        <a:cs typeface="Arial" charset="0"/>
                        <a:sym typeface="Symbol" pitchFamily="18" charset="2"/>
                      </a:endParaRP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100" b="1" i="0" u="none" strike="noStrike" cap="none" normalizeH="0" baseline="0">
                          <a:ln>
                            <a:noFill/>
                          </a:ln>
                          <a:solidFill>
                            <a:schemeClr val="tx1"/>
                          </a:solidFill>
                          <a:effectLst/>
                          <a:latin typeface="Arial" charset="0"/>
                          <a:cs typeface="Arial" charset="0"/>
                          <a:sym typeface="Symbol" pitchFamily="18" charset="2"/>
                        </a:rPr>
                        <a:t>paragraf oxiridagi marker (</a:t>
                      </a:r>
                      <a:r>
                        <a:rPr kumimoji="0" lang="en-US" sz="2100" b="1" i="0" u="none" strike="noStrike" cap="none" normalizeH="0" baseline="0">
                          <a:ln>
                            <a:noFill/>
                          </a:ln>
                          <a:solidFill>
                            <a:schemeClr val="tx1"/>
                          </a:solidFill>
                          <a:effectLst/>
                          <a:latin typeface="Arial" charset="0"/>
                          <a:cs typeface="Arial" charset="0"/>
                          <a:sym typeface="Symbol" pitchFamily="18" charset="2"/>
                        </a:rPr>
                        <a:t>Enter)</a:t>
                      </a:r>
                      <a:endParaRPr kumimoji="0" lang="ru-RU" sz="2100" b="0" i="0" u="none" strike="noStrike" cap="none" normalizeH="0" baseline="0">
                        <a:ln>
                          <a:noFill/>
                        </a:ln>
                        <a:solidFill>
                          <a:schemeClr val="tx1"/>
                        </a:solidFill>
                        <a:effectLst/>
                        <a:latin typeface="Arial" charset="0"/>
                      </a:endParaRP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299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800" b="0" i="0" u="none" strike="noStrike" cap="none" normalizeH="0" baseline="0">
                          <a:ln>
                            <a:noFill/>
                          </a:ln>
                          <a:solidFill>
                            <a:schemeClr val="tx1"/>
                          </a:solidFill>
                          <a:effectLst/>
                          <a:latin typeface="Arial" charset="0"/>
                          <a:sym typeface="Symbol" pitchFamily="18" charset="2"/>
                        </a:rPr>
                        <a:t></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ru-RU" sz="2100" b="1" i="0" u="none" strike="noStrike" cap="none" normalizeH="0" baseline="0">
                          <a:ln>
                            <a:noFill/>
                          </a:ln>
                          <a:solidFill>
                            <a:schemeClr val="tx1"/>
                          </a:solidFill>
                          <a:effectLst/>
                          <a:latin typeface="Arial" charset="0"/>
                        </a:rPr>
                        <a:t>chiziq </a:t>
                      </a:r>
                      <a:r>
                        <a:rPr kumimoji="0" lang="en-US" sz="2100" b="1" i="0" u="none" strike="noStrike" cap="none" normalizeH="0" baseline="0">
                          <a:ln>
                            <a:noFill/>
                          </a:ln>
                          <a:solidFill>
                            <a:schemeClr val="tx1"/>
                          </a:solidFill>
                          <a:effectLst/>
                          <a:latin typeface="Arial" charset="0"/>
                        </a:rPr>
                        <a:t>(Ctrl</a:t>
                      </a:r>
                      <a:r>
                        <a:rPr kumimoji="0" lang="ru-RU" sz="2100" b="1" i="0" u="none" strike="noStrike" cap="none" normalizeH="0" baseline="0">
                          <a:ln>
                            <a:noFill/>
                          </a:ln>
                          <a:solidFill>
                            <a:schemeClr val="tx1"/>
                          </a:solidFill>
                          <a:effectLst/>
                          <a:latin typeface="Arial" charset="0"/>
                        </a:rPr>
                        <a:t>+ Kulrang minus)</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66938" name="Text Box 26">
            <a:extLst>
              <a:ext uri="{FF2B5EF4-FFF2-40B4-BE49-F238E27FC236}">
                <a16:creationId xmlns:a16="http://schemas.microsoft.com/office/drawing/2014/main" id="{953545B5-15BB-4864-AA07-4B9CFB18659F}"/>
              </a:ext>
            </a:extLst>
          </p:cNvPr>
          <p:cNvSpPr txBox="1">
            <a:spLocks noChangeArrowheads="1"/>
          </p:cNvSpPr>
          <p:nvPr/>
        </p:nvSpPr>
        <p:spPr bwMode="auto">
          <a:xfrm>
            <a:off x="7848600" y="609600"/>
            <a:ext cx="762000" cy="588963"/>
          </a:xfrm>
          <a:prstGeom prst="rect">
            <a:avLst/>
          </a:prstGeom>
          <a:noFill/>
          <a:ln w="9525">
            <a:solidFill>
              <a:schemeClr val="tx1"/>
            </a:solidFill>
            <a:miter lim="800000"/>
            <a:headEnd/>
            <a:tailEnd/>
          </a:ln>
          <a:effectLst>
            <a:prstShdw prst="shdw17" dist="17961" dir="13500000">
              <a:schemeClr val="tx1"/>
            </a:prstShdw>
          </a:effectLst>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ru-RU" sz="3200" b="0"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166938"/>
                                        </p:tgtEl>
                                        <p:attrNameLst>
                                          <p:attrName>style.visibility</p:attrName>
                                        </p:attrNameLst>
                                      </p:cBhvr>
                                      <p:to>
                                        <p:strVal val="visible"/>
                                      </p:to>
                                    </p:set>
                                    <p:anim calcmode="lin" valueType="num">
                                      <p:cBhvr>
                                        <p:cTn id="7" dur="500" fill="hold"/>
                                        <p:tgtEl>
                                          <p:spTgt spid="166938"/>
                                        </p:tgtEl>
                                        <p:attrNameLst>
                                          <p:attrName>ppt_w</p:attrName>
                                        </p:attrNameLst>
                                      </p:cBhvr>
                                      <p:tavLst>
                                        <p:tav tm="0">
                                          <p:val>
                                            <p:fltVal val="0"/>
                                          </p:val>
                                        </p:tav>
                                        <p:tav tm="100000">
                                          <p:val>
                                            <p:strVal val="#ppt_w"/>
                                          </p:val>
                                        </p:tav>
                                      </p:tavLst>
                                    </p:anim>
                                    <p:anim calcmode="lin" valueType="num">
                                      <p:cBhvr>
                                        <p:cTn id="8" dur="500" fill="hold"/>
                                        <p:tgtEl>
                                          <p:spTgt spid="166938"/>
                                        </p:tgtEl>
                                        <p:attrNameLst>
                                          <p:attrName>ppt_h</p:attrName>
                                        </p:attrNameLst>
                                      </p:cBhvr>
                                      <p:tavLst>
                                        <p:tav tm="0">
                                          <p:val>
                                            <p:fltVal val="0"/>
                                          </p:val>
                                        </p:tav>
                                        <p:tav tm="100000">
                                          <p:val>
                                            <p:strVal val="#ppt_h"/>
                                          </p:val>
                                        </p:tav>
                                      </p:tavLst>
                                    </p:anim>
                                    <p:anim calcmode="lin" valueType="num">
                                      <p:cBhvr>
                                        <p:cTn id="9" dur="500" fill="hold"/>
                                        <p:tgtEl>
                                          <p:spTgt spid="166938"/>
                                        </p:tgtEl>
                                        <p:attrNameLst>
                                          <p:attrName>style.rotation</p:attrName>
                                        </p:attrNameLst>
                                      </p:cBhvr>
                                      <p:tavLst>
                                        <p:tav tm="0">
                                          <p:val>
                                            <p:fltVal val="360"/>
                                          </p:val>
                                        </p:tav>
                                        <p:tav tm="100000">
                                          <p:val>
                                            <p:fltVal val="0"/>
                                          </p:val>
                                        </p:tav>
                                      </p:tavLst>
                                    </p:anim>
                                    <p:animEffect transition="in" filter="fade">
                                      <p:cBhvr>
                                        <p:cTn id="10" dur="500"/>
                                        <p:tgtEl>
                                          <p:spTgt spid="16693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3" presetClass="entr" presetSubtype="0" fill="hold" nodeType="clickEffect">
                                  <p:stCondLst>
                                    <p:cond delay="0"/>
                                  </p:stCondLst>
                                  <p:childTnLst>
                                    <p:set>
                                      <p:cBhvr>
                                        <p:cTn id="14" dur="1" fill="hold">
                                          <p:stCondLst>
                                            <p:cond delay="0"/>
                                          </p:stCondLst>
                                        </p:cTn>
                                        <p:tgtEl>
                                          <p:spTgt spid="166915"/>
                                        </p:tgtEl>
                                        <p:attrNameLst>
                                          <p:attrName>style.visibility</p:attrName>
                                        </p:attrNameLst>
                                      </p:cBhvr>
                                      <p:to>
                                        <p:strVal val="visible"/>
                                      </p:to>
                                    </p:set>
                                    <p:anim calcmode="lin" valueType="num">
                                      <p:cBhvr>
                                        <p:cTn id="15" dur="500" fill="hold"/>
                                        <p:tgtEl>
                                          <p:spTgt spid="166915"/>
                                        </p:tgtEl>
                                        <p:attrNameLst>
                                          <p:attrName>ppt_w</p:attrName>
                                        </p:attrNameLst>
                                      </p:cBhvr>
                                      <p:tavLst>
                                        <p:tav tm="0">
                                          <p:val>
                                            <p:fltVal val="0"/>
                                          </p:val>
                                        </p:tav>
                                        <p:tav tm="100000">
                                          <p:val>
                                            <p:strVal val="#ppt_w"/>
                                          </p:val>
                                        </p:tav>
                                      </p:tavLst>
                                    </p:anim>
                                    <p:anim calcmode="lin" valueType="num">
                                      <p:cBhvr>
                                        <p:cTn id="16" dur="500" fill="hold"/>
                                        <p:tgtEl>
                                          <p:spTgt spid="166915"/>
                                        </p:tgtEl>
                                        <p:attrNameLst>
                                          <p:attrName>ppt_h</p:attrName>
                                        </p:attrNameLst>
                                      </p:cBhvr>
                                      <p:tavLst>
                                        <p:tav tm="0">
                                          <p:val>
                                            <p:fltVal val="0"/>
                                          </p:val>
                                        </p:tav>
                                        <p:tav tm="100000">
                                          <p:val>
                                            <p:strVal val="#ppt_h"/>
                                          </p:val>
                                        </p:tav>
                                      </p:tavLst>
                                    </p:anim>
                                    <p:animEffect transition="in" filter="fade">
                                      <p:cBhvr>
                                        <p:cTn id="17" dur="500"/>
                                        <p:tgtEl>
                                          <p:spTgt spid="166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3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03648" y="2132856"/>
            <a:ext cx="7924800" cy="1143000"/>
          </a:xfrm>
        </p:spPr>
        <p:txBody>
          <a:bodyPr/>
          <a:lstStyle/>
          <a:p>
            <a:r>
              <a:rPr lang="ru-RU" sz="4000" dirty="0"/>
              <a:t>E'tiboringiz uchun tashakkur!!!!!</a:t>
            </a:r>
          </a:p>
        </p:txBody>
      </p:sp>
    </p:spTree>
    <p:extLst>
      <p:ext uri="{BB962C8B-B14F-4D97-AF65-F5344CB8AC3E}">
        <p14:creationId xmlns:p14="http://schemas.microsoft.com/office/powerpoint/2010/main" val="34244283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Горизонт">
  <a:themeElements>
    <a:clrScheme name="Горизонт">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Горизонт">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Горизонт">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3.xml><?xml version="1.0" encoding="utf-8"?>
<a:theme xmlns:a="http://schemas.openxmlformats.org/drawingml/2006/main" name="Пиксел">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Пиксел">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иксел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Пиксел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Пиксел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Пиксел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Пиксел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Пиксел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Пиксел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Пиксел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Пиксел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Пиксел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Пиксел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2674</Words>
  <Application>Microsoft Office PowerPoint</Application>
  <PresentationFormat>Экран (4:3)</PresentationFormat>
  <Paragraphs>328</Paragraphs>
  <Slides>62</Slides>
  <Notes>1</Notes>
  <HiddenSlides>0</HiddenSlides>
  <MMClips>0</MMClips>
  <ScaleCrop>false</ScaleCrop>
  <HeadingPairs>
    <vt:vector size="8" baseType="variant">
      <vt:variant>
        <vt:lpstr>Использованные шрифты</vt:lpstr>
      </vt:variant>
      <vt:variant>
        <vt:i4>12</vt:i4>
      </vt:variant>
      <vt:variant>
        <vt:lpstr>Тема</vt:lpstr>
      </vt:variant>
      <vt:variant>
        <vt:i4>3</vt:i4>
      </vt:variant>
      <vt:variant>
        <vt:lpstr>Внедренные серверы OLE</vt:lpstr>
      </vt:variant>
      <vt:variant>
        <vt:i4>1</vt:i4>
      </vt:variant>
      <vt:variant>
        <vt:lpstr>Заголовки слайдов</vt:lpstr>
      </vt:variant>
      <vt:variant>
        <vt:i4>62</vt:i4>
      </vt:variant>
    </vt:vector>
  </HeadingPairs>
  <TitlesOfParts>
    <vt:vector size="78" baseType="lpstr">
      <vt:lpstr>Algerian</vt:lpstr>
      <vt:lpstr>Arial</vt:lpstr>
      <vt:lpstr>Arial Black</vt:lpstr>
      <vt:lpstr>Arial Narrow</vt:lpstr>
      <vt:lpstr>Calibri</vt:lpstr>
      <vt:lpstr>Calibri Light</vt:lpstr>
      <vt:lpstr>Cascadia Code</vt:lpstr>
      <vt:lpstr>Comic Sans MS</vt:lpstr>
      <vt:lpstr>Monotype Corsiva</vt:lpstr>
      <vt:lpstr>Times New Roman</vt:lpstr>
      <vt:lpstr>Verdana</vt:lpstr>
      <vt:lpstr>Wingdings</vt:lpstr>
      <vt:lpstr>Тема Office</vt:lpstr>
      <vt:lpstr>Горизонт</vt:lpstr>
      <vt:lpstr>Пиксел</vt:lpstr>
      <vt:lpstr>Document</vt:lpstr>
      <vt:lpstr>Zamonaviy kompyuter texnologiyalari uchun amaliy dasturlar</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Matn muharrirlari </vt:lpstr>
      <vt:lpstr>Презентация PowerPoint</vt:lpstr>
      <vt:lpstr>Matn muharrirlarining turlari </vt:lpstr>
      <vt:lpstr>Matn muharriri Word </vt:lpstr>
      <vt:lpstr>LibreOffice Writer</vt:lpstr>
      <vt:lpstr>Notepad matn muharriri </vt:lpstr>
      <vt:lpstr>Matn muharriri Notepad </vt:lpstr>
      <vt:lpstr>Презентация PowerPoint</vt:lpstr>
      <vt:lpstr>Tahrirlash -</vt:lpstr>
      <vt:lpstr>Formatlash -</vt:lpstr>
      <vt:lpstr>Презентация PowerPoint</vt:lpstr>
      <vt:lpstr>Презентация PowerPoint</vt:lpstr>
      <vt:lpstr>Презентация PowerPoint</vt:lpstr>
      <vt:lpstr>Презентация PowerPoint</vt:lpstr>
      <vt:lpstr>Презентация PowerPoint</vt:lpstr>
      <vt:lpstr>Hujjatning asosiy ob'ektlari MS Word :</vt:lpstr>
      <vt:lpstr>So'z-ikki tomondan ajratuvchi belgilar bilan ajratilgan belgilar ketma-ketligi (bo'shliqlar yoki tinish belgilari)</vt:lpstr>
      <vt:lpstr>Satr-sahifaning chap va o'ng chetlari orasidagi belgilar ketma-ketligi</vt:lpstr>
      <vt:lpstr>Paragraf-tugmachani bosish bilan ajratilgan qatorlar va belgilar to'plami Enter (paragraf belgisi ¶)</vt:lpstr>
      <vt:lpstr>Sahifa-ajratilgan sahifalar bilan chegaralangan matnning bir qismi</vt:lpstr>
      <vt:lpstr>Презентация PowerPoint</vt:lpstr>
      <vt:lpstr>Презентация PowerPoint</vt:lpstr>
      <vt:lpstr>Sahifa yo'nalishi</vt:lpstr>
      <vt:lpstr>Maydonlar</vt:lpstr>
      <vt:lpstr>Ramz - matnning minimal elementi (bo'sh joy belgisi) </vt:lpstr>
      <vt:lpstr>Shrift</vt:lpstr>
      <vt:lpstr>Презентация PowerPoint</vt:lpstr>
      <vt:lpstr>Belgilarning uslubi va turi</vt:lpstr>
      <vt:lpstr>Belgilar rangi</vt:lpstr>
      <vt:lpstr>Matn terish va formatlash qoidalari</vt:lpstr>
      <vt:lpstr>Презентация PowerPoint</vt:lpstr>
      <vt:lpstr>Paragraflarni formatlash</vt:lpstr>
      <vt:lpstr>Hizalama</vt:lpstr>
      <vt:lpstr>Birinchi satrning indentatsiyasi</vt:lpstr>
      <vt:lpstr>Chiziqlar oralig'i </vt:lpstr>
      <vt:lpstr>Bosib chiqarilmaydigan belgilar</vt:lpstr>
      <vt:lpstr>E'tiboringiz uchun tashakkur!!!!!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Kibriyo</dc:creator>
  <cp:lastModifiedBy>Kibriyo</cp:lastModifiedBy>
  <cp:revision>3</cp:revision>
  <dcterms:created xsi:type="dcterms:W3CDTF">2025-10-24T13:39:17Z</dcterms:created>
  <dcterms:modified xsi:type="dcterms:W3CDTF">2025-10-24T13:49:37Z</dcterms:modified>
</cp:coreProperties>
</file>