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779" r:id="rId3"/>
    <p:sldId id="2780" r:id="rId4"/>
    <p:sldId id="2781" r:id="rId5"/>
    <p:sldId id="2782" r:id="rId6"/>
    <p:sldId id="2783" r:id="rId7"/>
    <p:sldId id="2784" r:id="rId8"/>
    <p:sldId id="2785" r:id="rId9"/>
    <p:sldId id="2786" r:id="rId10"/>
    <p:sldId id="2787" r:id="rId11"/>
    <p:sldId id="2788" r:id="rId12"/>
    <p:sldId id="2789" r:id="rId13"/>
    <p:sldId id="2790" r:id="rId14"/>
    <p:sldId id="2791" r:id="rId15"/>
    <p:sldId id="2792" r:id="rId16"/>
    <p:sldId id="2799" r:id="rId17"/>
    <p:sldId id="2802" r:id="rId18"/>
    <p:sldId id="2800" r:id="rId19"/>
    <p:sldId id="2801" r:id="rId20"/>
    <p:sldId id="2793" r:id="rId21"/>
    <p:sldId id="2794" r:id="rId22"/>
    <p:sldId id="2795" r:id="rId23"/>
    <p:sldId id="2796" r:id="rId24"/>
    <p:sldId id="2797" r:id="rId25"/>
    <p:sldId id="2617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13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B754A7-713E-41CD-BAC8-2C3DE73871F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D2D6BC-F58A-4300-9665-EE6C5F41E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34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Образ слайда 1">
            <a:extLst>
              <a:ext uri="{FF2B5EF4-FFF2-40B4-BE49-F238E27FC236}">
                <a16:creationId xmlns:a16="http://schemas.microsoft.com/office/drawing/2014/main" id="{74035BA0-7D67-431C-8D53-36678684847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Заметки 2">
            <a:extLst>
              <a:ext uri="{FF2B5EF4-FFF2-40B4-BE49-F238E27FC236}">
                <a16:creationId xmlns:a16="http://schemas.microsoft.com/office/drawing/2014/main" id="{0C801ED8-52EF-4762-8BC2-689CF49EA28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81924" name="Номер слайда 3">
            <a:extLst>
              <a:ext uri="{FF2B5EF4-FFF2-40B4-BE49-F238E27FC236}">
                <a16:creationId xmlns:a16="http://schemas.microsoft.com/office/drawing/2014/main" id="{CCC6D3E7-1979-43AE-BF3B-FAAB28F914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28DC238-122F-449E-9DBA-304D7DEBBFC4}" type="slidenum">
              <a:rPr lang="ru-RU" altLang="ru-RU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</a:t>
            </a:fld>
            <a:endParaRPr lang="ru-RU" altLang="ru-R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0EEF-A9A5-4CC9-939A-B41235D70AF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1DEB-A2D1-410F-9526-2C63A046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912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0EEF-A9A5-4CC9-939A-B41235D70AF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1DEB-A2D1-410F-9526-2C63A046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690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0EEF-A9A5-4CC9-939A-B41235D70AF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1DEB-A2D1-410F-9526-2C63A046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52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0EEF-A9A5-4CC9-939A-B41235D70AF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1DEB-A2D1-410F-9526-2C63A046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16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0EEF-A9A5-4CC9-939A-B41235D70AF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1DEB-A2D1-410F-9526-2C63A046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50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0EEF-A9A5-4CC9-939A-B41235D70AF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1DEB-A2D1-410F-9526-2C63A046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99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0EEF-A9A5-4CC9-939A-B41235D70AF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1DEB-A2D1-410F-9526-2C63A046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908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0EEF-A9A5-4CC9-939A-B41235D70AF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1DEB-A2D1-410F-9526-2C63A046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64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0EEF-A9A5-4CC9-939A-B41235D70AF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1DEB-A2D1-410F-9526-2C63A046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48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0EEF-A9A5-4CC9-939A-B41235D70AF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1DEB-A2D1-410F-9526-2C63A046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346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0EEF-A9A5-4CC9-939A-B41235D70AF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61DEB-A2D1-410F-9526-2C63A046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09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60EEF-A9A5-4CC9-939A-B41235D70AF6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1DEB-A2D1-410F-9526-2C63A046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476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D43958-8CE3-4A39-8E03-40D031C12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520" y="1122362"/>
            <a:ext cx="8097520" cy="3927158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Прикладное программное обеспечение современных компьютерных технологий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503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3">
            <a:extLst>
              <a:ext uri="{FF2B5EF4-FFF2-40B4-BE49-F238E27FC236}">
                <a16:creationId xmlns:a16="http://schemas.microsoft.com/office/drawing/2014/main" id="{BA05E8C7-FFBF-4F63-AF7C-5C70D244A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676400"/>
            <a:ext cx="7467600" cy="308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ru-RU" sz="2800" b="1" i="1">
                <a:cs typeface="Arial" panose="020B0604020202020204" pitchFamily="34" charset="0"/>
              </a:rPr>
              <a:t>Microsoft Office for Windows </a:t>
            </a:r>
            <a:r>
              <a:rPr lang="ru-RU" altLang="ru-RU" sz="2800" i="1">
                <a:cs typeface="Arial" panose="020B0604020202020204" pitchFamily="34" charset="0"/>
              </a:rPr>
              <a:t>  - </a:t>
            </a:r>
            <a:r>
              <a:rPr lang="ru-RU" altLang="ru-RU" sz="2800">
                <a:cs typeface="Arial" panose="020B0604020202020204" pitchFamily="34" charset="0"/>
              </a:rPr>
              <a:t>набор программных средств фирмы </a:t>
            </a:r>
            <a:r>
              <a:rPr lang="en-US" altLang="ru-RU" sz="2800" i="1">
                <a:cs typeface="Arial" panose="020B0604020202020204" pitchFamily="34" charset="0"/>
              </a:rPr>
              <a:t>Microsoft</a:t>
            </a:r>
            <a:r>
              <a:rPr lang="ru-RU" altLang="ru-RU" sz="2800">
                <a:cs typeface="Arial" panose="020B0604020202020204" pitchFamily="34" charset="0"/>
              </a:rPr>
              <a:t> для автоматизации работы современного офиса.</a:t>
            </a:r>
            <a:endParaRPr lang="en-US" altLang="ru-RU" sz="2800" i="1"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ru-RU" sz="2800" i="1">
                <a:cs typeface="Arial" panose="020B0604020202020204" pitchFamily="34" charset="0"/>
              </a:rPr>
              <a:t>MS Office </a:t>
            </a:r>
            <a:r>
              <a:rPr lang="ru-RU" altLang="ru-RU" sz="2800">
                <a:cs typeface="Arial" panose="020B0604020202020204" pitchFamily="34" charset="0"/>
              </a:rPr>
              <a:t>в настоящее время самый популярный пакет и в России является фактическим стандартом. </a:t>
            </a:r>
          </a:p>
        </p:txBody>
      </p:sp>
      <p:sp>
        <p:nvSpPr>
          <p:cNvPr id="71683" name="Text Box 2">
            <a:extLst>
              <a:ext uri="{FF2B5EF4-FFF2-40B4-BE49-F238E27FC236}">
                <a16:creationId xmlns:a16="http://schemas.microsoft.com/office/drawing/2014/main" id="{F906C48E-36B3-47B9-9DFD-67F7BA073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685802"/>
            <a:ext cx="586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800" b="1">
                <a:solidFill>
                  <a:srgbClr val="5F5F5F"/>
                </a:solidFill>
                <a:cs typeface="Arial" panose="020B0604020202020204" pitchFamily="34" charset="0"/>
              </a:rPr>
              <a:t>O</a:t>
            </a:r>
            <a:r>
              <a:rPr lang="ru-RU" altLang="ru-RU" sz="2800" b="1">
                <a:solidFill>
                  <a:srgbClr val="5F5F5F"/>
                </a:solidFill>
                <a:cs typeface="Arial" panose="020B0604020202020204" pitchFamily="34" charset="0"/>
              </a:rPr>
              <a:t>фисная технология MS Office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>
            <a:extLst>
              <a:ext uri="{FF2B5EF4-FFF2-40B4-BE49-F238E27FC236}">
                <a16:creationId xmlns:a16="http://schemas.microsoft.com/office/drawing/2014/main" id="{D6F81D23-1D83-42D9-9A48-0F01B6E46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692152"/>
            <a:ext cx="586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800" b="1">
                <a:solidFill>
                  <a:srgbClr val="CC3300"/>
                </a:solidFill>
                <a:cs typeface="Arial" panose="020B0604020202020204" pitchFamily="34" charset="0"/>
              </a:rPr>
              <a:t>O</a:t>
            </a:r>
            <a:r>
              <a:rPr lang="ru-RU" altLang="ru-RU" sz="2800" b="1">
                <a:solidFill>
                  <a:srgbClr val="CC3300"/>
                </a:solidFill>
                <a:cs typeface="Arial" panose="020B0604020202020204" pitchFamily="34" charset="0"/>
              </a:rPr>
              <a:t>фисная технология MS Office</a:t>
            </a:r>
          </a:p>
        </p:txBody>
      </p:sp>
      <p:sp>
        <p:nvSpPr>
          <p:cNvPr id="72707" name="Text Box 3">
            <a:extLst>
              <a:ext uri="{FF2B5EF4-FFF2-40B4-BE49-F238E27FC236}">
                <a16:creationId xmlns:a16="http://schemas.microsoft.com/office/drawing/2014/main" id="{6C323333-9EEE-4C90-8FBE-6C95F0F08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2" y="1773240"/>
            <a:ext cx="8602663" cy="415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cs typeface="Arial" panose="020B0604020202020204" pitchFamily="34" charset="0"/>
              </a:rPr>
              <a:t>Информационные технологии </a:t>
            </a:r>
            <a:r>
              <a:rPr lang="ru-RU" altLang="ru-RU" sz="2400" b="1">
                <a:solidFill>
                  <a:srgbClr val="CC3300"/>
                </a:solidFill>
                <a:cs typeface="Arial" panose="020B0604020202020204" pitchFamily="34" charset="0"/>
              </a:rPr>
              <a:t>MS Office </a:t>
            </a:r>
            <a:r>
              <a:rPr lang="ru-RU" altLang="ru-RU" sz="2400">
                <a:cs typeface="Arial" panose="020B0604020202020204" pitchFamily="34" charset="0"/>
              </a:rPr>
              <a:t> обеспечивают  автоматизацию рутинных функций. Они объединены в электронный офис и называются </a:t>
            </a:r>
            <a:r>
              <a:rPr lang="ru-RU" altLang="ru-RU" sz="2400" b="1">
                <a:cs typeface="Arial" panose="020B0604020202020204" pitchFamily="34" charset="0"/>
              </a:rPr>
              <a:t>офисными приложениями</a:t>
            </a:r>
            <a:r>
              <a:rPr lang="ru-RU" altLang="ru-RU" sz="2400">
                <a:cs typeface="Arial" panose="020B0604020202020204" pitchFamily="34" charset="0"/>
              </a:rPr>
              <a:t>.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 b="1" i="1">
                <a:cs typeface="Arial" panose="020B0604020202020204" pitchFamily="34" charset="0"/>
              </a:rPr>
              <a:t>MS Office </a:t>
            </a:r>
            <a:r>
              <a:rPr lang="ru-RU" altLang="ru-RU" sz="2400">
                <a:cs typeface="Arial" panose="020B0604020202020204" pitchFamily="34" charset="0"/>
              </a:rPr>
              <a:t> содержит: </a:t>
            </a:r>
            <a:r>
              <a:rPr lang="ru-RU" altLang="ru-RU" sz="2400" i="1">
                <a:cs typeface="Arial" panose="020B0604020202020204" pitchFamily="34" charset="0"/>
              </a:rPr>
              <a:t>Word </a:t>
            </a:r>
            <a:r>
              <a:rPr lang="ru-RU" altLang="ru-RU" sz="2400">
                <a:cs typeface="Arial" panose="020B0604020202020204" pitchFamily="34" charset="0"/>
              </a:rPr>
              <a:t>(текстовый процессор), </a:t>
            </a:r>
            <a:r>
              <a:rPr lang="ru-RU" altLang="ru-RU" sz="2400" i="1">
                <a:cs typeface="Arial" panose="020B0604020202020204" pitchFamily="34" charset="0"/>
              </a:rPr>
              <a:t>Excel </a:t>
            </a:r>
            <a:r>
              <a:rPr lang="ru-RU" altLang="ru-RU" sz="2400">
                <a:cs typeface="Arial" panose="020B0604020202020204" pitchFamily="34" charset="0"/>
              </a:rPr>
              <a:t>(табличный процессор), </a:t>
            </a:r>
            <a:r>
              <a:rPr lang="ru-RU" altLang="ru-RU" sz="2400" i="1">
                <a:cs typeface="Arial" panose="020B0604020202020204" pitchFamily="34" charset="0"/>
              </a:rPr>
              <a:t>Access </a:t>
            </a:r>
            <a:r>
              <a:rPr lang="ru-RU" altLang="ru-RU" sz="2400">
                <a:cs typeface="Arial" panose="020B0604020202020204" pitchFamily="34" charset="0"/>
              </a:rPr>
              <a:t>(система управления базой данных), </a:t>
            </a:r>
            <a:r>
              <a:rPr lang="ru-RU" altLang="ru-RU" sz="2400" i="1">
                <a:cs typeface="Arial" panose="020B0604020202020204" pitchFamily="34" charset="0"/>
              </a:rPr>
              <a:t>PowerPoint </a:t>
            </a:r>
            <a:r>
              <a:rPr lang="ru-RU" altLang="ru-RU" sz="2400">
                <a:cs typeface="Arial" panose="020B0604020202020204" pitchFamily="34" charset="0"/>
              </a:rPr>
              <a:t>(подготовка презентаций), </a:t>
            </a:r>
            <a:r>
              <a:rPr lang="ru-RU" altLang="ru-RU" sz="2400" i="1">
                <a:cs typeface="Arial" panose="020B0604020202020204" pitchFamily="34" charset="0"/>
              </a:rPr>
              <a:t>Outlook Express </a:t>
            </a:r>
            <a:r>
              <a:rPr lang="ru-RU" altLang="ru-RU" sz="2400">
                <a:cs typeface="Arial" panose="020B0604020202020204" pitchFamily="34" charset="0"/>
              </a:rPr>
              <a:t>(электронная почта и персональный диспетчер), </a:t>
            </a:r>
            <a:r>
              <a:rPr lang="ru-RU" altLang="ru-RU" sz="2400" i="1">
                <a:cs typeface="Arial" panose="020B0604020202020204" pitchFamily="34" charset="0"/>
              </a:rPr>
              <a:t>Publisher </a:t>
            </a:r>
            <a:r>
              <a:rPr lang="ru-RU" altLang="ru-RU" sz="2400">
                <a:cs typeface="Arial" panose="020B0604020202020204" pitchFamily="34" charset="0"/>
              </a:rPr>
              <a:t>(настольная издательская система) , </a:t>
            </a:r>
            <a:endParaRPr lang="ru-RU" altLang="ru-RU" sz="2400" b="1" i="1">
              <a:cs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 b="1" i="1">
                <a:cs typeface="Arial" panose="020B0604020202020204" pitchFamily="34" charset="0"/>
              </a:rPr>
              <a:t>Word – текстовый процессор </a:t>
            </a:r>
            <a:r>
              <a:rPr lang="ru-RU" altLang="ru-RU" sz="2400">
                <a:cs typeface="Arial" panose="020B0604020202020204" pitchFamily="34" charset="0"/>
              </a:rPr>
              <a:t>– исторически самое первое и наиболее широко используемое приложение.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>
            <a:extLst>
              <a:ext uri="{FF2B5EF4-FFF2-40B4-BE49-F238E27FC236}">
                <a16:creationId xmlns:a16="http://schemas.microsoft.com/office/drawing/2014/main" id="{1772785A-5D41-4791-BCA9-53382775A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2" y="1557338"/>
            <a:ext cx="8385175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cs typeface="Arial" panose="020B0604020202020204" pitchFamily="34" charset="0"/>
              </a:rPr>
              <a:t>В электронном офисе используется технология </a:t>
            </a:r>
            <a:r>
              <a:rPr lang="ru-RU" altLang="ru-RU" sz="2400" b="1" i="1">
                <a:solidFill>
                  <a:srgbClr val="5F5F5F"/>
                </a:solidFill>
                <a:cs typeface="Arial" panose="020B0604020202020204" pitchFamily="34" charset="0"/>
              </a:rPr>
              <a:t>OLE</a:t>
            </a:r>
            <a:r>
              <a:rPr lang="ru-RU" altLang="ru-RU" sz="2400">
                <a:cs typeface="Arial" panose="020B0604020202020204" pitchFamily="34" charset="0"/>
              </a:rPr>
              <a:t>, которая позволяет связывать объекты (тексты, документы, рисунки, таблицы и т.д.),созданные разными приложениями в единый документ.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cs typeface="Arial" panose="020B0604020202020204" pitchFamily="34" charset="0"/>
              </a:rPr>
              <a:t>Корпорация </a:t>
            </a:r>
            <a:r>
              <a:rPr lang="ru-RU" altLang="ru-RU" sz="2400" i="1">
                <a:cs typeface="Arial" panose="020B0604020202020204" pitchFamily="34" charset="0"/>
              </a:rPr>
              <a:t>Microsoft </a:t>
            </a:r>
            <a:r>
              <a:rPr lang="ru-RU" altLang="ru-RU" sz="2400">
                <a:cs typeface="Arial" panose="020B0604020202020204" pitchFamily="34" charset="0"/>
              </a:rPr>
              <a:t>создала протокол </a:t>
            </a:r>
            <a:r>
              <a:rPr lang="ru-RU" altLang="ru-RU" sz="2400" i="1">
                <a:cs typeface="Arial" panose="020B0604020202020204" pitchFamily="34" charset="0"/>
              </a:rPr>
              <a:t>OLE </a:t>
            </a:r>
            <a:r>
              <a:rPr lang="ru-RU" altLang="ru-RU" sz="2400">
                <a:cs typeface="Arial" panose="020B0604020202020204" pitchFamily="34" charset="0"/>
              </a:rPr>
              <a:t>(</a:t>
            </a:r>
            <a:r>
              <a:rPr lang="ru-RU" altLang="ru-RU" sz="2400" i="1">
                <a:cs typeface="Arial" panose="020B0604020202020204" pitchFamily="34" charset="0"/>
              </a:rPr>
              <a:t>Object Linking and Embedding </a:t>
            </a:r>
            <a:r>
              <a:rPr lang="ru-RU" altLang="ru-RU" sz="2400">
                <a:cs typeface="Arial" panose="020B0604020202020204" pitchFamily="34" charset="0"/>
              </a:rPr>
              <a:t>– привязка и встраивание объектов), позволяющий объединять документы (фрагменты), созданные в разных приложениях.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Прямоугольник 1">
            <a:extLst>
              <a:ext uri="{FF2B5EF4-FFF2-40B4-BE49-F238E27FC236}">
                <a16:creationId xmlns:a16="http://schemas.microsoft.com/office/drawing/2014/main" id="{5877CAEE-6F05-41A9-8FE9-21B52BF50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2" y="765177"/>
            <a:ext cx="8424863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 b="1" u="sng">
                <a:solidFill>
                  <a:srgbClr val="5F5F5F"/>
                </a:solidFill>
                <a:cs typeface="Arial" panose="020B0604020202020204" pitchFamily="34" charset="0"/>
              </a:rPr>
              <a:t>Протокол </a:t>
            </a:r>
            <a:r>
              <a:rPr lang="ru-RU" altLang="ru-RU" sz="2400" b="1" i="1" u="sng">
                <a:solidFill>
                  <a:srgbClr val="5F5F5F"/>
                </a:solidFill>
                <a:cs typeface="Arial" panose="020B0604020202020204" pitchFamily="34" charset="0"/>
              </a:rPr>
              <a:t>OLE </a:t>
            </a:r>
            <a:r>
              <a:rPr lang="ru-RU" altLang="ru-RU" sz="2400" b="1" u="sng">
                <a:solidFill>
                  <a:srgbClr val="5F5F5F"/>
                </a:solidFill>
                <a:cs typeface="Arial" panose="020B0604020202020204" pitchFamily="34" charset="0"/>
              </a:rPr>
              <a:t>обеспечивает: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cs typeface="Arial" panose="020B0604020202020204" pitchFamily="34" charset="0"/>
              </a:rPr>
              <a:t>Концепцию составных документов.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cs typeface="Arial" panose="020B0604020202020204" pitchFamily="34" charset="0"/>
              </a:rPr>
              <a:t>Например,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cs typeface="Arial" panose="020B0604020202020204" pitchFamily="34" charset="0"/>
              </a:rPr>
              <a:t>в документ редактора </a:t>
            </a:r>
            <a:r>
              <a:rPr lang="ru-RU" altLang="ru-RU" sz="2400" i="1">
                <a:cs typeface="Arial" panose="020B0604020202020204" pitchFamily="34" charset="0"/>
              </a:rPr>
              <a:t>Word </a:t>
            </a:r>
            <a:r>
              <a:rPr lang="ru-RU" altLang="ru-RU" sz="2400">
                <a:cs typeface="Arial" panose="020B0604020202020204" pitchFamily="34" charset="0"/>
              </a:rPr>
              <a:t>можно выставить диаграмму </a:t>
            </a:r>
            <a:r>
              <a:rPr lang="ru-RU" altLang="ru-RU" sz="2400" i="1">
                <a:cs typeface="Arial" panose="020B0604020202020204" pitchFamily="34" charset="0"/>
              </a:rPr>
              <a:t>Excel</a:t>
            </a:r>
            <a:r>
              <a:rPr lang="ru-RU" altLang="ru-RU" sz="2400">
                <a:cs typeface="Arial" panose="020B0604020202020204" pitchFamily="34" charset="0"/>
              </a:rPr>
              <a:t> и т.д.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cs typeface="Arial" panose="020B0604020202020204" pitchFamily="34" charset="0"/>
              </a:rPr>
              <a:t>Возможны две составляющие этой технологии: </a:t>
            </a:r>
            <a:r>
              <a:rPr lang="ru-RU" altLang="ru-RU" sz="2400" b="1">
                <a:cs typeface="Arial" panose="020B0604020202020204" pitchFamily="34" charset="0"/>
              </a:rPr>
              <a:t>внедрение</a:t>
            </a:r>
            <a:r>
              <a:rPr lang="ru-RU" altLang="ru-RU" sz="2400">
                <a:cs typeface="Arial" panose="020B0604020202020204" pitchFamily="34" charset="0"/>
              </a:rPr>
              <a:t> и </a:t>
            </a:r>
            <a:r>
              <a:rPr lang="ru-RU" altLang="ru-RU" sz="2400" b="1">
                <a:cs typeface="Arial" panose="020B0604020202020204" pitchFamily="34" charset="0"/>
              </a:rPr>
              <a:t>связывание</a:t>
            </a:r>
            <a:r>
              <a:rPr lang="ru-RU" altLang="ru-RU" sz="2400">
                <a:cs typeface="Arial" panose="020B0604020202020204" pitchFamily="34" charset="0"/>
              </a:rPr>
              <a:t>. Если один объект «с</a:t>
            </a:r>
            <a:r>
              <a:rPr lang="ru-RU" altLang="ru-RU" sz="2400" i="1">
                <a:cs typeface="Arial" panose="020B0604020202020204" pitchFamily="34" charset="0"/>
              </a:rPr>
              <a:t>вязан» </a:t>
            </a:r>
            <a:r>
              <a:rPr lang="ru-RU" altLang="ru-RU" sz="2400">
                <a:cs typeface="Arial" panose="020B0604020202020204" pitchFamily="34" charset="0"/>
              </a:rPr>
              <a:t>к другим, то изменение источника (откуда взят) приводит к изменению привязанного объекта. Если объект с</a:t>
            </a:r>
            <a:r>
              <a:rPr lang="ru-RU" altLang="ru-RU" sz="2400" i="1">
                <a:cs typeface="Arial" panose="020B0604020202020204" pitchFamily="34" charset="0"/>
              </a:rPr>
              <a:t>вязан </a:t>
            </a:r>
            <a:r>
              <a:rPr lang="ru-RU" altLang="ru-RU" sz="2400">
                <a:cs typeface="Arial" panose="020B0604020202020204" pitchFamily="34" charset="0"/>
              </a:rPr>
              <a:t>к нескольким документам, то изменение оригинала вносятся во все привязанные объекты.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cs typeface="Arial" panose="020B0604020202020204" pitchFamily="34" charset="0"/>
              </a:rPr>
              <a:t>Если объект «</a:t>
            </a:r>
            <a:r>
              <a:rPr lang="ru-RU" altLang="ru-RU" sz="2400" i="1">
                <a:cs typeface="Arial" panose="020B0604020202020204" pitchFamily="34" charset="0"/>
              </a:rPr>
              <a:t>внедрен» </a:t>
            </a:r>
            <a:r>
              <a:rPr lang="ru-RU" altLang="ru-RU" sz="2400">
                <a:cs typeface="Arial" panose="020B0604020202020204" pitchFamily="34" charset="0"/>
              </a:rPr>
              <a:t>в документ, то изменения оригинала </a:t>
            </a:r>
            <a:r>
              <a:rPr lang="ru-RU" altLang="ru-RU" sz="2400">
                <a:solidFill>
                  <a:srgbClr val="5F5F5F"/>
                </a:solidFill>
                <a:cs typeface="Arial" panose="020B0604020202020204" pitchFamily="34" charset="0"/>
              </a:rPr>
              <a:t>не приводит к изменению внедренного объекта. </a:t>
            </a:r>
            <a:endParaRPr lang="ru-RU" altLang="ru-RU" sz="24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2">
            <a:extLst>
              <a:ext uri="{FF2B5EF4-FFF2-40B4-BE49-F238E27FC236}">
                <a16:creationId xmlns:a16="http://schemas.microsoft.com/office/drawing/2014/main" id="{EB641644-99A3-42A4-B1C8-C21FFBB8D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2"/>
            <a:ext cx="8077200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800">
                <a:latin typeface="Times New Roman" panose="02020603050405020304" pitchFamily="18" charset="0"/>
                <a:cs typeface="Arial" panose="020B0604020202020204" pitchFamily="34" charset="0"/>
              </a:rPr>
              <a:t>В состав пакета </a:t>
            </a:r>
            <a:r>
              <a:rPr lang="ru-RU" altLang="ru-RU" sz="2800" b="1">
                <a:solidFill>
                  <a:srgbClr val="9933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Microsoft Office </a:t>
            </a:r>
            <a:r>
              <a:rPr lang="ru-RU" altLang="ru-RU" sz="2800">
                <a:latin typeface="Times New Roman" panose="02020603050405020304" pitchFamily="18" charset="0"/>
                <a:cs typeface="Arial" panose="020B0604020202020204" pitchFamily="34" charset="0"/>
              </a:rPr>
              <a:t>входят приложения, каждое предназначено для выполнения определенных задач, может быть использовано автономно, независимо от остальных. </a:t>
            </a:r>
            <a:r>
              <a:rPr lang="ru-RU" altLang="ru-RU" sz="2800" b="1">
                <a:solidFill>
                  <a:srgbClr val="9933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Набор офисных приложений можно разделить на основные и дополнительные</a:t>
            </a:r>
            <a:r>
              <a:rPr lang="ru-RU" altLang="ru-RU" sz="2800">
                <a:latin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>
            <a:extLst>
              <a:ext uri="{FF2B5EF4-FFF2-40B4-BE49-F238E27FC236}">
                <a16:creationId xmlns:a16="http://schemas.microsoft.com/office/drawing/2014/main" id="{BBF00DC5-8819-4929-8D4E-792261FF1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00200"/>
            <a:ext cx="8305800" cy="237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800" b="1">
                <a:latin typeface="Times New Roman" panose="02020603050405020304" pitchFamily="18" charset="0"/>
                <a:cs typeface="Arial" panose="020B0604020202020204" pitchFamily="34" charset="0"/>
              </a:rPr>
              <a:t>Программная среда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latin typeface="Times New Roman" panose="02020603050405020304" pitchFamily="18" charset="0"/>
                <a:cs typeface="Arial" panose="020B0604020202020204" pitchFamily="34" charset="0"/>
              </a:rPr>
              <a:t>Основным средством разработки приложений в MS Office является решение на основе языка Visual Basic, а именно - Visual Basic for Application (VBA). Эти средства позволяют расширять функциональность пакета и адаптировать его к решению специализированных задач.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2">
            <a:extLst>
              <a:ext uri="{FF2B5EF4-FFF2-40B4-BE49-F238E27FC236}">
                <a16:creationId xmlns:a16="http://schemas.microsoft.com/office/drawing/2014/main" id="{F5D6E58F-F219-47EC-BA3A-9A271DC5F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295402"/>
            <a:ext cx="80645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cs typeface="Arial" panose="020B0604020202020204" pitchFamily="34" charset="0"/>
              </a:rPr>
              <a:t>Одним из достоинств Microsoft Office является использование графического интерфейса пользователя (Graphical User Interface, GUI), представляемого операционной системой.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cs typeface="Arial" panose="020B0604020202020204" pitchFamily="34" charset="0"/>
              </a:rPr>
              <a:t>Например, элементы группируются в крупные конструкции, такие как окна (окно приложения; окно документа; диалоговое окно, форма), панели инструментов, меню.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Прямоугольник 1">
            <a:extLst>
              <a:ext uri="{FF2B5EF4-FFF2-40B4-BE49-F238E27FC236}">
                <a16:creationId xmlns:a16="http://schemas.microsoft.com/office/drawing/2014/main" id="{82B9008C-5267-4DD1-A7E3-508520E14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5" y="476252"/>
            <a:ext cx="8739188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latin typeface="Times New Roman" panose="02020603050405020304" pitchFamily="18" charset="0"/>
              </a:rPr>
              <a:t>Последняя версия офисного пакета MS Office была представлена  в 2012 г. под названием Microsoft Office 2013. Также эта версия известна как Office 2013 или Office 15. Новый Office интегрирован с облачным хранилищем SkyDrive, поддерживает работу с файлами формата PDF, позволяет вставлять онлайн видео.</a:t>
            </a:r>
          </a:p>
        </p:txBody>
      </p:sp>
      <p:pic>
        <p:nvPicPr>
          <p:cNvPr id="78851" name="Picture 2">
            <a:extLst>
              <a:ext uri="{FF2B5EF4-FFF2-40B4-BE49-F238E27FC236}">
                <a16:creationId xmlns:a16="http://schemas.microsoft.com/office/drawing/2014/main" id="{4D5B3300-2EC3-44CC-91E8-23EB350F2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052" y="3068640"/>
            <a:ext cx="5349875" cy="300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19">
            <a:extLst>
              <a:ext uri="{FF2B5EF4-FFF2-40B4-BE49-F238E27FC236}">
                <a16:creationId xmlns:a16="http://schemas.microsoft.com/office/drawing/2014/main" id="{97C0B9FB-1E17-493A-A477-BFA809C7C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5" y="3357563"/>
            <a:ext cx="3741737" cy="210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5" name="Прямоугольник 4">
            <a:extLst>
              <a:ext uri="{FF2B5EF4-FFF2-40B4-BE49-F238E27FC236}">
                <a16:creationId xmlns:a16="http://schemas.microsoft.com/office/drawing/2014/main" id="{082BC876-C4D7-442A-951A-49C0A9F3B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2" y="981075"/>
            <a:ext cx="8208963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800" b="1">
                <a:solidFill>
                  <a:srgbClr val="FF0000"/>
                </a:solidFill>
                <a:latin typeface="Times New Roman" panose="02020603050405020304" pitchFamily="18" charset="0"/>
              </a:rPr>
              <a:t>Office в нужном месте и в нужное время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800">
                <a:solidFill>
                  <a:srgbClr val="000000"/>
                </a:solidFill>
                <a:latin typeface="Times New Roman" panose="02020603050405020304" pitchFamily="18" charset="0"/>
              </a:rPr>
              <a:t>на ПК или компьютерах Mac, на планшетах, смартфонах для работы на ходу, работайте с Office Online через Интернет в любых других ситуациях.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2">
            <a:extLst>
              <a:ext uri="{FF2B5EF4-FFF2-40B4-BE49-F238E27FC236}">
                <a16:creationId xmlns:a16="http://schemas.microsoft.com/office/drawing/2014/main" id="{3F9C5AB5-2B50-4E01-A181-4185111F9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54" t="30649" r="26549" b="9148"/>
          <a:stretch>
            <a:fillRect/>
          </a:stretch>
        </p:blipFill>
        <p:spPr bwMode="auto">
          <a:xfrm>
            <a:off x="250825" y="188915"/>
            <a:ext cx="8497888" cy="650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Прямоугольник 1">
            <a:extLst>
              <a:ext uri="{FF2B5EF4-FFF2-40B4-BE49-F238E27FC236}">
                <a16:creationId xmlns:a16="http://schemas.microsoft.com/office/drawing/2014/main" id="{45F06A83-4A61-4C8F-B90D-EDFDF7131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981075"/>
            <a:ext cx="8424862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 b="1">
                <a:solidFill>
                  <a:srgbClr val="C00000"/>
                </a:solidFill>
                <a:latin typeface="Times New Roman" panose="02020603050405020304" pitchFamily="18" charset="0"/>
              </a:rPr>
              <a:t>Microsoft Office поставляется в нескольких редакциях</a:t>
            </a:r>
            <a:r>
              <a:rPr lang="ru-RU" altLang="ru-RU" sz="2400">
                <a:solidFill>
                  <a:srgbClr val="C00000"/>
                </a:solidFill>
                <a:latin typeface="Times New Roman" panose="02020603050405020304" pitchFamily="18" charset="0"/>
              </a:rPr>
              <a:t>. Отличия редакций в составе пакета и цене.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solidFill>
                  <a:srgbClr val="C00000"/>
                </a:solidFill>
                <a:latin typeface="Times New Roman" panose="02020603050405020304" pitchFamily="18" charset="0"/>
              </a:rPr>
              <a:t>Наиболее полная из них содержит: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 b="1">
                <a:solidFill>
                  <a:srgbClr val="C00000"/>
                </a:solidFill>
                <a:latin typeface="Times New Roman" panose="02020603050405020304" pitchFamily="18" charset="0"/>
              </a:rPr>
              <a:t>Microsoft Word </a:t>
            </a:r>
            <a:r>
              <a:rPr lang="ru-RU" altLang="ru-RU" sz="2400">
                <a:latin typeface="Times New Roman" panose="02020603050405020304" pitchFamily="18" charset="0"/>
              </a:rPr>
              <a:t>— текстовый процессор. Доступен под Windows и Apple Mac OS.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latin typeface="Times New Roman" panose="02020603050405020304" pitchFamily="18" charset="0"/>
              </a:rPr>
              <a:t>Позволяет подготавливать документы различной сложности. Продукт занимает ведущее положение на рынке текстовых процессоров, и его форматы используются как стандарт де-факто в документообороте большинства предприятий.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Прямоугольник 1">
            <a:extLst>
              <a:ext uri="{FF2B5EF4-FFF2-40B4-BE49-F238E27FC236}">
                <a16:creationId xmlns:a16="http://schemas.microsoft.com/office/drawing/2014/main" id="{70B096AB-B95C-42CA-AD54-570FA413B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96975"/>
            <a:ext cx="8424862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ru-RU" sz="2400" b="1">
                <a:solidFill>
                  <a:srgbClr val="C00000"/>
                </a:solidFill>
                <a:latin typeface="Times New Roman" panose="02020603050405020304" pitchFamily="18" charset="0"/>
              </a:rPr>
              <a:t>Microsoft Excel </a:t>
            </a:r>
            <a:r>
              <a:rPr lang="en-US" altLang="ru-RU" sz="2400">
                <a:latin typeface="Times New Roman" panose="02020603050405020304" pitchFamily="18" charset="0"/>
              </a:rPr>
              <a:t>— </a:t>
            </a:r>
            <a:r>
              <a:rPr lang="ru-RU" altLang="ru-RU" sz="2400">
                <a:latin typeface="Times New Roman" panose="02020603050405020304" pitchFamily="18" charset="0"/>
              </a:rPr>
              <a:t>табличный процессор. Поддерживает функции создания электронных таблиц любой сложности. Занимает ведущее положение на рынке. Доступен под </a:t>
            </a:r>
            <a:r>
              <a:rPr lang="en-US" altLang="ru-RU" sz="2400">
                <a:latin typeface="Times New Roman" panose="02020603050405020304" pitchFamily="18" charset="0"/>
              </a:rPr>
              <a:t>Windows </a:t>
            </a:r>
            <a:r>
              <a:rPr lang="ru-RU" altLang="ru-RU" sz="2400">
                <a:latin typeface="Times New Roman" panose="02020603050405020304" pitchFamily="18" charset="0"/>
              </a:rPr>
              <a:t>и </a:t>
            </a:r>
            <a:r>
              <a:rPr lang="en-US" altLang="ru-RU" sz="2400">
                <a:latin typeface="Times New Roman" panose="02020603050405020304" pitchFamily="18" charset="0"/>
              </a:rPr>
              <a:t>Apple Mac OS X.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ru-RU" sz="2400" b="1">
                <a:solidFill>
                  <a:srgbClr val="C00000"/>
                </a:solidFill>
                <a:latin typeface="Times New Roman" panose="02020603050405020304" pitchFamily="18" charset="0"/>
              </a:rPr>
              <a:t>Microsoft Outlook </a:t>
            </a:r>
            <a:r>
              <a:rPr lang="en-US" altLang="ru-RU" sz="2400">
                <a:latin typeface="Times New Roman" panose="02020603050405020304" pitchFamily="18" charset="0"/>
              </a:rPr>
              <a:t>— </a:t>
            </a:r>
            <a:r>
              <a:rPr lang="ru-RU" altLang="ru-RU" sz="2400">
                <a:latin typeface="Times New Roman" panose="02020603050405020304" pitchFamily="18" charset="0"/>
              </a:rPr>
              <a:t>персональный коммуникатор. В состав </a:t>
            </a:r>
            <a:r>
              <a:rPr lang="en-US" altLang="ru-RU" sz="2400">
                <a:latin typeface="Times New Roman" panose="02020603050405020304" pitchFamily="18" charset="0"/>
              </a:rPr>
              <a:t>Outlook </a:t>
            </a:r>
            <a:r>
              <a:rPr lang="ru-RU" altLang="ru-RU" sz="2400">
                <a:latin typeface="Times New Roman" panose="02020603050405020304" pitchFamily="18" charset="0"/>
              </a:rPr>
              <a:t>входят: календарь, планировщик задач, записки, менеджер электронной почты, адресная книга. Поддерживается совместная сетевая работа. Доступен под </a:t>
            </a:r>
            <a:r>
              <a:rPr lang="en-US" altLang="ru-RU" sz="2400">
                <a:latin typeface="Times New Roman" panose="02020603050405020304" pitchFamily="18" charset="0"/>
              </a:rPr>
              <a:t>Windows </a:t>
            </a:r>
            <a:r>
              <a:rPr lang="ru-RU" altLang="ru-RU" sz="2400">
                <a:latin typeface="Times New Roman" panose="02020603050405020304" pitchFamily="18" charset="0"/>
              </a:rPr>
              <a:t>и под </a:t>
            </a:r>
            <a:r>
              <a:rPr lang="en-US" altLang="ru-RU" sz="2400">
                <a:latin typeface="Times New Roman" panose="02020603050405020304" pitchFamily="18" charset="0"/>
              </a:rPr>
              <a:t>Apple Mac OS X.</a:t>
            </a:r>
            <a:endParaRPr lang="ru-RU" altLang="ru-RU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Прямоугольник 1">
            <a:extLst>
              <a:ext uri="{FF2B5EF4-FFF2-40B4-BE49-F238E27FC236}">
                <a16:creationId xmlns:a16="http://schemas.microsoft.com/office/drawing/2014/main" id="{6477BFA7-BEB9-447B-B865-315B37D48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773238"/>
            <a:ext cx="834390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 b="1">
                <a:solidFill>
                  <a:srgbClr val="C00000"/>
                </a:solidFill>
                <a:latin typeface="Times New Roman" panose="02020603050405020304" pitchFamily="18" charset="0"/>
              </a:rPr>
              <a:t>Microsoft PowerPoint </a:t>
            </a:r>
            <a:r>
              <a:rPr lang="ru-RU" altLang="ru-RU" sz="2400">
                <a:latin typeface="Times New Roman" panose="02020603050405020304" pitchFamily="18" charset="0"/>
              </a:rPr>
              <a:t>— приложение для подготовки презентаций под Microsoft Windows и Apple Mac OS X.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 b="1">
                <a:solidFill>
                  <a:srgbClr val="C00000"/>
                </a:solidFill>
                <a:latin typeface="Times New Roman" panose="02020603050405020304" pitchFamily="18" charset="0"/>
              </a:rPr>
              <a:t>Microsoft Access </a:t>
            </a:r>
            <a:r>
              <a:rPr lang="ru-RU" altLang="ru-RU" sz="2400">
                <a:latin typeface="Times New Roman" panose="02020603050405020304" pitchFamily="18" charset="0"/>
              </a:rPr>
              <a:t>— приложение для создания и управления базами данных.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Прямоугольник 1">
            <a:extLst>
              <a:ext uri="{FF2B5EF4-FFF2-40B4-BE49-F238E27FC236}">
                <a16:creationId xmlns:a16="http://schemas.microsoft.com/office/drawing/2014/main" id="{630B054C-C421-41FD-A300-D04B77B84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7" y="1125540"/>
            <a:ext cx="8678863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rgbClr val="C00000"/>
                </a:solidFill>
                <a:latin typeface="Times New Roman" panose="02020603050405020304" pitchFamily="18" charset="0"/>
              </a:rPr>
              <a:t>Microsoft Publisher </a:t>
            </a:r>
            <a:r>
              <a:rPr lang="en-US" altLang="ru-RU" sz="2400">
                <a:latin typeface="Times New Roman" panose="02020603050405020304" pitchFamily="18" charset="0"/>
              </a:rPr>
              <a:t>— </a:t>
            </a:r>
            <a:r>
              <a:rPr lang="ru-RU" altLang="ru-RU" sz="2400">
                <a:latin typeface="Times New Roman" panose="02020603050405020304" pitchFamily="18" charset="0"/>
              </a:rPr>
              <a:t>приложение для подготовки публикаций.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rgbClr val="C00000"/>
                </a:solidFill>
                <a:latin typeface="Times New Roman" panose="02020603050405020304" pitchFamily="18" charset="0"/>
              </a:rPr>
              <a:t>Microsoft Visio </a:t>
            </a:r>
            <a:r>
              <a:rPr lang="en-US" altLang="ru-RU" sz="2400">
                <a:latin typeface="Times New Roman" panose="02020603050405020304" pitchFamily="18" charset="0"/>
              </a:rPr>
              <a:t>— </a:t>
            </a:r>
            <a:r>
              <a:rPr lang="ru-RU" altLang="ru-RU" sz="2400">
                <a:latin typeface="Times New Roman" panose="02020603050405020304" pitchFamily="18" charset="0"/>
              </a:rPr>
              <a:t>приложение для работы с диаграммами диаграммами — позволяет преобразовывать концепции и данные в диаграммы.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rgbClr val="C00000"/>
                </a:solidFill>
                <a:latin typeface="Times New Roman" panose="02020603050405020304" pitchFamily="18" charset="0"/>
              </a:rPr>
              <a:t>Microsoft Project </a:t>
            </a:r>
            <a:r>
              <a:rPr lang="en-US" altLang="ru-RU" sz="2400">
                <a:latin typeface="Times New Roman" panose="02020603050405020304" pitchFamily="18" charset="0"/>
              </a:rPr>
              <a:t>— </a:t>
            </a:r>
            <a:r>
              <a:rPr lang="ru-RU" altLang="ru-RU" sz="2400">
                <a:latin typeface="Times New Roman" panose="02020603050405020304" pitchFamily="18" charset="0"/>
              </a:rPr>
              <a:t>управление проектами.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rgbClr val="C00000"/>
                </a:solidFill>
                <a:latin typeface="Times New Roman" panose="02020603050405020304" pitchFamily="18" charset="0"/>
              </a:rPr>
              <a:t>Microsoft OneNote </a:t>
            </a:r>
            <a:r>
              <a:rPr lang="en-US" altLang="ru-RU" sz="2400">
                <a:latin typeface="Times New Roman" panose="02020603050405020304" pitchFamily="18" charset="0"/>
              </a:rPr>
              <a:t>— </a:t>
            </a:r>
            <a:r>
              <a:rPr lang="ru-RU" altLang="ru-RU" sz="2400">
                <a:latin typeface="Times New Roman" panose="02020603050405020304" pitchFamily="18" charset="0"/>
              </a:rPr>
              <a:t>приложение для записи заметок 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rgbClr val="C00000"/>
                </a:solidFill>
                <a:latin typeface="Times New Roman" panose="02020603050405020304" pitchFamily="18" charset="0"/>
              </a:rPr>
              <a:t>Microsoft Picture Manager </a:t>
            </a:r>
            <a:r>
              <a:rPr lang="en-US" altLang="ru-RU" sz="2400">
                <a:latin typeface="Times New Roman" panose="02020603050405020304" pitchFamily="18" charset="0"/>
              </a:rPr>
              <a:t>— </a:t>
            </a:r>
            <a:r>
              <a:rPr lang="ru-RU" altLang="ru-RU" sz="2400">
                <a:latin typeface="Times New Roman" panose="02020603050405020304" pitchFamily="18" charset="0"/>
              </a:rPr>
              <a:t>работа с рисунками .</a:t>
            </a:r>
            <a:endParaRPr lang="en-US" altLang="ru-RU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Прямоугольник 1">
            <a:extLst>
              <a:ext uri="{FF2B5EF4-FFF2-40B4-BE49-F238E27FC236}">
                <a16:creationId xmlns:a16="http://schemas.microsoft.com/office/drawing/2014/main" id="{A65223FE-5B3D-49C5-A357-981F92E48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2" y="1295402"/>
            <a:ext cx="8424863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 b="1">
                <a:solidFill>
                  <a:srgbClr val="FF0000"/>
                </a:solidFill>
                <a:latin typeface="Times New Roman" panose="02020603050405020304" pitchFamily="18" charset="0"/>
              </a:rPr>
              <a:t>Microsoft Project 2000</a:t>
            </a:r>
            <a:r>
              <a:rPr lang="ru-RU" altLang="ru-RU" sz="2400">
                <a:latin typeface="Times New Roman" panose="02020603050405020304" pitchFamily="18" charset="0"/>
              </a:rPr>
              <a:t>,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latin typeface="Times New Roman" panose="02020603050405020304" pitchFamily="18" charset="0"/>
              </a:rPr>
              <a:t>самая распространенная в мире система планирования проектов, особенностью программы является простота и  дружеский интерфейс. Во многих компаниях используется в качестве приложения Microsoft для планирования и контроля небольших проектов.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Прямоугольник 1">
            <a:extLst>
              <a:ext uri="{FF2B5EF4-FFF2-40B4-BE49-F238E27FC236}">
                <a16:creationId xmlns:a16="http://schemas.microsoft.com/office/drawing/2014/main" id="{DE90EA03-87A3-49C0-B3C7-7C1D198C1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219200"/>
            <a:ext cx="83058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b="1">
                <a:latin typeface="Times New Roman" panose="02020603050405020304" pitchFamily="18" charset="0"/>
              </a:rPr>
              <a:t>Программа позволяет решать следующие задачи:</a:t>
            </a:r>
            <a:r>
              <a:rPr lang="ru-RU" altLang="ru-RU" sz="2400">
                <a:latin typeface="Times New Roman" panose="02020603050405020304" pitchFamily="18" charset="0"/>
              </a:rPr>
              <a:t> 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ru-RU" altLang="ru-RU" sz="2400">
                <a:latin typeface="Times New Roman" panose="02020603050405020304" pitchFamily="18" charset="0"/>
              </a:rPr>
              <a:t>Возможность пошаговой разработки проекта.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ru-RU" altLang="ru-RU" sz="2400">
                <a:latin typeface="Times New Roman" panose="02020603050405020304" pitchFamily="18" charset="0"/>
              </a:rPr>
              <a:t>Создание задач, назначение ресурсов, указание сроков выполнения проекта.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ru-RU" altLang="ru-RU" sz="2400">
                <a:latin typeface="Times New Roman" panose="02020603050405020304" pitchFamily="18" charset="0"/>
              </a:rPr>
              <a:t>Предоставляются возможности по планированию графика работ, отслеживанию их выполнения (табели рабочих, просмотр списка поручений и т. д.) , анализу информации по отдельным проектам.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latin typeface="Times New Roman" panose="02020603050405020304" pitchFamily="18" charset="0"/>
              </a:rPr>
              <a:t>Microsoft Project обеспечивает обмен проектной информацией между участниками проекта.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Прямоугольник 2">
            <a:extLst>
              <a:ext uri="{FF2B5EF4-FFF2-40B4-BE49-F238E27FC236}">
                <a16:creationId xmlns:a16="http://schemas.microsoft.com/office/drawing/2014/main" id="{8E0B3500-9702-434D-BDA0-A17F9A0CB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2" y="692152"/>
            <a:ext cx="8569325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latin typeface="Times New Roman" panose="02020603050405020304" pitchFamily="18" charset="0"/>
              </a:rPr>
              <a:t>В MS Project основным средством визуализации плана проекта является диаграмма Ганта (Gantt Chart). Эта диаграмма представляет собой график, на котором по горизонтали размещена шкала времени, а по вертикали расположен список задач.</a:t>
            </a:r>
          </a:p>
        </p:txBody>
      </p:sp>
      <p:pic>
        <p:nvPicPr>
          <p:cNvPr id="89091" name="Picture 4" descr="http://psycabi.net/images/4625598.jpeg">
            <a:extLst>
              <a:ext uri="{FF2B5EF4-FFF2-40B4-BE49-F238E27FC236}">
                <a16:creationId xmlns:a16="http://schemas.microsoft.com/office/drawing/2014/main" id="{AC731F8B-8346-4948-8075-A7E9A7E15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2852740"/>
            <a:ext cx="5340350" cy="320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Прямоугольник 1">
            <a:extLst>
              <a:ext uri="{FF2B5EF4-FFF2-40B4-BE49-F238E27FC236}">
                <a16:creationId xmlns:a16="http://schemas.microsoft.com/office/drawing/2014/main" id="{BA4B60BF-4043-416E-8826-6049A6D72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2" y="333375"/>
            <a:ext cx="8569325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latin typeface="Times New Roman" panose="02020603050405020304" pitchFamily="18" charset="0"/>
              </a:rPr>
              <a:t>фирма Microsoft выпустила целую линейку продуктов: Microsoft Project Standard 2002, Microsoft Project Professional 2002, Microsoft Project Server 2002.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latin typeface="Times New Roman" panose="02020603050405020304" pitchFamily="18" charset="0"/>
              </a:rPr>
              <a:t>Предлагается использовать различные комбинации линейки продуктов для трех сценариев: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latin typeface="Times New Roman" panose="02020603050405020304" pitchFamily="18" charset="0"/>
              </a:rPr>
              <a:t>решение для одиночных пользователей;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latin typeface="Times New Roman" panose="02020603050405020304" pitchFamily="18" charset="0"/>
              </a:rPr>
              <a:t>решение для рабочих групп;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latin typeface="Times New Roman" panose="02020603050405020304" pitchFamily="18" charset="0"/>
              </a:rPr>
              <a:t>решение для корпоративного управления проектов.</a:t>
            </a:r>
          </a:p>
        </p:txBody>
      </p:sp>
      <p:pic>
        <p:nvPicPr>
          <p:cNvPr id="90115" name="Picture 2" descr="Организованность">
            <a:extLst>
              <a:ext uri="{FF2B5EF4-FFF2-40B4-BE49-F238E27FC236}">
                <a16:creationId xmlns:a16="http://schemas.microsoft.com/office/drawing/2014/main" id="{1F844257-3A5C-4E52-89A6-70C526A85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3357563"/>
            <a:ext cx="5545138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Прямоугольник 1">
            <a:extLst>
              <a:ext uri="{FF2B5EF4-FFF2-40B4-BE49-F238E27FC236}">
                <a16:creationId xmlns:a16="http://schemas.microsoft.com/office/drawing/2014/main" id="{D588ED6C-C797-4911-B76E-3FD7E031B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7" y="1700213"/>
            <a:ext cx="8570913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rgbClr val="C00000"/>
                </a:solidFill>
                <a:latin typeface="Times New Roman" panose="02020603050405020304" pitchFamily="18" charset="0"/>
              </a:rPr>
              <a:t>Microsoft SharePoint Designer </a:t>
            </a:r>
            <a:r>
              <a:rPr lang="en-US" altLang="ru-RU" sz="2400">
                <a:latin typeface="Times New Roman" panose="02020603050405020304" pitchFamily="18" charset="0"/>
              </a:rPr>
              <a:t>— </a:t>
            </a:r>
            <a:r>
              <a:rPr lang="ru-RU" altLang="ru-RU" sz="2400">
                <a:latin typeface="Times New Roman" panose="02020603050405020304" pitchFamily="18" charset="0"/>
              </a:rPr>
              <a:t>инструмент для построения приложений на платформе </a:t>
            </a:r>
            <a:r>
              <a:rPr lang="en-US" altLang="ru-RU" sz="2400">
                <a:latin typeface="Times New Roman" panose="02020603050405020304" pitchFamily="18" charset="0"/>
              </a:rPr>
              <a:t>Microsoft SharePoint.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latin typeface="Times New Roman" panose="02020603050405020304" pitchFamily="18" charset="0"/>
              </a:rPr>
              <a:t>Ранее в </a:t>
            </a:r>
            <a:r>
              <a:rPr lang="en-US" altLang="ru-RU" sz="2400">
                <a:latin typeface="Times New Roman" panose="02020603050405020304" pitchFamily="18" charset="0"/>
              </a:rPr>
              <a:t>Microsoft Office </a:t>
            </a:r>
            <a:r>
              <a:rPr lang="ru-RU" altLang="ru-RU" sz="2400">
                <a:latin typeface="Times New Roman" panose="02020603050405020304" pitchFamily="18" charset="0"/>
              </a:rPr>
              <a:t>входило приложение </a:t>
            </a:r>
            <a:r>
              <a:rPr lang="en-US" altLang="ru-RU" sz="2400">
                <a:latin typeface="Times New Roman" panose="02020603050405020304" pitchFamily="18" charset="0"/>
              </a:rPr>
              <a:t>Microsoft </a:t>
            </a:r>
            <a:r>
              <a:rPr lang="en-US" altLang="ru-RU" sz="2400">
                <a:solidFill>
                  <a:srgbClr val="C00000"/>
                </a:solidFill>
                <a:latin typeface="Times New Roman" panose="02020603050405020304" pitchFamily="18" charset="0"/>
              </a:rPr>
              <a:t>FrontPage</a:t>
            </a:r>
            <a:r>
              <a:rPr lang="en-US" altLang="ru-RU" sz="2400">
                <a:latin typeface="Times New Roman" panose="02020603050405020304" pitchFamily="18" charset="0"/>
              </a:rPr>
              <a:t> (</a:t>
            </a:r>
            <a:r>
              <a:rPr lang="ru-RU" altLang="ru-RU" sz="2400">
                <a:latin typeface="Times New Roman" panose="02020603050405020304" pitchFamily="18" charset="0"/>
              </a:rPr>
              <a:t>программа для создания сайтов), но </a:t>
            </a:r>
            <a:r>
              <a:rPr lang="en-US" altLang="ru-RU" sz="2400">
                <a:latin typeface="Times New Roman" panose="02020603050405020304" pitchFamily="18" charset="0"/>
              </a:rPr>
              <a:t>Microsoft </a:t>
            </a:r>
            <a:r>
              <a:rPr lang="ru-RU" altLang="ru-RU" sz="2400">
                <a:latin typeface="Times New Roman" panose="02020603050405020304" pitchFamily="18" charset="0"/>
              </a:rPr>
              <a:t>приняла решение исключить это приложение из </a:t>
            </a:r>
            <a:r>
              <a:rPr lang="en-US" altLang="ru-RU" sz="2400">
                <a:latin typeface="Times New Roman" panose="02020603050405020304" pitchFamily="18" charset="0"/>
              </a:rPr>
              <a:t>Office </a:t>
            </a:r>
            <a:r>
              <a:rPr lang="ru-RU" altLang="ru-RU" sz="2400">
                <a:latin typeface="Times New Roman" panose="02020603050405020304" pitchFamily="18" charset="0"/>
              </a:rPr>
              <a:t>и прекратить его разработку.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latin typeface="Times New Roman" panose="02020603050405020304" pitchFamily="18" charset="0"/>
              </a:rPr>
              <a:t>В </a:t>
            </a:r>
            <a:r>
              <a:rPr lang="en-US" altLang="ru-RU" sz="2400">
                <a:latin typeface="Times New Roman" panose="02020603050405020304" pitchFamily="18" charset="0"/>
              </a:rPr>
              <a:t>Microsoft Office 2007 </a:t>
            </a:r>
            <a:r>
              <a:rPr lang="ru-RU" altLang="ru-RU" sz="2400">
                <a:latin typeface="Times New Roman" panose="02020603050405020304" pitchFamily="18" charset="0"/>
              </a:rPr>
              <a:t>программа </a:t>
            </a:r>
            <a:r>
              <a:rPr lang="en-US" altLang="ru-RU" sz="2400">
                <a:latin typeface="Times New Roman" panose="02020603050405020304" pitchFamily="18" charset="0"/>
              </a:rPr>
              <a:t>FrontPage </a:t>
            </a:r>
            <a:r>
              <a:rPr lang="ru-RU" altLang="ru-RU" sz="2400">
                <a:latin typeface="Times New Roman" panose="02020603050405020304" pitchFamily="18" charset="0"/>
              </a:rPr>
              <a:t>была заменена на </a:t>
            </a:r>
            <a:r>
              <a:rPr lang="en-US" altLang="ru-RU" sz="2400">
                <a:latin typeface="Times New Roman" panose="02020603050405020304" pitchFamily="18" charset="0"/>
              </a:rPr>
              <a:t>Microsoft </a:t>
            </a:r>
            <a:r>
              <a:rPr lang="en-US" altLang="ru-RU" sz="2400">
                <a:solidFill>
                  <a:srgbClr val="C00000"/>
                </a:solidFill>
                <a:latin typeface="Times New Roman" panose="02020603050405020304" pitchFamily="18" charset="0"/>
              </a:rPr>
              <a:t>SharePoint Designer.</a:t>
            </a:r>
            <a:endParaRPr lang="ru-RU" altLang="ru-RU" sz="240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Прямоугольник 1">
            <a:extLst>
              <a:ext uri="{FF2B5EF4-FFF2-40B4-BE49-F238E27FC236}">
                <a16:creationId xmlns:a16="http://schemas.microsoft.com/office/drawing/2014/main" id="{A77DDBA2-9FF4-4B7E-9EF5-C97C9DC61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373190"/>
            <a:ext cx="8351838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 b="1">
                <a:solidFill>
                  <a:srgbClr val="C00000"/>
                </a:solidFill>
                <a:latin typeface="Times New Roman" panose="02020603050405020304" pitchFamily="18" charset="0"/>
              </a:rPr>
              <a:t>«SharePoint» продукт который  </a:t>
            </a:r>
            <a:r>
              <a:rPr lang="ru-RU" altLang="ru-RU" sz="2400">
                <a:latin typeface="Times New Roman" panose="02020603050405020304" pitchFamily="18" charset="0"/>
              </a:rPr>
              <a:t>может быть использован для создания сайтов, корпоративных порталов предоставляющих пользователям возможность для совместной работы. Создаваемые на платформе «SharePoint» сайты могут быть использованы в качестве </a:t>
            </a:r>
            <a:r>
              <a:rPr lang="ru-RU" altLang="ru-RU" sz="2400" b="1">
                <a:solidFill>
                  <a:srgbClr val="C00000"/>
                </a:solidFill>
                <a:latin typeface="Times New Roman" panose="02020603050405020304" pitchFamily="18" charset="0"/>
              </a:rPr>
              <a:t>хранилища информации, знаний и документов.</a:t>
            </a:r>
            <a:endParaRPr lang="ru-RU" altLang="ru-RU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Прямоугольник 2">
            <a:extLst>
              <a:ext uri="{FF2B5EF4-FFF2-40B4-BE49-F238E27FC236}">
                <a16:creationId xmlns:a16="http://schemas.microsoft.com/office/drawing/2014/main" id="{06AC925E-4C01-4934-A6E3-D026BAC95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5" y="620713"/>
            <a:ext cx="4441825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 b="1">
                <a:solidFill>
                  <a:srgbClr val="000000"/>
                </a:solidFill>
                <a:latin typeface="Times New Roman" panose="02020603050405020304" pitchFamily="18" charset="0"/>
              </a:rPr>
              <a:t>OneNote</a:t>
            </a:r>
            <a:r>
              <a:rPr lang="ru-RU" altLang="ru-RU" sz="2400">
                <a:solidFill>
                  <a:srgbClr val="000000"/>
                </a:solidFill>
                <a:latin typeface="Times New Roman" panose="02020603050405020304" pitchFamily="18" charset="0"/>
              </a:rPr>
              <a:t> (</a:t>
            </a:r>
            <a:r>
              <a:rPr lang="ru-RU" altLang="ru-RU" sz="2400" b="1">
                <a:solidFill>
                  <a:srgbClr val="000000"/>
                </a:solidFill>
                <a:latin typeface="Times New Roman" panose="02020603050405020304" pitchFamily="18" charset="0"/>
              </a:rPr>
              <a:t>заметки)</a:t>
            </a:r>
            <a:r>
              <a:rPr lang="ru-RU" altLang="ru-RU" sz="2400">
                <a:solidFill>
                  <a:srgbClr val="000000"/>
                </a:solidFill>
                <a:latin typeface="Times New Roman" panose="02020603050405020304" pitchFamily="18" charset="0"/>
              </a:rPr>
              <a:t> можно установить на ПК, компьютере Mac, телефоне, планшете,   занести все свои идеи сохранить в онлайн-службе OneDrive, и обеспечить к ним постоянный доступ.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solidFill>
                  <a:srgbClr val="000000"/>
                </a:solidFill>
                <a:latin typeface="Times New Roman" panose="02020603050405020304" pitchFamily="18" charset="0"/>
              </a:rPr>
              <a:t>Возможено создание эскизов, можно добавить ссылки, веб-страницы, фотографии, видео, таблицы, вложить файлы.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solidFill>
                  <a:srgbClr val="000000"/>
                </a:solidFill>
                <a:latin typeface="Times New Roman" panose="02020603050405020304" pitchFamily="18" charset="0"/>
              </a:rPr>
              <a:t>В OneNote  можно рисовать, стирать, редактировать с помощью пальцев, пера или мыши.</a:t>
            </a:r>
          </a:p>
        </p:txBody>
      </p:sp>
      <p:pic>
        <p:nvPicPr>
          <p:cNvPr id="93187" name="Picture 2">
            <a:extLst>
              <a:ext uri="{FF2B5EF4-FFF2-40B4-BE49-F238E27FC236}">
                <a16:creationId xmlns:a16="http://schemas.microsoft.com/office/drawing/2014/main" id="{4C08D3AD-DD7E-48D3-94C2-C57975CC3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052640"/>
            <a:ext cx="3957638" cy="245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88" name="Picture 3">
            <a:extLst>
              <a:ext uri="{FF2B5EF4-FFF2-40B4-BE49-F238E27FC236}">
                <a16:creationId xmlns:a16="http://schemas.microsoft.com/office/drawing/2014/main" id="{C302AC3D-1A4C-4E11-B9B4-3D5E84808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690" y="692152"/>
            <a:ext cx="22764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Прямоугольник 1">
            <a:extLst>
              <a:ext uri="{FF2B5EF4-FFF2-40B4-BE49-F238E27FC236}">
                <a16:creationId xmlns:a16="http://schemas.microsoft.com/office/drawing/2014/main" id="{29DA97DA-46C7-4EDF-AF17-A941BCCFA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319090"/>
            <a:ext cx="4140200" cy="600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 b="1">
                <a:solidFill>
                  <a:srgbClr val="000000"/>
                </a:solidFill>
                <a:latin typeface="Times New Roman" panose="02020603050405020304" pitchFamily="18" charset="0"/>
              </a:rPr>
              <a:t>Office Online</a:t>
            </a:r>
            <a:r>
              <a:rPr lang="ru-RU" altLang="ru-RU" sz="2400">
                <a:solidFill>
                  <a:srgbClr val="000000"/>
                </a:solidFill>
                <a:latin typeface="Times New Roman" panose="02020603050405020304" pitchFamily="18" charset="0"/>
              </a:rPr>
              <a:t> объединяет приложения Office и дает возможность совместного редактирования в реальном времени. В Office Online можно работать вместе над общими документами, презентациями, электронными таблицами и записными книжками.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solidFill>
                  <a:srgbClr val="000000"/>
                </a:solidFill>
                <a:latin typeface="Times New Roman" panose="02020603050405020304" pitchFamily="18" charset="0"/>
              </a:rPr>
              <a:t>Создавать документы, электронные таблицы и презентации в Интернете или с помощью классической версии Office. Сохранять их в онлайн-хранилище OneDrive.</a:t>
            </a:r>
          </a:p>
        </p:txBody>
      </p:sp>
      <p:pic>
        <p:nvPicPr>
          <p:cNvPr id="94211" name="Picture 2">
            <a:extLst>
              <a:ext uri="{FF2B5EF4-FFF2-40B4-BE49-F238E27FC236}">
                <a16:creationId xmlns:a16="http://schemas.microsoft.com/office/drawing/2014/main" id="{532E6F61-573B-4F86-B239-BA6DCF5C8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8" y="2008188"/>
            <a:ext cx="4387850" cy="253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Прямоугольник 1">
            <a:extLst>
              <a:ext uri="{FF2B5EF4-FFF2-40B4-BE49-F238E27FC236}">
                <a16:creationId xmlns:a16="http://schemas.microsoft.com/office/drawing/2014/main" id="{B2A26469-8818-435B-BA38-DF1015C30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2" y="66675"/>
            <a:ext cx="878522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b="1">
                <a:solidFill>
                  <a:srgbClr val="C00000"/>
                </a:solidFill>
                <a:latin typeface="Times New Roman" panose="02020603050405020304" pitchFamily="18" charset="0"/>
              </a:rPr>
              <a:t>Связанные продукты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rgbClr val="C00000"/>
                </a:solidFill>
                <a:latin typeface="Times New Roman" panose="02020603050405020304" pitchFamily="18" charset="0"/>
              </a:rPr>
              <a:t>Exchange</a:t>
            </a:r>
            <a:r>
              <a:rPr lang="ru-RU" altLang="ru-RU" sz="240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2400">
                <a:solidFill>
                  <a:srgbClr val="000000"/>
                </a:solidFill>
                <a:latin typeface="Times New Roman" panose="02020603050405020304" pitchFamily="18" charset="0"/>
              </a:rPr>
              <a:t>- электронная почта корпоративного класса и повышенной  производительности с защитой корпоративных данных.</a:t>
            </a:r>
            <a:endParaRPr lang="en-US" altLang="ru-RU" sz="24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rgbClr val="C00000"/>
                </a:solidFill>
                <a:latin typeface="Times New Roman" panose="02020603050405020304" pitchFamily="18" charset="0"/>
              </a:rPr>
              <a:t>Lync</a:t>
            </a:r>
            <a:r>
              <a:rPr lang="ru-RU" altLang="ru-RU" sz="2400">
                <a:solidFill>
                  <a:srgbClr val="000000"/>
                </a:solidFill>
                <a:latin typeface="Times New Roman" panose="02020603050405020304" pitchFamily="18" charset="0"/>
              </a:rPr>
              <a:t> - </a:t>
            </a:r>
            <a:r>
              <a:rPr lang="ru-RU" altLang="ru-RU" sz="2400">
                <a:latin typeface="Times New Roman" panose="02020603050405020304" pitchFamily="18" charset="0"/>
              </a:rPr>
              <a:t>(бывш. </a:t>
            </a:r>
            <a:r>
              <a:rPr lang="ru-RU" altLang="ru-RU" sz="2400">
                <a:solidFill>
                  <a:srgbClr val="C00000"/>
                </a:solidFill>
                <a:latin typeface="Times New Roman" panose="02020603050405020304" pitchFamily="18" charset="0"/>
              </a:rPr>
              <a:t>Microsoft Communicator</a:t>
            </a:r>
            <a:r>
              <a:rPr lang="ru-RU" altLang="ru-RU" sz="2400">
                <a:latin typeface="Times New Roman" panose="02020603050405020304" pitchFamily="18" charset="0"/>
              </a:rPr>
              <a:t>) — предназначен для организации всестороннего общения между людьми, обеспечивает возможность общения посредством обмена мгновенными сообщениями, а также проведения голосовой и видео беседы. </a:t>
            </a:r>
          </a:p>
        </p:txBody>
      </p:sp>
      <p:pic>
        <p:nvPicPr>
          <p:cNvPr id="95235" name="Picture 2">
            <a:extLst>
              <a:ext uri="{FF2B5EF4-FFF2-40B4-BE49-F238E27FC236}">
                <a16:creationId xmlns:a16="http://schemas.microsoft.com/office/drawing/2014/main" id="{F62BE497-48D0-43C0-8D6F-EA32FE5F7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06"/>
          <a:stretch>
            <a:fillRect/>
          </a:stretch>
        </p:blipFill>
        <p:spPr bwMode="auto">
          <a:xfrm>
            <a:off x="1979615" y="3357565"/>
            <a:ext cx="5970587" cy="32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2">
            <a:extLst>
              <a:ext uri="{FF2B5EF4-FFF2-40B4-BE49-F238E27FC236}">
                <a16:creationId xmlns:a16="http://schemas.microsoft.com/office/drawing/2014/main" id="{C71EE1A5-8582-486D-9794-AEEC16F20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0"/>
            <a:ext cx="8305800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800" b="1">
                <a:solidFill>
                  <a:srgbClr val="000000"/>
                </a:solidFill>
                <a:cs typeface="Arial" panose="020B0604020202020204" pitchFamily="34" charset="0"/>
              </a:rPr>
              <a:t>Для приложений MS Office характерно наличие следующих отличительных признаков: </a:t>
            </a:r>
          </a:p>
          <a:p>
            <a:pPr algn="ctr" eaLnBrk="1" hangingPunct="1">
              <a:spcBef>
                <a:spcPct val="0"/>
              </a:spcBef>
            </a:pPr>
            <a:r>
              <a:rPr lang="ru-RU" altLang="ru-RU" sz="2800">
                <a:solidFill>
                  <a:srgbClr val="000000"/>
                </a:solidFill>
                <a:cs typeface="Arial" panose="020B0604020202020204" pitchFamily="34" charset="0"/>
              </a:rPr>
              <a:t>совместимость по данным; </a:t>
            </a:r>
          </a:p>
          <a:p>
            <a:pPr algn="ctr" eaLnBrk="1" hangingPunct="1">
              <a:spcBef>
                <a:spcPct val="0"/>
              </a:spcBef>
            </a:pPr>
            <a:r>
              <a:rPr lang="ru-RU" altLang="ru-RU" sz="2800">
                <a:solidFill>
                  <a:srgbClr val="000000"/>
                </a:solidFill>
                <a:cs typeface="Arial" panose="020B0604020202020204" pitchFamily="34" charset="0"/>
              </a:rPr>
              <a:t>унифицированный интерфейс; </a:t>
            </a:r>
          </a:p>
          <a:p>
            <a:pPr algn="ctr" eaLnBrk="1" hangingPunct="1">
              <a:spcBef>
                <a:spcPct val="0"/>
              </a:spcBef>
            </a:pPr>
            <a:r>
              <a:rPr lang="ru-RU" altLang="ru-RU" sz="2800">
                <a:solidFill>
                  <a:srgbClr val="000000"/>
                </a:solidFill>
                <a:cs typeface="Arial" panose="020B0604020202020204" pitchFamily="34" charset="0"/>
              </a:rPr>
              <a:t>единые средства программирования. </a:t>
            </a:r>
          </a:p>
        </p:txBody>
      </p:sp>
      <p:sp>
        <p:nvSpPr>
          <p:cNvPr id="96259" name="Text Box 3">
            <a:extLst>
              <a:ext uri="{FF2B5EF4-FFF2-40B4-BE49-F238E27FC236}">
                <a16:creationId xmlns:a16="http://schemas.microsoft.com/office/drawing/2014/main" id="{43D61CB8-C6C3-4363-8021-7982D5A77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667002"/>
            <a:ext cx="85344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800" b="1">
                <a:solidFill>
                  <a:srgbClr val="000000"/>
                </a:solidFill>
                <a:cs typeface="Arial" panose="020B0604020202020204" pitchFamily="34" charset="0"/>
              </a:rPr>
              <a:t>Документы Microsoft Office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800">
                <a:solidFill>
                  <a:srgbClr val="000000"/>
                </a:solidFill>
                <a:cs typeface="Arial" panose="020B0604020202020204" pitchFamily="34" charset="0"/>
              </a:rPr>
              <a:t>Единица данных в Microsoft Office называется документом.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800">
                <a:solidFill>
                  <a:srgbClr val="000000"/>
                </a:solidFill>
                <a:cs typeface="Arial" panose="020B0604020202020204" pitchFamily="34" charset="0"/>
              </a:rPr>
              <a:t>Документы классифицируются по типам в информации которая  в них хранится. Как правило, документы разных типов обрабатываются разными приложениями Microsoft Office.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1182</Words>
  <Application>Microsoft Office PowerPoint</Application>
  <PresentationFormat>Экран (4:3)</PresentationFormat>
  <Paragraphs>70</Paragraphs>
  <Slides>25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Wingdings</vt:lpstr>
      <vt:lpstr>Тема Office</vt:lpstr>
      <vt:lpstr>Прикладное программное обеспечение современных компьютерных технологий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Kibriyo</dc:creator>
  <cp:lastModifiedBy>Kibriyo</cp:lastModifiedBy>
  <cp:revision>2</cp:revision>
  <dcterms:created xsi:type="dcterms:W3CDTF">2025-10-24T13:39:17Z</dcterms:created>
  <dcterms:modified xsi:type="dcterms:W3CDTF">2025-10-24T13:41:21Z</dcterms:modified>
</cp:coreProperties>
</file>