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7" r:id="rId3"/>
    <p:sldId id="260" r:id="rId4"/>
    <p:sldId id="259" r:id="rId5"/>
    <p:sldId id="297" r:id="rId6"/>
    <p:sldId id="261" r:id="rId7"/>
    <p:sldId id="262" r:id="rId8"/>
    <p:sldId id="263" r:id="rId9"/>
    <p:sldId id="265" r:id="rId10"/>
    <p:sldId id="266" r:id="rId11"/>
    <p:sldId id="288" r:id="rId12"/>
    <p:sldId id="268" r:id="rId13"/>
    <p:sldId id="267" r:id="rId14"/>
    <p:sldId id="289" r:id="rId15"/>
    <p:sldId id="290" r:id="rId16"/>
    <p:sldId id="269" r:id="rId17"/>
    <p:sldId id="270" r:id="rId18"/>
    <p:sldId id="291" r:id="rId19"/>
    <p:sldId id="271" r:id="rId20"/>
    <p:sldId id="274" r:id="rId21"/>
    <p:sldId id="279" r:id="rId22"/>
    <p:sldId id="281" r:id="rId23"/>
    <p:sldId id="283" r:id="rId24"/>
    <p:sldId id="292" r:id="rId25"/>
    <p:sldId id="296" r:id="rId26"/>
    <p:sldId id="284" r:id="rId27"/>
  </p:sldIdLst>
  <p:sldSz cx="9144000" cy="6858000" type="screen4x3"/>
  <p:notesSz cx="6791325" cy="9921875"/>
  <p:defaultTextStyle>
    <a:defPPr>
      <a:defRPr lang="ru-RU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Раздел по умолчанию" id="{4F57ED1C-FAAA-4B36-A3CD-51A90BD96339}">
          <p14:sldIdLst>
            <p14:sldId id="258"/>
            <p14:sldId id="257"/>
            <p14:sldId id="260"/>
            <p14:sldId id="259"/>
            <p14:sldId id="297"/>
            <p14:sldId id="261"/>
            <p14:sldId id="262"/>
            <p14:sldId id="263"/>
            <p14:sldId id="265"/>
            <p14:sldId id="266"/>
            <p14:sldId id="288"/>
            <p14:sldId id="268"/>
            <p14:sldId id="267"/>
            <p14:sldId id="289"/>
            <p14:sldId id="290"/>
            <p14:sldId id="269"/>
            <p14:sldId id="270"/>
            <p14:sldId id="291"/>
            <p14:sldId id="271"/>
            <p14:sldId id="274"/>
            <p14:sldId id="279"/>
            <p14:sldId id="281"/>
            <p14:sldId id="283"/>
            <p14:sldId id="292"/>
            <p14:sldId id="296"/>
          </p14:sldIdLst>
        </p14:section>
        <p14:section name="Раздел без заголовка" id="{BD8AE2B2-716E-4AFC-8153-423FB8A58ADF}">
          <p14:sldIdLst>
            <p14:sldId id="284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66"/>
    <a:srgbClr val="99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59" d="100"/>
          <a:sy n="59" d="100"/>
        </p:scale>
        <p:origin x="1428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87092B-544D-4A33-B452-11A39F155543}" type="slidenum">
              <a:rPr lang="ru-RU"/>
              <a:pPr/>
              <a:t>‹#›</a:t>
            </a:fld>
            <a:endParaRPr lang="ru-RU"/>
          </a:p>
        </p:txBody>
      </p:sp>
    </p:spTree>
  </p:cSld>
  <p:clrMapOvr>
    <a:masterClrMapping/>
  </p:clrMapOvr>
  <p:transition spd="med" advClick="0" advTm="8000">
    <p:comb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9E6F014-5E36-4717-89C4-3BACBF023357}" type="slidenum">
              <a:rPr lang="ru-RU"/>
              <a:pPr/>
              <a:t>‹#›</a:t>
            </a:fld>
            <a:endParaRPr lang="ru-RU"/>
          </a:p>
        </p:txBody>
      </p:sp>
    </p:spTree>
  </p:cSld>
  <p:clrMapOvr>
    <a:masterClrMapping/>
  </p:clrMapOvr>
  <p:transition spd="med" advClick="0" advTm="8000">
    <p:comb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1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B069E2E-82A3-4ECA-8871-C64287416725}" type="slidenum">
              <a:rPr lang="ru-RU"/>
              <a:pPr/>
              <a:t>‹#›</a:t>
            </a:fld>
            <a:endParaRPr lang="ru-RU"/>
          </a:p>
        </p:txBody>
      </p:sp>
    </p:spTree>
  </p:cSld>
  <p:clrMapOvr>
    <a:masterClrMapping/>
  </p:clrMapOvr>
  <p:transition spd="med" advClick="0" advTm="8000">
    <p:comb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A29AF2F-D55B-4D17-B26B-BFEC3D848079}" type="slidenum">
              <a:rPr lang="ru-RU"/>
              <a:pPr/>
              <a:t>‹#›</a:t>
            </a:fld>
            <a:endParaRPr lang="ru-RU"/>
          </a:p>
        </p:txBody>
      </p:sp>
    </p:spTree>
  </p:cSld>
  <p:clrMapOvr>
    <a:masterClrMapping/>
  </p:clrMapOvr>
  <p:transition spd="med" advClick="0" advTm="8000">
    <p:comb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7" y="1535113"/>
            <a:ext cx="4041775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7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7A4CFDC-AB0D-4C4D-857A-C71F2E2BDA76}" type="slidenum">
              <a:rPr lang="ru-RU"/>
              <a:pPr/>
              <a:t>‹#›</a:t>
            </a:fld>
            <a:endParaRPr lang="ru-RU"/>
          </a:p>
        </p:txBody>
      </p:sp>
    </p:spTree>
  </p:cSld>
  <p:clrMapOvr>
    <a:masterClrMapping/>
  </p:clrMapOvr>
  <p:transition spd="med" advClick="0" advTm="8000">
    <p:comb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3F1E477-D8FD-4764-93A1-BA6D75F689FA}" type="slidenum">
              <a:rPr lang="ru-RU"/>
              <a:pPr/>
              <a:t>‹#›</a:t>
            </a:fld>
            <a:endParaRPr lang="ru-RU"/>
          </a:p>
        </p:txBody>
      </p:sp>
    </p:spTree>
  </p:cSld>
  <p:clrMapOvr>
    <a:masterClrMapping/>
  </p:clrMapOvr>
  <p:transition spd="med" advClick="0" advTm="8000">
    <p:comb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DFE14C1-AAA5-45CE-B084-2C0D4BAE5C17}" type="slidenum">
              <a:rPr lang="ru-RU"/>
              <a:pPr/>
              <a:t>‹#›</a:t>
            </a:fld>
            <a:endParaRPr lang="ru-RU"/>
          </a:p>
        </p:txBody>
      </p:sp>
    </p:spTree>
  </p:cSld>
  <p:clrMapOvr>
    <a:masterClrMapping/>
  </p:clrMapOvr>
  <p:transition spd="med" advClick="0" advTm="8000">
    <p:comb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2" y="273049"/>
            <a:ext cx="3008313" cy="11620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2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2" y="1435102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38D4A4E-109C-4029-B0CB-BCF472C8BBBC}" type="slidenum">
              <a:rPr lang="ru-RU"/>
              <a:pPr/>
              <a:t>‹#›</a:t>
            </a:fld>
            <a:endParaRPr lang="ru-RU"/>
          </a:p>
        </p:txBody>
      </p:sp>
    </p:spTree>
  </p:cSld>
  <p:clrMapOvr>
    <a:masterClrMapping/>
  </p:clrMapOvr>
  <p:transition spd="med" advClick="0" advTm="8000">
    <p:comb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9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894FFF4-7F0B-4B64-A0CD-48CA1F3F2AC9}" type="slidenum">
              <a:rPr lang="ru-RU"/>
              <a:pPr/>
              <a:t>‹#›</a:t>
            </a:fld>
            <a:endParaRPr lang="ru-RU"/>
          </a:p>
        </p:txBody>
      </p:sp>
    </p:spTree>
  </p:cSld>
  <p:clrMapOvr>
    <a:masterClrMapping/>
  </p:clrMapOvr>
  <p:transition spd="med" advClick="0" advTm="8000">
    <p:comb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5150B87-96F8-429D-AD7C-4C526473C4C2}" type="slidenum">
              <a:rPr lang="ru-RU"/>
              <a:pPr/>
              <a:t>‹#›</a:t>
            </a:fld>
            <a:endParaRPr lang="ru-RU"/>
          </a:p>
        </p:txBody>
      </p:sp>
    </p:spTree>
  </p:cSld>
  <p:clrMapOvr>
    <a:masterClrMapping/>
  </p:clrMapOvr>
  <p:transition spd="med" advClick="0" advTm="8000">
    <p:comb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2057400" cy="5851525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9"/>
            <a:ext cx="6019800" cy="5851525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B1933F9-6C7A-4530-8989-8E43C9D883B6}" type="slidenum">
              <a:rPr lang="ru-RU"/>
              <a:pPr/>
              <a:t>‹#›</a:t>
            </a:fld>
            <a:endParaRPr lang="ru-RU"/>
          </a:p>
        </p:txBody>
      </p:sp>
    </p:spTree>
  </p:cSld>
  <p:clrMapOvr>
    <a:masterClrMapping/>
  </p:clrMapOvr>
  <p:transition spd="med" advClick="0" advTm="8000">
    <p:comb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Заголовок и таблиц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9"/>
            <a:ext cx="8229600" cy="1143000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аблица 2"/>
          <p:cNvSpPr>
            <a:spLocks noGrp="1"/>
          </p:cNvSpPr>
          <p:nvPr>
            <p:ph type="tbl" idx="1"/>
          </p:nvPr>
        </p:nvSpPr>
        <p:spPr>
          <a:xfrm>
            <a:off x="457200" y="1600201"/>
            <a:ext cx="8229600" cy="4525963"/>
          </a:xfrm>
        </p:spPr>
        <p:txBody>
          <a:bodyPr/>
          <a:lstStyle/>
          <a:p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476251"/>
          </a:xfrm>
        </p:spPr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1"/>
          </a:xfrm>
        </p:spPr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6553200" y="6245225"/>
            <a:ext cx="2133600" cy="476251"/>
          </a:xfrm>
        </p:spPr>
        <p:txBody>
          <a:bodyPr/>
          <a:lstStyle>
            <a:lvl1pPr>
              <a:defRPr/>
            </a:lvl1pPr>
          </a:lstStyle>
          <a:p>
            <a:fld id="{5FD1E62E-82A4-430C-BAF2-847428A52EF4}" type="slidenum">
              <a:rPr lang="ru-RU"/>
              <a:pPr/>
              <a:t>‹#›</a:t>
            </a:fld>
            <a:endParaRPr lang="ru-RU"/>
          </a:p>
        </p:txBody>
      </p:sp>
    </p:spTree>
  </p:cSld>
  <p:clrMapOvr>
    <a:masterClrMapping/>
  </p:clrMapOvr>
  <p:transition spd="med" advClick="0" advTm="8000">
    <p:comb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4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9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ru-RU"/>
              <a:t>Образец заголовка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1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ru-RU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ru-RU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67072EBE-46B4-42DA-81BD-33CB6E8156CC}" type="slidenum">
              <a:rPr lang="ru-RU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ransition spd="med" advClick="0" advTm="8000">
    <p:comb/>
  </p:transition>
  <p:txStyles>
    <p:titleStyle>
      <a:lvl1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gif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323528" y="4437112"/>
            <a:ext cx="8496944" cy="1470025"/>
          </a:xfrm>
        </p:spPr>
        <p:txBody>
          <a:bodyPr/>
          <a:lstStyle/>
          <a:p>
            <a:r>
              <a:rPr lang="ru-RU" sz="5400" b="1" dirty="0">
                <a:solidFill>
                  <a:schemeClr val="bg1"/>
                </a:solidFill>
                <a:latin typeface="Monotype Corsiva" pitchFamily="66" charset="0"/>
              </a:rPr>
              <a:t>Информационная безопасность в сети Интернет</a:t>
            </a:r>
          </a:p>
        </p:txBody>
      </p:sp>
      <p:sp>
        <p:nvSpPr>
          <p:cNvPr id="3" name="Прямоугольник с двумя вырезанными противолежащими углами 2"/>
          <p:cNvSpPr/>
          <p:nvPr/>
        </p:nvSpPr>
        <p:spPr>
          <a:xfrm>
            <a:off x="4211960" y="260648"/>
            <a:ext cx="4572000" cy="771346"/>
          </a:xfrm>
          <a:prstGeom prst="snip2DiagRect">
            <a:avLst/>
          </a:prstGeom>
          <a:solidFill>
            <a:schemeClr val="lt1">
              <a:alpha val="37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ru-RU" b="1" i="1" dirty="0">
                <a:solidFill>
                  <a:srgbClr val="002060"/>
                </a:solidFill>
              </a:rPr>
              <a:t>9 февраля - Всемирный день безопасного Интернета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95536" y="404664"/>
            <a:ext cx="575799" cy="369332"/>
          </a:xfrm>
          <a:prstGeom prst="rect">
            <a:avLst/>
          </a:prstGeom>
          <a:solidFill>
            <a:schemeClr val="lt1">
              <a:alpha val="52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ru-RU" b="1" i="1" dirty="0">
                <a:solidFill>
                  <a:srgbClr val="002060"/>
                </a:solidFill>
              </a:rPr>
              <a:t>12+</a:t>
            </a:r>
          </a:p>
        </p:txBody>
      </p:sp>
    </p:spTree>
  </p:cSld>
  <p:clrMapOvr>
    <a:masterClrMapping/>
  </p:clrMapOvr>
  <p:transition spd="med" advClick="0" advTm="8000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3050"/>
                            </p:stCondLst>
                            <p:childTnLst>
                              <p:par>
                                <p:cTn id="12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09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09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4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8" grpId="0"/>
      <p:bldP spid="3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188914"/>
            <a:ext cx="8229600" cy="647700"/>
          </a:xfrm>
        </p:spPr>
        <p:txBody>
          <a:bodyPr/>
          <a:lstStyle/>
          <a:p>
            <a:r>
              <a:rPr lang="ru-RU" sz="4000" b="1" dirty="0">
                <a:solidFill>
                  <a:schemeClr val="bg1"/>
                </a:solidFill>
              </a:rPr>
              <a:t>Медиаграмотность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9390" y="1196974"/>
            <a:ext cx="6130925" cy="5073651"/>
          </a:xfrm>
        </p:spPr>
        <p:txBody>
          <a:bodyPr/>
          <a:lstStyle/>
          <a:p>
            <a:pPr algn="ctr">
              <a:lnSpc>
                <a:spcPct val="80000"/>
              </a:lnSpc>
            </a:pPr>
            <a:r>
              <a:rPr lang="ru-RU" sz="2400" b="1" dirty="0">
                <a:solidFill>
                  <a:srgbClr val="000066"/>
                </a:solidFill>
                <a:latin typeface="Book Antiqua" panose="02040602050305030304" pitchFamily="18" charset="0"/>
              </a:rPr>
              <a:t>грамотное использование детьми и подростками инструментов, обеспечивающих доступ к информации,</a:t>
            </a:r>
          </a:p>
          <a:p>
            <a:pPr algn="ctr">
              <a:lnSpc>
                <a:spcPct val="80000"/>
              </a:lnSpc>
            </a:pPr>
            <a:r>
              <a:rPr lang="ru-RU" sz="2400" b="1" dirty="0">
                <a:solidFill>
                  <a:srgbClr val="000066"/>
                </a:solidFill>
                <a:latin typeface="Book Antiqua" panose="02040602050305030304" pitchFamily="18" charset="0"/>
              </a:rPr>
              <a:t> развитие критического анализа содержания информации и привития коммуникативных навыков, </a:t>
            </a:r>
          </a:p>
          <a:p>
            <a:pPr algn="ctr">
              <a:lnSpc>
                <a:spcPct val="80000"/>
              </a:lnSpc>
            </a:pPr>
            <a:r>
              <a:rPr lang="ru-RU" sz="2400" b="1" dirty="0">
                <a:solidFill>
                  <a:srgbClr val="000066"/>
                </a:solidFill>
                <a:latin typeface="Book Antiqua" panose="02040602050305030304" pitchFamily="18" charset="0"/>
              </a:rPr>
              <a:t>содействие профессиональной подготовке подростков и молодежи в целях позитивного и ответственного использования ими информационных и коммуникационных технологий и услуг.</a:t>
            </a:r>
          </a:p>
        </p:txBody>
      </p:sp>
      <p:pic>
        <p:nvPicPr>
          <p:cNvPr id="3076" name="Picture 4" descr="инет1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227765" y="1557338"/>
            <a:ext cx="2757487" cy="3979863"/>
          </a:xfrm>
          <a:prstGeom prst="rect">
            <a:avLst/>
          </a:prstGeom>
          <a:noFill/>
        </p:spPr>
      </p:pic>
    </p:spTree>
  </p:cSld>
  <p:clrMapOvr>
    <a:masterClrMapping/>
  </p:clrMapOvr>
  <p:transition spd="med" advClick="0" advTm="8000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0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30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30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1000"/>
                                        <p:tgtEl>
                                          <p:spTgt spid="30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5" grpId="0" build="p"/>
      <p:bldP spid="3075" grpI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188914"/>
            <a:ext cx="8229600" cy="647700"/>
          </a:xfrm>
        </p:spPr>
        <p:txBody>
          <a:bodyPr/>
          <a:lstStyle/>
          <a:p>
            <a:r>
              <a:rPr lang="ru-RU" sz="4000" b="1" dirty="0">
                <a:solidFill>
                  <a:schemeClr val="bg1"/>
                </a:solidFill>
              </a:rPr>
              <a:t>Нормативная база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9512" y="1412776"/>
            <a:ext cx="8496944" cy="2664296"/>
          </a:xfrm>
        </p:spPr>
        <p:txBody>
          <a:bodyPr/>
          <a:lstStyle/>
          <a:p>
            <a:pPr marL="174625" indent="0"/>
            <a:r>
              <a:rPr lang="ru-RU" sz="1400" dirty="0"/>
              <a:t>Принят Законодательной палатой 15 августа 2017 года</a:t>
            </a:r>
            <a:br>
              <a:rPr lang="ru-RU" sz="1400" dirty="0"/>
            </a:br>
            <a:r>
              <a:rPr lang="ru-RU" sz="1400" dirty="0"/>
              <a:t>Одобрен Сенатом 24 августа 2017 года</a:t>
            </a:r>
          </a:p>
          <a:p>
            <a:pPr marL="174625" indent="0"/>
            <a:r>
              <a:rPr lang="ru-RU" sz="1400" b="1" dirty="0"/>
              <a:t>Глава 1. Общие положения</a:t>
            </a:r>
          </a:p>
          <a:p>
            <a:pPr marL="174625" indent="0"/>
            <a:r>
              <a:rPr lang="ru-RU" sz="1400" b="1" dirty="0"/>
              <a:t>Статья 1. Цель настоящего Закона</a:t>
            </a:r>
          </a:p>
          <a:p>
            <a:pPr marL="174625" indent="0"/>
            <a:r>
              <a:rPr lang="ru-RU" sz="1400" dirty="0"/>
              <a:t>Целью настоящего Закона является регулирование отношений в области защиты детей от информации, наносящей вред их здоровью.</a:t>
            </a:r>
          </a:p>
          <a:p>
            <a:pPr marL="174625" indent="0"/>
            <a:r>
              <a:rPr lang="ru-RU" sz="1400" b="1" dirty="0"/>
              <a:t>Статья 2. Законодательство о защите детей от информации, наносящей вред их здоровью</a:t>
            </a:r>
          </a:p>
          <a:p>
            <a:pPr marL="174625" indent="0"/>
            <a:r>
              <a:rPr lang="ru-RU" sz="1400" dirty="0"/>
              <a:t>Законодательство о защите детей от информации, наносящей вред их здоровью, состоит из настоящего Закона и других актов законодательства.</a:t>
            </a:r>
          </a:p>
          <a:p>
            <a:pPr marL="174625" indent="0"/>
            <a:r>
              <a:rPr lang="ru-RU" sz="1400" dirty="0"/>
              <a:t>Если международным договором Республики Узбекистан установлены иные правила, чем те, которые предусмотрены законодательством Республики Узбекистан о защите детей от информации, наносящей вред их здоровью, то применяются правила международного договора.</a:t>
            </a:r>
          </a:p>
        </p:txBody>
      </p:sp>
      <p:pic>
        <p:nvPicPr>
          <p:cNvPr id="6148" name="Picture 4" descr="101106438025443802"/>
          <p:cNvPicPr>
            <a:picLocks noChangeAspect="1" noChangeArrowheads="1"/>
          </p:cNvPicPr>
          <p:nvPr/>
        </p:nvPicPr>
        <p:blipFill>
          <a:blip r:embed="rId2" cstate="print"/>
          <a:stretch>
            <a:fillRect/>
          </a:stretch>
        </p:blipFill>
        <p:spPr bwMode="auto">
          <a:xfrm>
            <a:off x="5157690" y="4653731"/>
            <a:ext cx="3540223" cy="1582985"/>
          </a:xfrm>
          <a:prstGeom prst="rect">
            <a:avLst/>
          </a:prstGeom>
          <a:noFill/>
        </p:spPr>
      </p:pic>
      <p:pic>
        <p:nvPicPr>
          <p:cNvPr id="6149" name="Picture 5" descr="P1060876"/>
          <p:cNvPicPr>
            <a:picLocks noChangeAspect="1" noChangeArrowheads="1"/>
          </p:cNvPicPr>
          <p:nvPr/>
        </p:nvPicPr>
        <p:blipFill>
          <a:blip r:embed="rId3" cstate="print"/>
          <a:stretch>
            <a:fillRect/>
          </a:stretch>
        </p:blipFill>
        <p:spPr bwMode="auto">
          <a:xfrm>
            <a:off x="827584" y="4579898"/>
            <a:ext cx="2843212" cy="1895474"/>
          </a:xfrm>
          <a:prstGeom prst="rect">
            <a:avLst/>
          </a:prstGeom>
          <a:noFill/>
        </p:spPr>
      </p:pic>
      <p:sp>
        <p:nvSpPr>
          <p:cNvPr id="6" name="Прямоугольник 5"/>
          <p:cNvSpPr/>
          <p:nvPr/>
        </p:nvSpPr>
        <p:spPr>
          <a:xfrm>
            <a:off x="395536" y="980728"/>
            <a:ext cx="8568952" cy="5448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269875" algn="ctr">
              <a:lnSpc>
                <a:spcPct val="80000"/>
              </a:lnSpc>
              <a:buFontTx/>
              <a:buNone/>
            </a:pPr>
            <a:r>
              <a:rPr lang="ru-RU" b="1" i="1" dirty="0">
                <a:solidFill>
                  <a:srgbClr val="990000"/>
                </a:solidFill>
                <a:latin typeface="Book Antiqua" panose="02040602050305030304" pitchFamily="18" charset="0"/>
              </a:rPr>
              <a:t>Закон Республики Узбекистан</a:t>
            </a:r>
          </a:p>
          <a:p>
            <a:pPr marL="0" indent="269875" algn="ctr">
              <a:lnSpc>
                <a:spcPct val="80000"/>
              </a:lnSpc>
              <a:buFontTx/>
              <a:buNone/>
            </a:pPr>
            <a:r>
              <a:rPr lang="ru-RU" b="1" i="1" dirty="0">
                <a:solidFill>
                  <a:srgbClr val="990000"/>
                </a:solidFill>
                <a:latin typeface="Book Antiqua" panose="02040602050305030304" pitchFamily="18" charset="0"/>
              </a:rPr>
              <a:t>О защите детей от информации, наносящей вред их здоровью</a:t>
            </a:r>
          </a:p>
        </p:txBody>
      </p:sp>
    </p:spTree>
  </p:cSld>
  <p:clrMapOvr>
    <a:masterClrMapping/>
  </p:clrMapOvr>
  <p:transition spd="med" advClick="0" advTm="8000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1000"/>
                                        <p:tgtEl>
                                          <p:spTgt spid="6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" dur="1000"/>
                                        <p:tgtEl>
                                          <p:spTgt spid="6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" dur="1000"/>
                                        <p:tgtEl>
                                          <p:spTgt spid="6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" dur="1000"/>
                                        <p:tgtEl>
                                          <p:spTgt spid="61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" dur="1000"/>
                                        <p:tgtEl>
                                          <p:spTgt spid="61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5" dur="1000"/>
                                        <p:tgtEl>
                                          <p:spTgt spid="61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8" dur="1000"/>
                                        <p:tgtEl>
                                          <p:spTgt spid="61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1" dur="1000"/>
                                        <p:tgtEl>
                                          <p:spTgt spid="6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4" dur="1000"/>
                                        <p:tgtEl>
                                          <p:spTgt spid="6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7" grpId="0" build="p"/>
      <p:bldP spid="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5" y="188914"/>
            <a:ext cx="8208143" cy="647700"/>
          </a:xfrm>
        </p:spPr>
        <p:txBody>
          <a:bodyPr/>
          <a:lstStyle/>
          <a:p>
            <a:r>
              <a:rPr lang="ru-RU" sz="3400" b="1" dirty="0">
                <a:solidFill>
                  <a:schemeClr val="bg1"/>
                </a:solidFill>
              </a:rPr>
              <a:t>Информационная безопасность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1196752"/>
            <a:ext cx="8892480" cy="1656183"/>
          </a:xfrm>
        </p:spPr>
        <p:txBody>
          <a:bodyPr/>
          <a:lstStyle/>
          <a:p>
            <a:pPr algn="ctr">
              <a:lnSpc>
                <a:spcPct val="80000"/>
              </a:lnSpc>
              <a:buFontTx/>
              <a:buNone/>
            </a:pPr>
            <a:r>
              <a:rPr lang="ru-RU" sz="2000" dirty="0">
                <a:latin typeface="Book Antiqua" pitchFamily="18" charset="0"/>
              </a:rPr>
              <a:t> </a:t>
            </a:r>
            <a:r>
              <a:rPr lang="ru-RU" sz="2400" b="1" dirty="0">
                <a:solidFill>
                  <a:srgbClr val="000066"/>
                </a:solidFill>
                <a:latin typeface="Book Antiqua" pitchFamily="18" charset="0"/>
              </a:rPr>
              <a:t>это состояние защищенности детей, при котором отсутствует риск, связанный с причинением информацией, в том числе  распространяемой в сети Интернет, вреда их здоровью, физическому, психическому,  духовному и нравственному развитию</a:t>
            </a:r>
            <a:r>
              <a:rPr lang="ru-RU" sz="2400" dirty="0">
                <a:solidFill>
                  <a:srgbClr val="000066"/>
                </a:solidFill>
                <a:latin typeface="Book Antiqua" pitchFamily="18" charset="0"/>
              </a:rPr>
              <a:t>.</a:t>
            </a:r>
          </a:p>
        </p:txBody>
      </p:sp>
      <p:pic>
        <p:nvPicPr>
          <p:cNvPr id="5125" name="Picture 5" descr="теле2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683568" y="3573016"/>
            <a:ext cx="2971800" cy="2225675"/>
          </a:xfrm>
          <a:prstGeom prst="rect">
            <a:avLst/>
          </a:prstGeom>
          <a:noFill/>
        </p:spPr>
      </p:pic>
    </p:spTree>
  </p:cSld>
  <p:clrMapOvr>
    <a:masterClrMapping/>
  </p:clrMapOvr>
  <p:transition spd="med" advClick="0" advTm="8000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5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1000"/>
                                        <p:tgtEl>
                                          <p:spTgt spid="5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8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 rot="787015">
            <a:off x="6394566" y="3914025"/>
            <a:ext cx="2647228" cy="24052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100" name="Rectangle 4"/>
          <p:cNvSpPr>
            <a:spLocks noChangeArrowheads="1"/>
          </p:cNvSpPr>
          <p:nvPr/>
        </p:nvSpPr>
        <p:spPr bwMode="auto">
          <a:xfrm>
            <a:off x="539552" y="404083"/>
            <a:ext cx="83820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 algn="ctr">
              <a:defRPr/>
            </a:pPr>
            <a:r>
              <a:rPr lang="ru-RU" sz="2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cs typeface="Arial" pitchFamily="34" charset="0"/>
              </a:rPr>
              <a:t>Проблемы  информационной безопасности</a:t>
            </a:r>
          </a:p>
        </p:txBody>
      </p:sp>
      <p:sp>
        <p:nvSpPr>
          <p:cNvPr id="3076" name="Rectangle 5"/>
          <p:cNvSpPr>
            <a:spLocks noChangeArrowheads="1"/>
          </p:cNvSpPr>
          <p:nvPr/>
        </p:nvSpPr>
        <p:spPr bwMode="auto">
          <a:xfrm>
            <a:off x="395536" y="1433680"/>
            <a:ext cx="8136904" cy="40626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algn="l"/>
            <a:endParaRPr lang="ru-RU" dirty="0">
              <a:latin typeface="Book Antiqua" pitchFamily="18" charset="0"/>
            </a:endParaRPr>
          </a:p>
          <a:p>
            <a:pPr algn="l"/>
            <a:r>
              <a:rPr lang="ru-RU" sz="2400" b="1" dirty="0">
                <a:solidFill>
                  <a:srgbClr val="0000CC"/>
                </a:solidFill>
                <a:latin typeface="Book Antiqua" pitchFamily="18" charset="0"/>
              </a:rPr>
              <a:t>Безопасность</a:t>
            </a:r>
            <a:r>
              <a:rPr lang="ru-RU" sz="2400" b="1" dirty="0">
                <a:latin typeface="Book Antiqua" pitchFamily="18" charset="0"/>
              </a:rPr>
              <a:t> – отсутствие угроз, либо состояние  защищенности от угроз.</a:t>
            </a:r>
          </a:p>
          <a:p>
            <a:r>
              <a:rPr lang="ru-RU" sz="2400" b="1" dirty="0">
                <a:solidFill>
                  <a:srgbClr val="0000CC"/>
                </a:solidFill>
                <a:latin typeface="Book Antiqua" pitchFamily="18" charset="0"/>
              </a:rPr>
              <a:t>Информация</a:t>
            </a:r>
            <a:r>
              <a:rPr lang="ru-RU" sz="2400" b="1" dirty="0">
                <a:latin typeface="Book Antiqua" pitchFamily="18" charset="0"/>
              </a:rPr>
              <a:t> –  сведения или сообщения.</a:t>
            </a:r>
            <a:r>
              <a:rPr lang="ru-RU" sz="2400" b="1" dirty="0">
                <a:solidFill>
                  <a:srgbClr val="0000CC"/>
                </a:solidFill>
                <a:latin typeface="Book Antiqua" pitchFamily="18" charset="0"/>
              </a:rPr>
              <a:t> </a:t>
            </a:r>
          </a:p>
          <a:p>
            <a:r>
              <a:rPr lang="ru-RU" sz="2400" b="1" dirty="0">
                <a:solidFill>
                  <a:srgbClr val="0000CC"/>
                </a:solidFill>
                <a:latin typeface="Book Antiqua" pitchFamily="18" charset="0"/>
              </a:rPr>
              <a:t>Угроза информационной безопасности</a:t>
            </a:r>
            <a:r>
              <a:rPr lang="ru-RU" sz="2400" b="1" dirty="0">
                <a:latin typeface="Book Antiqua" pitchFamily="18" charset="0"/>
              </a:rPr>
              <a:t> — совокупность условий и факторов, создающих опасность жизненно важным интересам личности, общества и государства в информационной сфере.</a:t>
            </a:r>
          </a:p>
          <a:p>
            <a:pPr algn="l"/>
            <a:endParaRPr lang="ru-RU" sz="2400" b="1" dirty="0">
              <a:latin typeface="Book Antiqua" pitchFamily="18" charset="0"/>
            </a:endParaRPr>
          </a:p>
          <a:p>
            <a:pPr algn="l"/>
            <a:endParaRPr lang="ru-RU" sz="2400" b="1" dirty="0">
              <a:latin typeface="Book Antiqua" pitchFamily="18" charset="0"/>
            </a:endParaRPr>
          </a:p>
          <a:p>
            <a:pPr algn="l"/>
            <a:endParaRPr lang="ru-RU" sz="2400" b="1" dirty="0">
              <a:latin typeface="Book Antiqua" pitchFamily="18" charset="0"/>
            </a:endParaRPr>
          </a:p>
        </p:txBody>
      </p:sp>
      <p:sp>
        <p:nvSpPr>
          <p:cNvPr id="4102" name="Rectangle 6"/>
          <p:cNvSpPr>
            <a:spLocks noChangeArrowheads="1"/>
          </p:cNvSpPr>
          <p:nvPr/>
        </p:nvSpPr>
        <p:spPr bwMode="auto">
          <a:xfrm>
            <a:off x="1043608" y="1052736"/>
            <a:ext cx="3276859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>
              <a:defRPr/>
            </a:pPr>
            <a:r>
              <a:rPr lang="ru-RU" sz="2800" b="1" u="sng" dirty="0">
                <a:solidFill>
                  <a:srgbClr val="0000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Garamond" pitchFamily="18" charset="0"/>
              </a:rPr>
              <a:t>Основные понятия</a:t>
            </a:r>
          </a:p>
        </p:txBody>
      </p:sp>
      <p:pic>
        <p:nvPicPr>
          <p:cNvPr id="3" name="Рисунок 2" descr="Предупреждение со сплошной заливкой">
            <a:extLst>
              <a:ext uri="{FF2B5EF4-FFF2-40B4-BE49-F238E27FC236}">
                <a16:creationId xmlns:a16="http://schemas.microsoft.com/office/drawing/2014/main" id="{FE961F21-FBAF-47A9-892F-C03E7FA5CDD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904256" y="4951989"/>
            <a:ext cx="914400" cy="914400"/>
          </a:xfrm>
          <a:prstGeom prst="rect">
            <a:avLst/>
          </a:prstGeom>
        </p:spPr>
      </p:pic>
    </p:spTree>
  </p:cSld>
  <p:clrMapOvr>
    <a:masterClrMapping/>
  </p:clrMapOvr>
  <p:transition spd="med" advClick="0" advTm="8000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4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1000"/>
                                        <p:tgtEl>
                                          <p:spTgt spid="30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1000"/>
                                        <p:tgtEl>
                                          <p:spTgt spid="3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6" grpId="0"/>
      <p:bldP spid="410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188914"/>
            <a:ext cx="8229600" cy="647700"/>
          </a:xfrm>
        </p:spPr>
        <p:txBody>
          <a:bodyPr/>
          <a:lstStyle/>
          <a:p>
            <a:r>
              <a:rPr lang="ru-RU" sz="4000" b="1" dirty="0">
                <a:solidFill>
                  <a:schemeClr val="bg1"/>
                </a:solidFill>
              </a:rPr>
              <a:t>Статистика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052513"/>
            <a:ext cx="8229600" cy="2592512"/>
          </a:xfrm>
        </p:spPr>
        <p:txBody>
          <a:bodyPr/>
          <a:lstStyle/>
          <a:p>
            <a:pPr algn="ctr">
              <a:buFontTx/>
              <a:buNone/>
            </a:pPr>
            <a:r>
              <a:rPr lang="ru-RU" dirty="0">
                <a:latin typeface="Book Antiqua" pitchFamily="18" charset="0"/>
              </a:rPr>
              <a:t> </a:t>
            </a:r>
            <a:r>
              <a:rPr lang="ru-RU" b="1" dirty="0">
                <a:solidFill>
                  <a:srgbClr val="000066"/>
                </a:solidFill>
                <a:latin typeface="Book Antiqua" pitchFamily="18" charset="0"/>
              </a:rPr>
              <a:t>10 миллионов детей в возрасте до 14 лет активно пользуется Интернетом, что составляет 18% интернет -аудитории  нашей страны.</a:t>
            </a:r>
          </a:p>
          <a:p>
            <a:pPr>
              <a:buFontTx/>
              <a:buNone/>
            </a:pPr>
            <a:endParaRPr lang="ru-RU" b="1" dirty="0">
              <a:latin typeface="Book Antiqua" pitchFamily="18" charset="0"/>
            </a:endParaRPr>
          </a:p>
        </p:txBody>
      </p:sp>
      <p:pic>
        <p:nvPicPr>
          <p:cNvPr id="7173" name="Picture 5" descr="ПК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003802" y="3500438"/>
            <a:ext cx="3673475" cy="2811463"/>
          </a:xfrm>
          <a:prstGeom prst="rect">
            <a:avLst/>
          </a:prstGeom>
          <a:noFill/>
        </p:spPr>
      </p:pic>
      <p:pic>
        <p:nvPicPr>
          <p:cNvPr id="7174" name="Picture 6" descr="инет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39750" y="3573465"/>
            <a:ext cx="2717800" cy="2808287"/>
          </a:xfrm>
          <a:prstGeom prst="rect">
            <a:avLst/>
          </a:prstGeom>
          <a:noFill/>
        </p:spPr>
      </p:pic>
    </p:spTree>
  </p:cSld>
  <p:clrMapOvr>
    <a:masterClrMapping/>
  </p:clrMapOvr>
  <p:transition spd="med" advClick="0" advTm="8000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1000"/>
                                        <p:tgtEl>
                                          <p:spTgt spid="7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1000"/>
                                        <p:tgtEl>
                                          <p:spTgt spid="7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" dur="1000"/>
                                        <p:tgtEl>
                                          <p:spTgt spid="7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71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8" name="Picture 6" descr="ТЕЛЕФОН (1)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724525" y="4149726"/>
            <a:ext cx="3163888" cy="2125663"/>
          </a:xfrm>
          <a:prstGeom prst="rect">
            <a:avLst/>
          </a:prstGeom>
          <a:noFill/>
        </p:spPr>
      </p:pic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188914"/>
            <a:ext cx="8229600" cy="647700"/>
          </a:xfrm>
        </p:spPr>
        <p:txBody>
          <a:bodyPr/>
          <a:lstStyle/>
          <a:p>
            <a:r>
              <a:rPr lang="ru-RU" sz="4000" b="1" dirty="0">
                <a:solidFill>
                  <a:schemeClr val="bg1"/>
                </a:solidFill>
              </a:rPr>
              <a:t>Статистика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052512"/>
            <a:ext cx="5627688" cy="5073651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ru-RU" sz="2400" b="1" dirty="0">
                <a:solidFill>
                  <a:srgbClr val="000066"/>
                </a:solidFill>
                <a:latin typeface="Book Antiqua" panose="02040602050305030304" pitchFamily="18" charset="0"/>
              </a:rPr>
              <a:t>В мире мобильными телефонами пользуются 1.600.000.000 молодых юношей и девушек </a:t>
            </a:r>
          </a:p>
          <a:p>
            <a:pPr>
              <a:lnSpc>
                <a:spcPct val="90000"/>
              </a:lnSpc>
            </a:pPr>
            <a:r>
              <a:rPr lang="ru-RU" sz="2400" b="1" dirty="0">
                <a:solidFill>
                  <a:srgbClr val="000066"/>
                </a:solidFill>
                <a:latin typeface="Book Antiqua" panose="02040602050305030304" pitchFamily="18" charset="0"/>
              </a:rPr>
              <a:t>Уже к 2003 году  количество мобильных телефонов в России достигло 31,5 млн. и превысило число стационарных аппаратов </a:t>
            </a:r>
          </a:p>
          <a:p>
            <a:pPr>
              <a:lnSpc>
                <a:spcPct val="90000"/>
              </a:lnSpc>
            </a:pPr>
            <a:r>
              <a:rPr lang="ru-RU" sz="2400" b="1" dirty="0">
                <a:solidFill>
                  <a:srgbClr val="000066"/>
                </a:solidFill>
                <a:latin typeface="Book Antiqua" panose="02040602050305030304" pitchFamily="18" charset="0"/>
              </a:rPr>
              <a:t>В начале 2015 года абонентская база сотовых операторов насчитывала 210,05 млн. пользователей </a:t>
            </a:r>
          </a:p>
          <a:p>
            <a:pPr algn="r">
              <a:lnSpc>
                <a:spcPct val="90000"/>
              </a:lnSpc>
              <a:buFontTx/>
              <a:buNone/>
            </a:pPr>
            <a:r>
              <a:rPr lang="ru-RU" sz="2400" b="1" dirty="0">
                <a:solidFill>
                  <a:srgbClr val="990000"/>
                </a:solidFill>
                <a:latin typeface="Book Antiqua" panose="02040602050305030304" pitchFamily="18" charset="0"/>
              </a:rPr>
              <a:t>		(Данные Центра Безопасного Интернета в России)</a:t>
            </a:r>
          </a:p>
        </p:txBody>
      </p:sp>
      <p:pic>
        <p:nvPicPr>
          <p:cNvPr id="8201" name="Picture 9" descr="теле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443663" y="1412875"/>
            <a:ext cx="2400300" cy="1905000"/>
          </a:xfrm>
          <a:prstGeom prst="rect">
            <a:avLst/>
          </a:prstGeom>
          <a:noFill/>
        </p:spPr>
      </p:pic>
    </p:spTree>
  </p:cSld>
  <p:clrMapOvr>
    <a:masterClrMapping/>
  </p:clrMapOvr>
  <p:transition spd="med" advClick="0" advTm="8000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81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1000"/>
                                        <p:tgtEl>
                                          <p:spTgt spid="81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1000"/>
                                        <p:tgtEl>
                                          <p:spTgt spid="81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000"/>
                                        <p:tgtEl>
                                          <p:spTgt spid="81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1000"/>
                                        <p:tgtEl>
                                          <p:spTgt spid="8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8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5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188914"/>
            <a:ext cx="8229600" cy="647700"/>
          </a:xfrm>
        </p:spPr>
        <p:txBody>
          <a:bodyPr/>
          <a:lstStyle/>
          <a:p>
            <a:r>
              <a:rPr lang="ru-RU" sz="3600" b="1" dirty="0">
                <a:solidFill>
                  <a:schemeClr val="bg1"/>
                </a:solidFill>
              </a:rPr>
              <a:t>Данные опросов в Европе</a:t>
            </a:r>
            <a:r>
              <a:rPr lang="ru-RU" dirty="0"/>
              <a:t> </a:t>
            </a:r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2" y="1052512"/>
            <a:ext cx="5338763" cy="5073651"/>
          </a:xfrm>
        </p:spPr>
        <p:txBody>
          <a:bodyPr/>
          <a:lstStyle/>
          <a:p>
            <a:r>
              <a:rPr lang="ru-RU" sz="2400" b="1" dirty="0">
                <a:solidFill>
                  <a:srgbClr val="000066"/>
                </a:solidFill>
                <a:latin typeface="Book Antiqua" panose="02040602050305030304" pitchFamily="18" charset="0"/>
              </a:rPr>
              <a:t>Мобильные телефоны имеют около 90% детей в возрасте от 12 до 19 лет и около половины - в возрасте 9-12 лет,</a:t>
            </a:r>
          </a:p>
          <a:p>
            <a:r>
              <a:rPr lang="ru-RU" sz="2400" b="1" dirty="0">
                <a:solidFill>
                  <a:srgbClr val="000066"/>
                </a:solidFill>
                <a:latin typeface="Book Antiqua" panose="02040602050305030304" pitchFamily="18" charset="0"/>
              </a:rPr>
              <a:t> В некоторых странах вообще принято дарить детям «мобильники» по достижении ими восьми лет. </a:t>
            </a:r>
          </a:p>
        </p:txBody>
      </p:sp>
      <p:pic>
        <p:nvPicPr>
          <p:cNvPr id="9220" name="Picture 4" descr="телефон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300192" y="1124744"/>
            <a:ext cx="2495550" cy="3332163"/>
          </a:xfrm>
          <a:prstGeom prst="rect">
            <a:avLst/>
          </a:prstGeom>
          <a:solidFill>
            <a:srgbClr val="FFFFFF">
              <a:shade val="85000"/>
            </a:srgbClr>
          </a:solidFill>
          <a:ln w="3175" cap="rnd">
            <a:solidFill>
              <a:srgbClr val="FFFFFF"/>
            </a:solidFill>
          </a:ln>
          <a:effectLst>
            <a:outerShdw blurRad="36195" dist="12700" dir="11400000" algn="tl" rotWithShape="0">
              <a:srgbClr val="000000">
                <a:alpha val="33000"/>
              </a:srgbClr>
            </a:outerShdw>
          </a:effectLst>
          <a:scene3d>
            <a:camera prst="perspectiveContrastingLeftFacing">
              <a:rot lat="540000" lon="2100000" rev="0"/>
            </a:camera>
            <a:lightRig rig="soft" dir="t"/>
          </a:scene3d>
          <a:sp3d contourW="12700" prstMaterial="matte">
            <a:bevelT w="63500" h="50800"/>
            <a:contourClr>
              <a:srgbClr val="C0C0C0"/>
            </a:contourClr>
          </a:sp3d>
        </p:spPr>
      </p:pic>
      <p:pic>
        <p:nvPicPr>
          <p:cNvPr id="9221" name="Picture 5" descr="сот связь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779912" y="3933056"/>
            <a:ext cx="3744416" cy="234394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  <p:transition spd="med" advClick="0" advTm="8000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1000"/>
                                        <p:tgtEl>
                                          <p:spTgt spid="92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1000"/>
                                        <p:tgtEl>
                                          <p:spTgt spid="92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" dur="1000"/>
                                        <p:tgtEl>
                                          <p:spTgt spid="9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" dur="1000"/>
                                        <p:tgtEl>
                                          <p:spTgt spid="9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19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188914"/>
            <a:ext cx="8229600" cy="647700"/>
          </a:xfrm>
        </p:spPr>
        <p:txBody>
          <a:bodyPr/>
          <a:lstStyle/>
          <a:p>
            <a:r>
              <a:rPr lang="ru-RU" sz="4000" b="1" dirty="0">
                <a:solidFill>
                  <a:schemeClr val="bg1"/>
                </a:solidFill>
              </a:rPr>
              <a:t>Виды онлайн угроз</a:t>
            </a:r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95536" y="1340768"/>
            <a:ext cx="8507412" cy="4497388"/>
          </a:xfrm>
        </p:spPr>
        <p:txBody>
          <a:bodyPr/>
          <a:lstStyle/>
          <a:p>
            <a:pPr marL="609600" indent="-609600">
              <a:lnSpc>
                <a:spcPct val="80000"/>
              </a:lnSpc>
            </a:pPr>
            <a:r>
              <a:rPr lang="ru-RU" sz="2800" b="1" dirty="0">
                <a:solidFill>
                  <a:srgbClr val="002060"/>
                </a:solidFill>
                <a:latin typeface="Book Antiqua" panose="02040602050305030304" pitchFamily="18" charset="0"/>
              </a:rPr>
              <a:t>Откровенные материалы сексуального характера</a:t>
            </a:r>
          </a:p>
          <a:p>
            <a:pPr marL="609600" indent="-609600">
              <a:lnSpc>
                <a:spcPct val="80000"/>
              </a:lnSpc>
            </a:pPr>
            <a:r>
              <a:rPr lang="ru-RU" sz="2800" b="1" dirty="0">
                <a:solidFill>
                  <a:srgbClr val="002060"/>
                </a:solidFill>
                <a:latin typeface="Book Antiqua" panose="02040602050305030304" pitchFamily="18" charset="0"/>
              </a:rPr>
              <a:t>Виртуальные знакомые и друзья </a:t>
            </a:r>
          </a:p>
          <a:p>
            <a:pPr marL="609600" indent="-609600">
              <a:lnSpc>
                <a:spcPct val="80000"/>
              </a:lnSpc>
            </a:pPr>
            <a:r>
              <a:rPr lang="ru-RU" sz="2800" b="1" dirty="0" err="1">
                <a:solidFill>
                  <a:srgbClr val="002060"/>
                </a:solidFill>
                <a:latin typeface="Book Antiqua" panose="02040602050305030304" pitchFamily="18" charset="0"/>
              </a:rPr>
              <a:t>Кибербуллинг</a:t>
            </a:r>
            <a:r>
              <a:rPr lang="ru-RU" sz="2800" b="1" dirty="0">
                <a:solidFill>
                  <a:srgbClr val="002060"/>
                </a:solidFill>
                <a:latin typeface="Book Antiqua" panose="02040602050305030304" pitchFamily="18" charset="0"/>
              </a:rPr>
              <a:t> (</a:t>
            </a:r>
            <a:r>
              <a:rPr lang="ru-RU" sz="2800" b="1" dirty="0" err="1">
                <a:solidFill>
                  <a:srgbClr val="002060"/>
                </a:solidFill>
                <a:latin typeface="Book Antiqua" panose="02040602050305030304" pitchFamily="18" charset="0"/>
              </a:rPr>
              <a:t>cyberbullying</a:t>
            </a:r>
            <a:r>
              <a:rPr lang="ru-RU" sz="2800" b="1" dirty="0">
                <a:solidFill>
                  <a:srgbClr val="002060"/>
                </a:solidFill>
                <a:latin typeface="Book Antiqua" panose="02040602050305030304" pitchFamily="18" charset="0"/>
              </a:rPr>
              <a:t>) – подростковый виртуальный террор </a:t>
            </a:r>
          </a:p>
          <a:p>
            <a:pPr marL="609600" indent="-609600">
              <a:lnSpc>
                <a:spcPct val="80000"/>
              </a:lnSpc>
            </a:pPr>
            <a:r>
              <a:rPr lang="ru-RU" sz="2800" b="1" dirty="0" err="1">
                <a:solidFill>
                  <a:srgbClr val="002060"/>
                </a:solidFill>
                <a:latin typeface="Book Antiqua" panose="02040602050305030304" pitchFamily="18" charset="0"/>
              </a:rPr>
              <a:t>Буллицид</a:t>
            </a:r>
            <a:r>
              <a:rPr lang="ru-RU" sz="2800" b="1" dirty="0">
                <a:solidFill>
                  <a:srgbClr val="002060"/>
                </a:solidFill>
                <a:latin typeface="Book Antiqua" panose="02040602050305030304" pitchFamily="18" charset="0"/>
              </a:rPr>
              <a:t> – доведение ребенка до самоубийства путем психологического насилия </a:t>
            </a:r>
          </a:p>
          <a:p>
            <a:pPr marL="609600" indent="-609600">
              <a:lnSpc>
                <a:spcPct val="80000"/>
              </a:lnSpc>
            </a:pPr>
            <a:r>
              <a:rPr lang="ru-RU" sz="2800" b="1" dirty="0">
                <a:solidFill>
                  <a:srgbClr val="002060"/>
                </a:solidFill>
                <a:latin typeface="Book Antiqua" panose="02040602050305030304" pitchFamily="18" charset="0"/>
              </a:rPr>
              <a:t>Электронные ресурсы, содержащие материалы  экстремистского и террористического характера.</a:t>
            </a:r>
          </a:p>
          <a:p>
            <a:pPr marL="609600" indent="-609600">
              <a:lnSpc>
                <a:spcPct val="80000"/>
              </a:lnSpc>
            </a:pPr>
            <a:endParaRPr lang="ru-RU" sz="2800" b="1" dirty="0">
              <a:solidFill>
                <a:srgbClr val="002060"/>
              </a:solidFill>
              <a:latin typeface="Book Antiqua" panose="02040602050305030304" pitchFamily="18" charset="0"/>
            </a:endParaRPr>
          </a:p>
        </p:txBody>
      </p:sp>
    </p:spTree>
  </p:cSld>
  <p:clrMapOvr>
    <a:masterClrMapping/>
  </p:clrMapOvr>
  <p:transition spd="med" advClick="0" advTm="8000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112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1000"/>
                                        <p:tgtEl>
                                          <p:spTgt spid="112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1000"/>
                                        <p:tgtEl>
                                          <p:spTgt spid="112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000"/>
                                        <p:tgtEl>
                                          <p:spTgt spid="112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1000"/>
                                        <p:tgtEl>
                                          <p:spTgt spid="112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67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188914"/>
            <a:ext cx="8229600" cy="647700"/>
          </a:xfrm>
        </p:spPr>
        <p:txBody>
          <a:bodyPr/>
          <a:lstStyle/>
          <a:p>
            <a:r>
              <a:rPr lang="ru-RU" sz="4000" b="1" dirty="0">
                <a:solidFill>
                  <a:schemeClr val="bg1"/>
                </a:solidFill>
              </a:rPr>
              <a:t>Виды онлайн угроз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3568" y="1628802"/>
            <a:ext cx="8064896" cy="3600623"/>
          </a:xfrm>
        </p:spPr>
        <p:txBody>
          <a:bodyPr/>
          <a:lstStyle/>
          <a:p>
            <a:pPr marL="609600" indent="-609600">
              <a:lnSpc>
                <a:spcPct val="80000"/>
              </a:lnSpc>
            </a:pPr>
            <a:r>
              <a:rPr lang="ru-RU" sz="2800" b="1" dirty="0">
                <a:solidFill>
                  <a:srgbClr val="002060"/>
                </a:solidFill>
                <a:latin typeface="Book Antiqua" panose="02040602050305030304" pitchFamily="18" charset="0"/>
              </a:rPr>
              <a:t>Электронные ресурсы, созданные и поддерживаемые  деструктивными религиозными сектами. </a:t>
            </a:r>
          </a:p>
          <a:p>
            <a:pPr marL="609600" indent="-609600">
              <a:lnSpc>
                <a:spcPct val="80000"/>
              </a:lnSpc>
            </a:pPr>
            <a:r>
              <a:rPr lang="ru-RU" sz="2800" b="1" dirty="0">
                <a:solidFill>
                  <a:srgbClr val="002060"/>
                </a:solidFill>
                <a:latin typeface="Book Antiqua" panose="02040602050305030304" pitchFamily="18" charset="0"/>
              </a:rPr>
              <a:t>Компьютерные мошенники, спамеры, фишеры. </a:t>
            </a:r>
          </a:p>
          <a:p>
            <a:pPr marL="609600" indent="-609600">
              <a:lnSpc>
                <a:spcPct val="80000"/>
              </a:lnSpc>
            </a:pPr>
            <a:r>
              <a:rPr lang="ru-RU" sz="2800" b="1" dirty="0">
                <a:solidFill>
                  <a:srgbClr val="002060"/>
                </a:solidFill>
                <a:latin typeface="Book Antiqua" panose="02040602050305030304" pitchFamily="18" charset="0"/>
              </a:rPr>
              <a:t>Пропаганда наркотиков, насилия и жестокости, суицидального поведения, абортов, самоповреждений </a:t>
            </a:r>
          </a:p>
          <a:p>
            <a:pPr marL="609600" indent="-609600">
              <a:lnSpc>
                <a:spcPct val="80000"/>
              </a:lnSpc>
            </a:pPr>
            <a:r>
              <a:rPr lang="ru-RU" sz="2800" b="1" dirty="0">
                <a:solidFill>
                  <a:srgbClr val="002060"/>
                </a:solidFill>
                <a:latin typeface="Book Antiqua" panose="02040602050305030304" pitchFamily="18" charset="0"/>
              </a:rPr>
              <a:t>Регистрация в закрытых группах</a:t>
            </a:r>
          </a:p>
          <a:p>
            <a:pPr marL="609600" indent="-609600">
              <a:lnSpc>
                <a:spcPct val="80000"/>
              </a:lnSpc>
            </a:pPr>
            <a:endParaRPr lang="ru-RU" sz="2800" b="1" dirty="0">
              <a:solidFill>
                <a:srgbClr val="002060"/>
              </a:solidFill>
              <a:latin typeface="Book Antiqua" panose="02040602050305030304" pitchFamily="18" charset="0"/>
            </a:endParaRPr>
          </a:p>
        </p:txBody>
      </p:sp>
    </p:spTree>
  </p:cSld>
  <p:clrMapOvr>
    <a:masterClrMapping/>
  </p:clrMapOvr>
  <p:transition spd="med" advClick="0" advTm="8000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122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1000"/>
                                        <p:tgtEl>
                                          <p:spTgt spid="122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1000"/>
                                        <p:tgtEl>
                                          <p:spTgt spid="122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000"/>
                                        <p:tgtEl>
                                          <p:spTgt spid="122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91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188914"/>
            <a:ext cx="8229600" cy="647700"/>
          </a:xfrm>
        </p:spPr>
        <p:txBody>
          <a:bodyPr/>
          <a:lstStyle/>
          <a:p>
            <a:r>
              <a:rPr lang="ru-RU" sz="4000" b="1" dirty="0">
                <a:solidFill>
                  <a:schemeClr val="bg1"/>
                </a:solidFill>
              </a:rPr>
              <a:t>Виды онлайн угроз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7544" y="1052514"/>
            <a:ext cx="8676456" cy="4968775"/>
          </a:xfrm>
        </p:spPr>
        <p:txBody>
          <a:bodyPr/>
          <a:lstStyle/>
          <a:p>
            <a:pPr marL="609600" indent="-609600">
              <a:lnSpc>
                <a:spcPct val="80000"/>
              </a:lnSpc>
            </a:pPr>
            <a:endParaRPr lang="ru-RU" sz="2800" b="1" dirty="0">
              <a:solidFill>
                <a:srgbClr val="990000"/>
              </a:solidFill>
              <a:latin typeface="Book Antiqua" panose="02040602050305030304" pitchFamily="18" charset="0"/>
            </a:endParaRPr>
          </a:p>
          <a:p>
            <a:pPr marL="609600" indent="-609600">
              <a:lnSpc>
                <a:spcPct val="80000"/>
              </a:lnSpc>
            </a:pPr>
            <a:r>
              <a:rPr lang="ru-RU" sz="2800" b="1" dirty="0">
                <a:solidFill>
                  <a:srgbClr val="990000"/>
                </a:solidFill>
                <a:latin typeface="Book Antiqua" panose="02040602050305030304" pitchFamily="18" charset="0"/>
              </a:rPr>
              <a:t>Сомнительные </a:t>
            </a:r>
            <a:r>
              <a:rPr lang="ru-RU" sz="2800" b="1" dirty="0">
                <a:solidFill>
                  <a:srgbClr val="000066"/>
                </a:solidFill>
                <a:latin typeface="Book Antiqua" panose="02040602050305030304" pitchFamily="18" charset="0"/>
              </a:rPr>
              <a:t>развлечения: онлайн-игры, пропагандирующие секс, жестокость и насилие.</a:t>
            </a:r>
            <a:r>
              <a:rPr lang="ru-RU" sz="2800" b="1" dirty="0">
                <a:solidFill>
                  <a:srgbClr val="990000"/>
                </a:solidFill>
                <a:latin typeface="Book Antiqua" panose="02040602050305030304" pitchFamily="18" charset="0"/>
              </a:rPr>
              <a:t> </a:t>
            </a:r>
          </a:p>
          <a:p>
            <a:pPr marL="609600" indent="-609600">
              <a:lnSpc>
                <a:spcPct val="80000"/>
              </a:lnSpc>
            </a:pPr>
            <a:r>
              <a:rPr lang="ru-RU" sz="2800" b="1" dirty="0">
                <a:solidFill>
                  <a:srgbClr val="990000"/>
                </a:solidFill>
                <a:latin typeface="Book Antiqua" panose="02040602050305030304" pitchFamily="18" charset="0"/>
              </a:rPr>
              <a:t>Социальные сети и блоги, </a:t>
            </a:r>
            <a:r>
              <a:rPr lang="ru-RU" sz="2800" b="1" dirty="0">
                <a:solidFill>
                  <a:srgbClr val="000066"/>
                </a:solidFill>
                <a:latin typeface="Book Antiqua" panose="02040602050305030304" pitchFamily="18" charset="0"/>
              </a:rPr>
              <a:t>на которых ребенок оставляет о себе немало настоящей информации, завязывает небезопасные знакомства, нередко подвергается незаметной для него деструктивной психологической и нравственно-духовной обработке. </a:t>
            </a:r>
          </a:p>
        </p:txBody>
      </p:sp>
    </p:spTree>
    <p:extLst>
      <p:ext uri="{BB962C8B-B14F-4D97-AF65-F5344CB8AC3E}">
        <p14:creationId xmlns:p14="http://schemas.microsoft.com/office/powerpoint/2010/main" val="2300523405"/>
      </p:ext>
    </p:extLst>
  </p:cSld>
  <p:clrMapOvr>
    <a:masterClrMapping/>
  </p:clrMapOvr>
  <p:transition spd="med" advClick="0" advTm="8000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1000"/>
                                        <p:tgtEl>
                                          <p:spTgt spid="122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1000"/>
                                        <p:tgtEl>
                                          <p:spTgt spid="122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91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64" name="Rectangle 28"/>
          <p:cNvSpPr>
            <a:spLocks noGrp="1" noChangeArrowheads="1"/>
          </p:cNvSpPr>
          <p:nvPr>
            <p:ph type="title"/>
          </p:nvPr>
        </p:nvSpPr>
        <p:spPr>
          <a:xfrm>
            <a:off x="457200" y="274639"/>
            <a:ext cx="8229600" cy="633412"/>
          </a:xfrm>
        </p:spPr>
        <p:txBody>
          <a:bodyPr/>
          <a:lstStyle/>
          <a:p>
            <a:r>
              <a:rPr lang="ru-RU" sz="4000" b="1" dirty="0">
                <a:solidFill>
                  <a:schemeClr val="bg1"/>
                </a:solidFill>
              </a:rPr>
              <a:t>PEGI логотипы</a:t>
            </a:r>
          </a:p>
        </p:txBody>
      </p:sp>
      <p:graphicFrame>
        <p:nvGraphicFramePr>
          <p:cNvPr id="14386" name="Group 50"/>
          <p:cNvGraphicFramePr>
            <a:graphicFrameLocks noGrp="1"/>
          </p:cNvGraphicFramePr>
          <p:nvPr>
            <p:ph idx="1"/>
          </p:nvPr>
        </p:nvGraphicFramePr>
        <p:xfrm>
          <a:off x="395288" y="1073151"/>
          <a:ext cx="8425184" cy="5452193"/>
        </p:xfrm>
        <a:graphic>
          <a:graphicData uri="http://schemas.openxmlformats.org/drawingml/2006/table">
            <a:tbl>
              <a:tblPr/>
              <a:tblGrid>
                <a:gridCol w="12650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6012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4131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Arial" charset="0"/>
                        </a:rPr>
                        <a:t>Bad</a:t>
                      </a:r>
                      <a:r>
                        <a:rPr kumimoji="0" lang="ru-RU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Arial" charset="0"/>
                        </a:rPr>
                        <a:t> </a:t>
                      </a:r>
                      <a:r>
                        <a:rPr kumimoji="0" lang="ru-RU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Arial" charset="0"/>
                        </a:rPr>
                        <a:t>Language</a:t>
                      </a:r>
                      <a:r>
                        <a:rPr kumimoji="0" lang="ru-RU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Arial" charset="0"/>
                        </a:rPr>
                        <a:t> - Ненормативная лексика</a:t>
                      </a:r>
                      <a:br>
                        <a:rPr kumimoji="0" lang="ru-RU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Arial" charset="0"/>
                        </a:rPr>
                      </a:br>
                      <a:r>
                        <a:rPr kumimoji="0" lang="ru-RU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Arial" charset="0"/>
                        </a:rPr>
                        <a:t>Игра содержит грубые и непристойные выражения.</a:t>
                      </a:r>
                      <a:r>
                        <a:rPr kumimoji="0" lang="ru-RU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Arial" charset="0"/>
                        </a:rPr>
                        <a:t>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4694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Arial" charset="0"/>
                        </a:rPr>
                        <a:t>Discrimination</a:t>
                      </a:r>
                      <a:r>
                        <a:rPr kumimoji="0" lang="ru-RU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Arial" charset="0"/>
                        </a:rPr>
                        <a:t> - Дискриминация</a:t>
                      </a:r>
                      <a:br>
                        <a:rPr kumimoji="0" lang="ru-RU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Arial" charset="0"/>
                        </a:rPr>
                      </a:br>
                      <a:r>
                        <a:rPr kumimoji="0" lang="ru-RU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Arial" charset="0"/>
                        </a:rPr>
                        <a:t>Присутствие в продукте сцен или материалов, которые могут порочить или дискриминировать некоторые социальные группы.</a:t>
                      </a:r>
                      <a:r>
                        <a:rPr kumimoji="0" lang="ru-RU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Arial" charset="0"/>
                        </a:rPr>
                        <a:t>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070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Arial" charset="0"/>
                        </a:rPr>
                        <a:t>Fear</a:t>
                      </a:r>
                      <a:r>
                        <a:rPr kumimoji="0" lang="ru-RU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Arial" charset="0"/>
                        </a:rPr>
                        <a:t> - Страх:</a:t>
                      </a:r>
                      <a:br>
                        <a:rPr kumimoji="0" lang="ru-RU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Arial" charset="0"/>
                        </a:rPr>
                      </a:br>
                      <a:r>
                        <a:rPr kumimoji="0" lang="ru-RU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Arial" charset="0"/>
                        </a:rPr>
                        <a:t>Материалы игры могут оказаться страшными и </a:t>
                      </a:r>
                      <a:r>
                        <a:rPr kumimoji="0" lang="ru-RU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Arial" charset="0"/>
                        </a:rPr>
                        <a:t>пугаюшими</a:t>
                      </a:r>
                      <a:r>
                        <a:rPr kumimoji="0" lang="ru-RU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Arial" charset="0"/>
                        </a:rPr>
                        <a:t> для маленьких детей.</a:t>
                      </a:r>
                      <a:r>
                        <a:rPr kumimoji="0" lang="ru-RU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Arial" charset="0"/>
                        </a:rPr>
                        <a:t>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8119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Arial" charset="0"/>
                        </a:rPr>
                        <a:t>Gambling</a:t>
                      </a:r>
                      <a:r>
                        <a:rPr kumimoji="0" lang="ru-RU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Arial" charset="0"/>
                        </a:rPr>
                        <a:t> - Азартные игры</a:t>
                      </a:r>
                      <a:br>
                        <a:rPr kumimoji="0" lang="ru-RU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Arial" charset="0"/>
                        </a:rPr>
                      </a:br>
                      <a:r>
                        <a:rPr kumimoji="0" lang="ru-RU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Arial" charset="0"/>
                        </a:rPr>
                        <a:t>В игре есть возможность сыграть в азартные игры и сделать ставку, в том числе — реальными деньгами.</a:t>
                      </a:r>
                      <a:r>
                        <a:rPr kumimoji="0" lang="ru-RU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3434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Arial" charset="0"/>
                        </a:rPr>
                        <a:t>Sexual</a:t>
                      </a:r>
                      <a:r>
                        <a:rPr kumimoji="0" lang="ru-RU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Arial" charset="0"/>
                        </a:rPr>
                        <a:t> </a:t>
                      </a:r>
                      <a:r>
                        <a:rPr kumimoji="0" lang="ru-RU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Arial" charset="0"/>
                        </a:rPr>
                        <a:t>Content</a:t>
                      </a:r>
                      <a:r>
                        <a:rPr kumimoji="0" lang="ru-RU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Arial" charset="0"/>
                        </a:rPr>
                        <a:t> – Непристойности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Arial" charset="0"/>
                        </a:rPr>
                        <a:t>В игре присутствует обнажение и/или встречаются сцены с сексуальными отношениями.</a:t>
                      </a:r>
                      <a:r>
                        <a:rPr kumimoji="0" lang="ru-RU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Arial" charset="0"/>
                        </a:rPr>
                        <a:t>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4131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Arial" charset="0"/>
                        </a:rPr>
                        <a:t>Violence</a:t>
                      </a:r>
                      <a:r>
                        <a:rPr kumimoji="0" lang="ru-RU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Arial" charset="0"/>
                        </a:rPr>
                        <a:t> - Насилие</a:t>
                      </a:r>
                      <a:br>
                        <a:rPr kumimoji="0" lang="ru-RU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Arial" charset="0"/>
                        </a:rPr>
                      </a:br>
                      <a:r>
                        <a:rPr kumimoji="0" lang="ru-RU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Arial" charset="0"/>
                        </a:rPr>
                        <a:t>Игра изобилует сценами с применением насилия.</a:t>
                      </a:r>
                      <a:r>
                        <a:rPr kumimoji="0" lang="ru-RU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66"/>
                          </a:solidFill>
                          <a:effectLst/>
                          <a:latin typeface="Arial" charset="0"/>
                        </a:rPr>
                        <a:t>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14367" name="Picture 31" descr="11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83568" y="1196752"/>
            <a:ext cx="503856" cy="5038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4372" name="Picture 36" descr="11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11560" y="1988840"/>
            <a:ext cx="720725" cy="720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4376" name="Picture 40" descr="11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11560" y="3068960"/>
            <a:ext cx="719137" cy="719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4381" name="Picture 45" descr="11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11560" y="4077072"/>
            <a:ext cx="648072" cy="6480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4384" name="Picture 48" descr="116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683568" y="5013176"/>
            <a:ext cx="576434" cy="5764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4387" name="Picture 51" descr="117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683568" y="5877272"/>
            <a:ext cx="576064" cy="5760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 spd="med" advClick="0" advTm="8000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143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1"/>
            <a:ext cx="8229600" cy="692151"/>
          </a:xfrm>
        </p:spPr>
        <p:txBody>
          <a:bodyPr/>
          <a:lstStyle/>
          <a:p>
            <a:r>
              <a:rPr lang="ru-RU" sz="4000" b="1" dirty="0">
                <a:solidFill>
                  <a:schemeClr val="bg1"/>
                </a:solidFill>
              </a:rPr>
              <a:t>Интернет-зависимость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51520" y="1556792"/>
            <a:ext cx="8507412" cy="4320480"/>
          </a:xfrm>
        </p:spPr>
        <p:txBody>
          <a:bodyPr/>
          <a:lstStyle/>
          <a:p>
            <a:pPr marL="609600" indent="-609600">
              <a:lnSpc>
                <a:spcPct val="80000"/>
              </a:lnSpc>
            </a:pPr>
            <a:r>
              <a:rPr lang="ru-RU" sz="2800" b="1" dirty="0">
                <a:solidFill>
                  <a:srgbClr val="000066"/>
                </a:solidFill>
                <a:latin typeface="Book Antiqua" panose="02040602050305030304" pitchFamily="18" charset="0"/>
              </a:rPr>
              <a:t>Навязчивый веб-серфинг — бесконечные путешествия по Всемирной паутине, поиск информации.</a:t>
            </a:r>
          </a:p>
          <a:p>
            <a:pPr marL="609600" indent="-609600">
              <a:lnSpc>
                <a:spcPct val="80000"/>
              </a:lnSpc>
            </a:pPr>
            <a:r>
              <a:rPr lang="ru-RU" sz="2800" b="1" dirty="0">
                <a:solidFill>
                  <a:srgbClr val="000066"/>
                </a:solidFill>
                <a:latin typeface="Book Antiqua" panose="02040602050305030304" pitchFamily="18" charset="0"/>
              </a:rPr>
              <a:t>Пристрастие к виртуальному общению и виртуальным знакомствам — большие объёмы переписки, постоянное участие в чатах, веб-форумах, избыточность знакомых и друзей в Сети.</a:t>
            </a:r>
          </a:p>
          <a:p>
            <a:pPr marL="609600" indent="-609600">
              <a:lnSpc>
                <a:spcPct val="80000"/>
              </a:lnSpc>
            </a:pPr>
            <a:r>
              <a:rPr lang="ru-RU" sz="2800" b="1" dirty="0">
                <a:solidFill>
                  <a:srgbClr val="000066"/>
                </a:solidFill>
                <a:latin typeface="Book Antiqua" panose="02040602050305030304" pitchFamily="18" charset="0"/>
              </a:rPr>
              <a:t>Игровая зависимость — навязчивое увлечение компьютерными играми по сети.</a:t>
            </a:r>
          </a:p>
        </p:txBody>
      </p:sp>
    </p:spTree>
  </p:cSld>
  <p:clrMapOvr>
    <a:masterClrMapping/>
  </p:clrMapOvr>
  <p:transition spd="med" advClick="0" advTm="8000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133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1000"/>
                                        <p:tgtEl>
                                          <p:spTgt spid="133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1000"/>
                                        <p:tgtEl>
                                          <p:spTgt spid="133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15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1"/>
            <a:ext cx="8229600" cy="692151"/>
          </a:xfrm>
        </p:spPr>
        <p:txBody>
          <a:bodyPr/>
          <a:lstStyle/>
          <a:p>
            <a:r>
              <a:rPr lang="ru-RU" sz="4000" b="1">
                <a:solidFill>
                  <a:schemeClr val="bg1"/>
                </a:solidFill>
              </a:rPr>
              <a:t>Интернет-зависимость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9512" y="1124744"/>
            <a:ext cx="8507412" cy="4752528"/>
          </a:xfrm>
        </p:spPr>
        <p:txBody>
          <a:bodyPr/>
          <a:lstStyle/>
          <a:p>
            <a:pPr marL="609600" indent="-609600">
              <a:lnSpc>
                <a:spcPct val="80000"/>
              </a:lnSpc>
            </a:pPr>
            <a:r>
              <a:rPr lang="ru-RU" sz="2800" b="1" dirty="0">
                <a:solidFill>
                  <a:srgbClr val="000066"/>
                </a:solidFill>
                <a:latin typeface="Book Antiqua" panose="02040602050305030304" pitchFamily="18" charset="0"/>
              </a:rPr>
              <a:t>Навязчивая финансовая потребность — игра по сети в азартные игры, ненужные покупки в интернет-магазинах или постоянные участия в интернет-аукционах.</a:t>
            </a:r>
          </a:p>
          <a:p>
            <a:pPr marL="609600" indent="-609600">
              <a:lnSpc>
                <a:spcPct val="80000"/>
              </a:lnSpc>
            </a:pPr>
            <a:r>
              <a:rPr lang="ru-RU" sz="2800" b="1" dirty="0">
                <a:solidFill>
                  <a:srgbClr val="000066"/>
                </a:solidFill>
                <a:latin typeface="Book Antiqua" panose="02040602050305030304" pitchFamily="18" charset="0"/>
              </a:rPr>
              <a:t>Пристрастие к просмотру фильмов через интернет, когда больной может провести перед экраном весь день не отрываясь из-за того, что в сети можно посмотреть практически любой фильм или передачу.</a:t>
            </a:r>
          </a:p>
          <a:p>
            <a:pPr marL="609600" indent="-609600">
              <a:lnSpc>
                <a:spcPct val="80000"/>
              </a:lnSpc>
            </a:pPr>
            <a:r>
              <a:rPr lang="ru-RU" sz="2800" b="1" dirty="0">
                <a:solidFill>
                  <a:srgbClr val="000066"/>
                </a:solidFill>
                <a:latin typeface="Book Antiqua" panose="02040602050305030304" pitchFamily="18" charset="0"/>
              </a:rPr>
              <a:t>Киберсексуальная зависимость — навязчивое влечение к посещению порносайтов и занятию киберсексом. </a:t>
            </a:r>
          </a:p>
        </p:txBody>
      </p:sp>
    </p:spTree>
    <p:extLst>
      <p:ext uri="{BB962C8B-B14F-4D97-AF65-F5344CB8AC3E}">
        <p14:creationId xmlns:p14="http://schemas.microsoft.com/office/powerpoint/2010/main" val="3721664804"/>
      </p:ext>
    </p:extLst>
  </p:cSld>
  <p:clrMapOvr>
    <a:masterClrMapping/>
  </p:clrMapOvr>
  <p:transition spd="med" advClick="0" advTm="8000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1000"/>
                                        <p:tgtEl>
                                          <p:spTgt spid="133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1000"/>
                                        <p:tgtEl>
                                          <p:spTgt spid="133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" dur="1000"/>
                                        <p:tgtEl>
                                          <p:spTgt spid="133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15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1"/>
            <a:ext cx="8229600" cy="777875"/>
          </a:xfrm>
        </p:spPr>
        <p:txBody>
          <a:bodyPr/>
          <a:lstStyle/>
          <a:p>
            <a:r>
              <a:rPr lang="ru-RU" sz="3200" b="1">
                <a:solidFill>
                  <a:schemeClr val="bg1"/>
                </a:solidFill>
              </a:rPr>
              <a:t>Признаки Интернет-зависимости:</a:t>
            </a:r>
            <a:r>
              <a:rPr lang="ru-RU" sz="4000"/>
              <a:t> </a:t>
            </a:r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7544" y="1052736"/>
            <a:ext cx="8353623" cy="2519933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ru-RU" sz="2800" b="1" dirty="0">
                <a:solidFill>
                  <a:srgbClr val="000066"/>
                </a:solidFill>
                <a:latin typeface="Book Antiqua" panose="02040602050305030304" pitchFamily="18" charset="0"/>
              </a:rPr>
              <a:t>чрезмерное, немотивированное злоупотребление длительностью работы в сети, не обусловленное профессиональной, учебной или иной созидательной деятельностью; </a:t>
            </a:r>
          </a:p>
          <a:p>
            <a:pPr>
              <a:lnSpc>
                <a:spcPct val="80000"/>
              </a:lnSpc>
            </a:pPr>
            <a:r>
              <a:rPr lang="ru-RU" sz="2800" b="1" dirty="0">
                <a:solidFill>
                  <a:srgbClr val="000066"/>
                </a:solidFill>
                <a:latin typeface="Book Antiqua" panose="02040602050305030304" pitchFamily="18" charset="0"/>
              </a:rPr>
              <a:t>использование Интернета как преобладающего средства коммуникации; </a:t>
            </a:r>
          </a:p>
        </p:txBody>
      </p:sp>
      <p:pic>
        <p:nvPicPr>
          <p:cNvPr id="15364" name="Picture 4" descr="инет6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67744" y="3933056"/>
            <a:ext cx="3903254" cy="2196359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56939153"/>
      </p:ext>
    </p:extLst>
  </p:cSld>
  <p:clrMapOvr>
    <a:masterClrMapping/>
  </p:clrMapOvr>
  <p:transition spd="med" advClick="0" advTm="8000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1000"/>
                                        <p:tgtEl>
                                          <p:spTgt spid="153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1000"/>
                                        <p:tgtEl>
                                          <p:spTgt spid="153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" dur="1000"/>
                                        <p:tgtEl>
                                          <p:spTgt spid="153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63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1"/>
            <a:ext cx="8229600" cy="777875"/>
          </a:xfrm>
        </p:spPr>
        <p:txBody>
          <a:bodyPr/>
          <a:lstStyle/>
          <a:p>
            <a:r>
              <a:rPr lang="ru-RU" sz="3200" b="1" dirty="0">
                <a:solidFill>
                  <a:schemeClr val="bg1"/>
                </a:solidFill>
              </a:rPr>
              <a:t>Признаки Интернет- зависимости:</a:t>
            </a:r>
            <a:r>
              <a:rPr lang="ru-RU" sz="4000" dirty="0"/>
              <a:t> </a:t>
            </a:r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50827" y="981075"/>
            <a:ext cx="8281615" cy="5183188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ru-RU" sz="2400" b="1" dirty="0">
                <a:solidFill>
                  <a:srgbClr val="000066"/>
                </a:solidFill>
                <a:latin typeface="Book Antiqua" panose="02040602050305030304" pitchFamily="18" charset="0"/>
              </a:rPr>
              <a:t>создание и эксплуатация виртуальных образов, крайне далеких от реальных;</a:t>
            </a:r>
          </a:p>
          <a:p>
            <a:pPr>
              <a:lnSpc>
                <a:spcPct val="80000"/>
              </a:lnSpc>
            </a:pPr>
            <a:r>
              <a:rPr lang="ru-RU" sz="2400" b="1" dirty="0">
                <a:solidFill>
                  <a:srgbClr val="000066"/>
                </a:solidFill>
                <a:latin typeface="Book Antiqua" panose="02040602050305030304" pitchFamily="18" charset="0"/>
              </a:rPr>
              <a:t> влечение к Интернет-играм и(или) созданию вредоносных программ (без какой-либо цели); </a:t>
            </a:r>
          </a:p>
          <a:p>
            <a:pPr>
              <a:lnSpc>
                <a:spcPct val="80000"/>
              </a:lnSpc>
            </a:pPr>
            <a:r>
              <a:rPr lang="ru-RU" sz="2400" b="1" dirty="0">
                <a:solidFill>
                  <a:srgbClr val="000066"/>
                </a:solidFill>
                <a:latin typeface="Book Antiqua" panose="02040602050305030304" pitchFamily="18" charset="0"/>
              </a:rPr>
              <a:t> субъективно воспринимаемая невозможность обходиться без работы в сети </a:t>
            </a:r>
          </a:p>
        </p:txBody>
      </p:sp>
      <p:pic>
        <p:nvPicPr>
          <p:cNvPr id="6" name="Picture 6" descr="http://zona-zarabotka.ru/wp-content/uploads/2015/09/kak-zarabotat-e1442069749131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5736" y="3068960"/>
            <a:ext cx="4753198" cy="31687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 advClick="0" advTm="8000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153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1000"/>
                                        <p:tgtEl>
                                          <p:spTgt spid="153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1000"/>
                                        <p:tgtEl>
                                          <p:spTgt spid="153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63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0"/>
            <a:ext cx="8229600" cy="908051"/>
          </a:xfrm>
        </p:spPr>
        <p:txBody>
          <a:bodyPr/>
          <a:lstStyle/>
          <a:p>
            <a:r>
              <a:rPr lang="ru-RU" sz="4000" b="1" dirty="0">
                <a:solidFill>
                  <a:schemeClr val="bg1"/>
                </a:solidFill>
              </a:rPr>
              <a:t>Это важно знать!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50827" y="1125537"/>
            <a:ext cx="8497637" cy="2375471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ru-RU" sz="2400" b="1" dirty="0">
                <a:solidFill>
                  <a:srgbClr val="000066"/>
                </a:solidFill>
                <a:latin typeface="Book Antiqua" pitchFamily="18" charset="0"/>
              </a:rPr>
              <a:t>Когда ты регистрируешься на сайтах, не указывай личную информацию (номер мобильного телефона, адрес места жительства и другие данные). </a:t>
            </a:r>
          </a:p>
          <a:p>
            <a:pPr>
              <a:lnSpc>
                <a:spcPct val="90000"/>
              </a:lnSpc>
            </a:pPr>
            <a:r>
              <a:rPr lang="ru-RU" sz="2400" b="1" dirty="0">
                <a:solidFill>
                  <a:srgbClr val="000066"/>
                </a:solidFill>
                <a:latin typeface="Book Antiqua" pitchFamily="18" charset="0"/>
              </a:rPr>
              <a:t>Используй  </a:t>
            </a:r>
            <a:r>
              <a:rPr lang="ru-RU" sz="2400" b="1" dirty="0" err="1">
                <a:solidFill>
                  <a:srgbClr val="000066"/>
                </a:solidFill>
                <a:latin typeface="Book Antiqua" pitchFamily="18" charset="0"/>
              </a:rPr>
              <a:t>веб-камеру</a:t>
            </a:r>
            <a:r>
              <a:rPr lang="ru-RU" sz="2400" b="1" dirty="0">
                <a:solidFill>
                  <a:srgbClr val="000066"/>
                </a:solidFill>
                <a:latin typeface="Book Antiqua" pitchFamily="18" charset="0"/>
              </a:rPr>
              <a:t>  только при общении с друзьями. Проследи, чтобы посторонние люди не имели возможности видеть ваш разговор. </a:t>
            </a:r>
          </a:p>
          <a:p>
            <a:pPr>
              <a:lnSpc>
                <a:spcPct val="90000"/>
              </a:lnSpc>
              <a:buNone/>
            </a:pPr>
            <a:endParaRPr lang="ru-RU" sz="2400" b="1" dirty="0">
              <a:solidFill>
                <a:srgbClr val="000066"/>
              </a:solidFill>
              <a:latin typeface="Book Antiqua" pitchFamily="18" charset="0"/>
            </a:endParaRPr>
          </a:p>
        </p:txBody>
      </p:sp>
      <p:pic>
        <p:nvPicPr>
          <p:cNvPr id="16388" name="Picture 4" descr="инет1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339752" y="3356992"/>
            <a:ext cx="4176464" cy="2947524"/>
          </a:xfrm>
          <a:prstGeom prst="rect">
            <a:avLst/>
          </a:prstGeom>
          <a:noFill/>
        </p:spPr>
      </p:pic>
    </p:spTree>
  </p:cSld>
  <p:clrMapOvr>
    <a:masterClrMapping/>
  </p:clrMapOvr>
  <p:transition spd="med" advClick="0" advTm="8000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163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1000"/>
                                        <p:tgtEl>
                                          <p:spTgt spid="163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1000"/>
                                        <p:tgtEl>
                                          <p:spTgt spid="163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87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0"/>
            <a:ext cx="8229600" cy="908051"/>
          </a:xfrm>
        </p:spPr>
        <p:txBody>
          <a:bodyPr/>
          <a:lstStyle/>
          <a:p>
            <a:r>
              <a:rPr lang="ru-RU" sz="4000" b="1">
                <a:solidFill>
                  <a:schemeClr val="bg1"/>
                </a:solidFill>
              </a:rPr>
              <a:t>Это важно знать!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50827" y="1125537"/>
            <a:ext cx="8425629" cy="3959647"/>
          </a:xfrm>
        </p:spPr>
        <p:txBody>
          <a:bodyPr/>
          <a:lstStyle/>
          <a:p>
            <a:pPr algn="ctr">
              <a:lnSpc>
                <a:spcPct val="90000"/>
              </a:lnSpc>
            </a:pPr>
            <a:r>
              <a:rPr lang="ru-RU" sz="2400" b="1" dirty="0">
                <a:solidFill>
                  <a:srgbClr val="000066"/>
                </a:solidFill>
                <a:latin typeface="Book Antiqua" pitchFamily="18" charset="0"/>
              </a:rPr>
              <a:t>Ты должен знать, что если ты публикуешь фото или видео в интернете — каждый может посмотреть их. </a:t>
            </a:r>
          </a:p>
          <a:p>
            <a:pPr algn="ctr">
              <a:lnSpc>
                <a:spcPct val="90000"/>
              </a:lnSpc>
            </a:pPr>
            <a:r>
              <a:rPr lang="ru-RU" sz="2400" b="1" dirty="0">
                <a:solidFill>
                  <a:srgbClr val="000066"/>
                </a:solidFill>
                <a:latin typeface="Book Antiqua" pitchFamily="18" charset="0"/>
              </a:rPr>
              <a:t>Не публикуй фотографии, на которых изображены другие люди. Делай это только с их согласия. </a:t>
            </a:r>
          </a:p>
          <a:p>
            <a:pPr algn="ctr">
              <a:lnSpc>
                <a:spcPct val="90000"/>
              </a:lnSpc>
            </a:pPr>
            <a:r>
              <a:rPr lang="ru-RU" sz="2400" b="1" dirty="0">
                <a:solidFill>
                  <a:srgbClr val="000066"/>
                </a:solidFill>
                <a:latin typeface="Book Antiqua" pitchFamily="18" charset="0"/>
              </a:rPr>
              <a:t>Если тебе пришло сообщение с незнакомого адреса, его лучше не  открывать. Подобные письма могут содержать вирусы. </a:t>
            </a:r>
          </a:p>
          <a:p>
            <a:pPr algn="ctr">
              <a:lnSpc>
                <a:spcPct val="90000"/>
              </a:lnSpc>
              <a:buNone/>
            </a:pPr>
            <a:endParaRPr lang="ru-RU" sz="2400" b="1" dirty="0">
              <a:solidFill>
                <a:srgbClr val="000066"/>
              </a:solidFill>
              <a:latin typeface="Book Antiqua" pitchFamily="18" charset="0"/>
            </a:endParaRPr>
          </a:p>
        </p:txBody>
      </p:sp>
      <p:pic>
        <p:nvPicPr>
          <p:cNvPr id="7" name="Picture 4" descr="комп 3"/>
          <p:cNvPicPr>
            <a:picLocks noChangeAspect="1" noChangeArrowheads="1" noCrop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796136" y="3356992"/>
            <a:ext cx="2988840" cy="2906199"/>
          </a:xfrm>
          <a:prstGeom prst="rect">
            <a:avLst/>
          </a:prstGeom>
          <a:noFill/>
        </p:spPr>
      </p:pic>
      <p:pic>
        <p:nvPicPr>
          <p:cNvPr id="5" name="Picture 4" descr="инет18"/>
          <p:cNvPicPr>
            <a:picLocks noChangeAspect="1" noChangeArrowheads="1"/>
          </p:cNvPicPr>
          <p:nvPr/>
        </p:nvPicPr>
        <p:blipFill>
          <a:blip r:embed="rId3" cstate="print"/>
          <a:srcRect l="18925" t="14061" r="1167" b="32667"/>
          <a:stretch>
            <a:fillRect/>
          </a:stretch>
        </p:blipFill>
        <p:spPr bwMode="auto">
          <a:xfrm>
            <a:off x="467544" y="3717032"/>
            <a:ext cx="3888432" cy="259228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  <p:transition spd="med" advClick="0" advTm="8000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1000"/>
                                        <p:tgtEl>
                                          <p:spTgt spid="163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1000"/>
                                        <p:tgtEl>
                                          <p:spTgt spid="163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" dur="1000"/>
                                        <p:tgtEl>
                                          <p:spTgt spid="163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87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229600" cy="908051"/>
          </a:xfrm>
        </p:spPr>
        <p:txBody>
          <a:bodyPr/>
          <a:lstStyle/>
          <a:p>
            <a:r>
              <a:rPr lang="ru-RU" sz="4000" b="1">
                <a:solidFill>
                  <a:schemeClr val="bg1"/>
                </a:solidFill>
              </a:rPr>
              <a:t>Это важно знать!</a:t>
            </a:r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55576" y="1124744"/>
            <a:ext cx="7921004" cy="2951533"/>
          </a:xfrm>
        </p:spPr>
        <p:txBody>
          <a:bodyPr/>
          <a:lstStyle/>
          <a:p>
            <a:pPr algn="ctr">
              <a:lnSpc>
                <a:spcPct val="80000"/>
              </a:lnSpc>
            </a:pPr>
            <a:r>
              <a:rPr lang="ru-RU" sz="2400" b="1" dirty="0">
                <a:solidFill>
                  <a:srgbClr val="000066"/>
                </a:solidFill>
                <a:latin typeface="Book Antiqua" pitchFamily="18" charset="0"/>
              </a:rPr>
              <a:t>Публикуй только такую информацию, о публикации которой не  пожалеешь. </a:t>
            </a:r>
          </a:p>
          <a:p>
            <a:pPr algn="ctr">
              <a:lnSpc>
                <a:spcPct val="80000"/>
              </a:lnSpc>
            </a:pPr>
            <a:r>
              <a:rPr lang="ru-RU" sz="2400" b="1" dirty="0">
                <a:solidFill>
                  <a:srgbClr val="000066"/>
                </a:solidFill>
                <a:latin typeface="Book Antiqua" pitchFamily="18" charset="0"/>
              </a:rPr>
              <a:t>Нежелательные письма от незнакомых людей называются «Спам». Если ты получил такое письмо, не отвечай на него. </a:t>
            </a:r>
          </a:p>
          <a:p>
            <a:pPr algn="ctr">
              <a:lnSpc>
                <a:spcPct val="80000"/>
              </a:lnSpc>
            </a:pPr>
            <a:r>
              <a:rPr lang="ru-RU" sz="2400" b="1" dirty="0">
                <a:solidFill>
                  <a:srgbClr val="000066"/>
                </a:solidFill>
                <a:latin typeface="Book Antiqua" pitchFamily="18" charset="0"/>
              </a:rPr>
              <a:t>Если ты ответишь на подобное письмо, отправитель будет знать, что ты пользуешься своим электронным почтовым ящиком, и будет продолжать посылать тебе спам. </a:t>
            </a:r>
          </a:p>
        </p:txBody>
      </p:sp>
      <p:pic>
        <p:nvPicPr>
          <p:cNvPr id="17412" name="Picture 4" descr="инет18"/>
          <p:cNvPicPr>
            <a:picLocks noChangeAspect="1" noChangeArrowheads="1"/>
          </p:cNvPicPr>
          <p:nvPr/>
        </p:nvPicPr>
        <p:blipFill>
          <a:blip r:embed="rId2" cstate="print"/>
          <a:srcRect l="18925" t="14061" r="1167" b="32667"/>
          <a:stretch>
            <a:fillRect/>
          </a:stretch>
        </p:blipFill>
        <p:spPr bwMode="auto">
          <a:xfrm>
            <a:off x="4788024" y="3717032"/>
            <a:ext cx="3888432" cy="259228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5" name="Picture 5" descr="http://i.penzainform.ru/sales/computer/services/remont_nastrojka_kompyuterov_00035BD8H/330863.jpg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4762" r="7938"/>
          <a:stretch>
            <a:fillRect/>
          </a:stretch>
        </p:blipFill>
        <p:spPr bwMode="auto">
          <a:xfrm>
            <a:off x="0" y="3861048"/>
            <a:ext cx="3644900" cy="26606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 spd="med" advClick="0" advTm="8000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1000"/>
                                        <p:tgtEl>
                                          <p:spTgt spid="174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1000"/>
                                        <p:tgtEl>
                                          <p:spTgt spid="174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" dur="1000"/>
                                        <p:tgtEl>
                                          <p:spTgt spid="174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" dur="1000"/>
                                        <p:tgtEl>
                                          <p:spTgt spid="174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11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08" name="Picture 4" descr="инет 1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743577" y="1484313"/>
            <a:ext cx="3154363" cy="4465637"/>
          </a:xfrm>
          <a:prstGeom prst="rect">
            <a:avLst/>
          </a:prstGeom>
          <a:noFill/>
        </p:spPr>
      </p:pic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9"/>
            <a:ext cx="8229600" cy="633412"/>
          </a:xfrm>
        </p:spPr>
        <p:txBody>
          <a:bodyPr/>
          <a:lstStyle/>
          <a:p>
            <a:r>
              <a:rPr lang="ru-RU" sz="4000" b="1" dirty="0">
                <a:solidFill>
                  <a:schemeClr val="bg1"/>
                </a:solidFill>
              </a:rPr>
              <a:t>Интернет-этикет</a:t>
            </a:r>
            <a:r>
              <a:rPr lang="ru-RU" sz="4000" dirty="0">
                <a:solidFill>
                  <a:srgbClr val="990000"/>
                </a:solidFill>
              </a:rPr>
              <a:t> </a:t>
            </a:r>
          </a:p>
        </p:txBody>
      </p:sp>
      <p:sp>
        <p:nvSpPr>
          <p:cNvPr id="215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51520" y="1916832"/>
            <a:ext cx="5472608" cy="3240359"/>
          </a:xfrm>
        </p:spPr>
        <p:txBody>
          <a:bodyPr/>
          <a:lstStyle/>
          <a:p>
            <a:pPr algn="ctr">
              <a:lnSpc>
                <a:spcPct val="80000"/>
              </a:lnSpc>
            </a:pPr>
            <a:r>
              <a:rPr lang="ru-RU" sz="2400" b="1" dirty="0">
                <a:solidFill>
                  <a:srgbClr val="000066"/>
                </a:solidFill>
                <a:latin typeface="Book Antiqua" pitchFamily="18" charset="0"/>
              </a:rPr>
              <a:t>Когда общаешься в </a:t>
            </a:r>
            <a:r>
              <a:rPr lang="ru-RU" sz="2400" b="1" dirty="0" err="1">
                <a:solidFill>
                  <a:srgbClr val="000066"/>
                </a:solidFill>
                <a:latin typeface="Book Antiqua" pitchFamily="18" charset="0"/>
              </a:rPr>
              <a:t>онлайне</a:t>
            </a:r>
            <a:r>
              <a:rPr lang="ru-RU" sz="2400" b="1" dirty="0">
                <a:solidFill>
                  <a:srgbClr val="000066"/>
                </a:solidFill>
                <a:latin typeface="Book Antiqua" pitchFamily="18" charset="0"/>
              </a:rPr>
              <a:t>, относись к другим людям так, как ты хотел бы, чтобы относились к тебе. </a:t>
            </a:r>
          </a:p>
          <a:p>
            <a:pPr algn="ctr">
              <a:lnSpc>
                <a:spcPct val="80000"/>
              </a:lnSpc>
            </a:pPr>
            <a:r>
              <a:rPr lang="ru-RU" sz="2400" b="1" dirty="0">
                <a:solidFill>
                  <a:srgbClr val="000066"/>
                </a:solidFill>
                <a:latin typeface="Book Antiqua" pitchFamily="18" charset="0"/>
              </a:rPr>
              <a:t>Научись ''сетевому этикету'', когда находишься в </a:t>
            </a:r>
            <a:r>
              <a:rPr lang="ru-RU" sz="2400" b="1" dirty="0" err="1">
                <a:solidFill>
                  <a:srgbClr val="000066"/>
                </a:solidFill>
                <a:latin typeface="Book Antiqua" pitchFamily="18" charset="0"/>
              </a:rPr>
              <a:t>онлайне</a:t>
            </a:r>
            <a:r>
              <a:rPr lang="ru-RU" sz="2400" b="1" dirty="0">
                <a:solidFill>
                  <a:srgbClr val="000066"/>
                </a:solidFill>
                <a:latin typeface="Book Antiqua" pitchFamily="18" charset="0"/>
              </a:rPr>
              <a:t>. </a:t>
            </a:r>
          </a:p>
          <a:p>
            <a:pPr algn="ctr">
              <a:lnSpc>
                <a:spcPct val="80000"/>
              </a:lnSpc>
            </a:pPr>
            <a:r>
              <a:rPr lang="ru-RU" sz="2400" b="1" dirty="0">
                <a:solidFill>
                  <a:srgbClr val="000066"/>
                </a:solidFill>
                <a:latin typeface="Book Antiqua" pitchFamily="18" charset="0"/>
              </a:rPr>
              <a:t>Если  кто-то  говорит  что-то  грубое или  что-то неприятное  - не отвечай. </a:t>
            </a:r>
          </a:p>
        </p:txBody>
      </p:sp>
    </p:spTree>
  </p:cSld>
  <p:clrMapOvr>
    <a:masterClrMapping/>
  </p:clrMapOvr>
  <p:transition spd="med" advClick="0" advTm="8000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1000"/>
                                        <p:tgtEl>
                                          <p:spTgt spid="215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1000"/>
                                        <p:tgtEl>
                                          <p:spTgt spid="215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" dur="1000"/>
                                        <p:tgtEl>
                                          <p:spTgt spid="215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" dur="1000"/>
                                        <p:tgtEl>
                                          <p:spTgt spid="215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07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30" name="Picture 6" descr="момент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5868144" y="3861048"/>
            <a:ext cx="2742523" cy="2520280"/>
          </a:xfrm>
          <a:prstGeom prst="rect">
            <a:avLst/>
          </a:prstGeom>
          <a:noFill/>
        </p:spPr>
      </p:pic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1"/>
            <a:ext cx="9144000" cy="777875"/>
          </a:xfrm>
        </p:spPr>
        <p:txBody>
          <a:bodyPr/>
          <a:lstStyle/>
          <a:p>
            <a:r>
              <a:rPr lang="ru-RU" sz="3200" b="1" dirty="0">
                <a:solidFill>
                  <a:schemeClr val="bg1"/>
                </a:solidFill>
              </a:rPr>
              <a:t>Если тебя запугивают в онлайновой среде:</a:t>
            </a:r>
            <a:r>
              <a:rPr lang="ru-RU" sz="3200" dirty="0"/>
              <a:t> </a:t>
            </a:r>
          </a:p>
        </p:txBody>
      </p:sp>
      <p:sp>
        <p:nvSpPr>
          <p:cNvPr id="266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51520" y="1124745"/>
            <a:ext cx="8640960" cy="3816424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ru-RU" sz="2400" b="1" dirty="0">
                <a:solidFill>
                  <a:srgbClr val="000066"/>
                </a:solidFill>
                <a:latin typeface="Book Antiqua" pitchFamily="18" charset="0"/>
              </a:rPr>
              <a:t>Игнорируй. Не отвечай обидчику. Если он не получает ответа, ему может это наскучить и он уйдёт. </a:t>
            </a:r>
          </a:p>
          <a:p>
            <a:pPr>
              <a:lnSpc>
                <a:spcPct val="80000"/>
              </a:lnSpc>
            </a:pPr>
            <a:r>
              <a:rPr lang="ru-RU" sz="2400" b="1" dirty="0">
                <a:solidFill>
                  <a:srgbClr val="000066"/>
                </a:solidFill>
                <a:latin typeface="Book Antiqua" pitchFamily="18" charset="0"/>
              </a:rPr>
              <a:t>Заблокируй этого человека. Это защитит тебя от просмотра сообщений конкретного пользователя. </a:t>
            </a:r>
          </a:p>
          <a:p>
            <a:pPr>
              <a:lnSpc>
                <a:spcPct val="80000"/>
              </a:lnSpc>
            </a:pPr>
            <a:r>
              <a:rPr lang="ru-RU" sz="2400" b="1" dirty="0">
                <a:solidFill>
                  <a:srgbClr val="000066"/>
                </a:solidFill>
                <a:latin typeface="Book Antiqua" pitchFamily="18" charset="0"/>
              </a:rPr>
              <a:t>Сохрани доказательства. Это может быть полезным для поиска того, кто пытался тебя запугать. Сохрани в качестве доказательств тексты, электронные письма,  онлайн-разговоры  или голосовую почту. </a:t>
            </a:r>
          </a:p>
          <a:p>
            <a:pPr>
              <a:lnSpc>
                <a:spcPct val="80000"/>
              </a:lnSpc>
            </a:pPr>
            <a:endParaRPr lang="ru-RU" sz="2400" b="1" dirty="0">
              <a:solidFill>
                <a:srgbClr val="000066"/>
              </a:solidFill>
              <a:latin typeface="Book Antiqua" pitchFamily="18" charset="0"/>
            </a:endParaRPr>
          </a:p>
        </p:txBody>
      </p:sp>
    </p:spTree>
  </p:cSld>
  <p:clrMapOvr>
    <a:masterClrMapping/>
  </p:clrMapOvr>
  <p:transition spd="med" advClick="0" advTm="8000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1000"/>
                                        <p:tgtEl>
                                          <p:spTgt spid="266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1000"/>
                                        <p:tgtEl>
                                          <p:spTgt spid="266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" dur="1000"/>
                                        <p:tgtEl>
                                          <p:spTgt spid="266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" dur="1000"/>
                                        <p:tgtEl>
                                          <p:spTgt spid="266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627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6" descr="инет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932040" y="4077072"/>
            <a:ext cx="3910372" cy="2354312"/>
          </a:xfrm>
          <a:prstGeom prst="rect">
            <a:avLst/>
          </a:prstGeom>
          <a:noFill/>
        </p:spPr>
      </p:pic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9"/>
            <a:ext cx="8686800" cy="1143000"/>
          </a:xfrm>
        </p:spPr>
        <p:txBody>
          <a:bodyPr/>
          <a:lstStyle/>
          <a:p>
            <a:r>
              <a:rPr lang="ru-RU" sz="4000" b="1" dirty="0">
                <a:solidFill>
                  <a:schemeClr val="bg1"/>
                </a:solidFill>
              </a:rPr>
              <a:t>Твои права в онлайновой среде</a:t>
            </a:r>
            <a:r>
              <a:rPr lang="ru-RU" sz="4000" dirty="0">
                <a:solidFill>
                  <a:schemeClr val="bg1"/>
                </a:solidFill>
              </a:rPr>
              <a:t> </a:t>
            </a:r>
            <a:br>
              <a:rPr lang="ru-RU" sz="4000" dirty="0">
                <a:solidFill>
                  <a:schemeClr val="bg1"/>
                </a:solidFill>
              </a:rPr>
            </a:br>
            <a:endParaRPr lang="ru-RU" sz="4000" dirty="0">
              <a:solidFill>
                <a:schemeClr val="bg1"/>
              </a:solidFill>
            </a:endParaRPr>
          </a:p>
        </p:txBody>
      </p:sp>
      <p:sp>
        <p:nvSpPr>
          <p:cNvPr id="286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23850" y="1125539"/>
            <a:ext cx="8820150" cy="5399087"/>
          </a:xfrm>
        </p:spPr>
        <p:txBody>
          <a:bodyPr/>
          <a:lstStyle/>
          <a:p>
            <a:r>
              <a:rPr lang="ru-RU" sz="2800" b="1" dirty="0">
                <a:solidFill>
                  <a:srgbClr val="000066"/>
                </a:solidFill>
                <a:latin typeface="Book Antiqua" pitchFamily="18" charset="0"/>
              </a:rPr>
              <a:t>Ты имеешь права – и другие люди должны уважать их. Ты никогда не должен терпеть преследования или запугивания со стороны других людей. Законы реальной жизни также действуют и в </a:t>
            </a:r>
            <a:r>
              <a:rPr lang="ru-RU" sz="2800" b="1" dirty="0" err="1">
                <a:solidFill>
                  <a:srgbClr val="000066"/>
                </a:solidFill>
                <a:latin typeface="Book Antiqua" pitchFamily="18" charset="0"/>
              </a:rPr>
              <a:t>онлайн-среде</a:t>
            </a:r>
            <a:r>
              <a:rPr lang="ru-RU" sz="2800" b="1" dirty="0">
                <a:solidFill>
                  <a:srgbClr val="000066"/>
                </a:solidFill>
                <a:latin typeface="Book Antiqua" pitchFamily="18" charset="0"/>
              </a:rPr>
              <a:t>. </a:t>
            </a:r>
          </a:p>
          <a:p>
            <a:r>
              <a:rPr lang="ru-RU" sz="2800" b="1" dirty="0">
                <a:solidFill>
                  <a:srgbClr val="000066"/>
                </a:solidFill>
                <a:latin typeface="Book Antiqua" pitchFamily="18" charset="0"/>
              </a:rPr>
              <a:t>Ты имеешь право защитить свою персональную информацию. </a:t>
            </a:r>
          </a:p>
        </p:txBody>
      </p:sp>
    </p:spTree>
  </p:cSld>
  <p:clrMapOvr>
    <a:masterClrMapping/>
  </p:clrMapOvr>
  <p:transition spd="med" advClick="0" advTm="8000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286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1000"/>
                                        <p:tgtEl>
                                          <p:spTgt spid="286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675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>
          <a:xfrm>
            <a:off x="250827" y="0"/>
            <a:ext cx="8697913" cy="908051"/>
          </a:xfrm>
        </p:spPr>
        <p:txBody>
          <a:bodyPr/>
          <a:lstStyle/>
          <a:p>
            <a:r>
              <a:rPr lang="ru-RU" sz="4000" b="1" dirty="0">
                <a:solidFill>
                  <a:schemeClr val="bg1"/>
                </a:solidFill>
              </a:rPr>
              <a:t>Твои права в онлайновой среде</a:t>
            </a:r>
          </a:p>
        </p:txBody>
      </p:sp>
      <p:sp>
        <p:nvSpPr>
          <p:cNvPr id="307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51520" y="1124744"/>
            <a:ext cx="8064896" cy="4608512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ru-RU" sz="2800" b="1" dirty="0">
                <a:solidFill>
                  <a:srgbClr val="000066"/>
                </a:solidFill>
                <a:latin typeface="Book Antiqua" pitchFamily="18" charset="0"/>
              </a:rPr>
              <a:t>Ты имеешь право на доступ к информации и сервисам</a:t>
            </a:r>
          </a:p>
          <a:p>
            <a:pPr>
              <a:lnSpc>
                <a:spcPct val="80000"/>
              </a:lnSpc>
            </a:pPr>
            <a:r>
              <a:rPr lang="ru-RU" sz="2800" b="1" dirty="0">
                <a:solidFill>
                  <a:srgbClr val="000066"/>
                </a:solidFill>
                <a:latin typeface="Book Antiqua" pitchFamily="18" charset="0"/>
              </a:rPr>
              <a:t>Ты имеешь право свободно выражать себя и право на уважение к  себе, и, в то же время, должен всегда уважать других. </a:t>
            </a:r>
          </a:p>
          <a:p>
            <a:pPr>
              <a:lnSpc>
                <a:spcPct val="80000"/>
              </a:lnSpc>
            </a:pPr>
            <a:r>
              <a:rPr lang="ru-RU" sz="2800" b="1" dirty="0">
                <a:solidFill>
                  <a:srgbClr val="000066"/>
                </a:solidFill>
                <a:latin typeface="Book Antiqua" pitchFamily="18" charset="0"/>
              </a:rPr>
              <a:t>Ты можешь свободно обсуждать и критиковать все, что опубликовано или доступно в сети. </a:t>
            </a:r>
          </a:p>
          <a:p>
            <a:pPr>
              <a:lnSpc>
                <a:spcPct val="80000"/>
              </a:lnSpc>
            </a:pPr>
            <a:r>
              <a:rPr lang="ru-RU" sz="2800" b="1" dirty="0">
                <a:solidFill>
                  <a:srgbClr val="000066"/>
                </a:solidFill>
                <a:latin typeface="Book Antiqua" pitchFamily="18" charset="0"/>
              </a:rPr>
              <a:t>Ты имеешь право сказать </a:t>
            </a:r>
            <a:r>
              <a:rPr lang="ru-RU" sz="2800" b="1" dirty="0">
                <a:solidFill>
                  <a:srgbClr val="990000"/>
                </a:solidFill>
                <a:latin typeface="Book Antiqua" pitchFamily="18" charset="0"/>
              </a:rPr>
              <a:t>НЕТ,</a:t>
            </a:r>
            <a:r>
              <a:rPr lang="ru-RU" sz="2800" b="1" dirty="0">
                <a:solidFill>
                  <a:srgbClr val="000066"/>
                </a:solidFill>
                <a:latin typeface="Book Antiqua" pitchFamily="18" charset="0"/>
              </a:rPr>
              <a:t> тому, кто  в </a:t>
            </a:r>
            <a:r>
              <a:rPr lang="ru-RU" sz="2800" b="1" dirty="0" err="1">
                <a:solidFill>
                  <a:srgbClr val="000066"/>
                </a:solidFill>
                <a:latin typeface="Book Antiqua" pitchFamily="18" charset="0"/>
              </a:rPr>
              <a:t>онлайн</a:t>
            </a:r>
            <a:r>
              <a:rPr lang="ru-RU" sz="2800" b="1" dirty="0">
                <a:solidFill>
                  <a:srgbClr val="000066"/>
                </a:solidFill>
                <a:latin typeface="Book Antiqua" pitchFamily="18" charset="0"/>
              </a:rPr>
              <a:t>- среде  просит тебя  о чем-то,  что заставляет тебя чувствовать дискомфорт. </a:t>
            </a:r>
          </a:p>
          <a:p>
            <a:pPr>
              <a:lnSpc>
                <a:spcPct val="80000"/>
              </a:lnSpc>
            </a:pPr>
            <a:endParaRPr lang="ru-RU" sz="2800" b="1" dirty="0">
              <a:solidFill>
                <a:srgbClr val="000066"/>
              </a:solidFill>
              <a:latin typeface="Book Antiqua" pitchFamily="18" charset="0"/>
            </a:endParaRPr>
          </a:p>
          <a:p>
            <a:pPr>
              <a:lnSpc>
                <a:spcPct val="80000"/>
              </a:lnSpc>
            </a:pPr>
            <a:endParaRPr lang="ru-RU" sz="2800" dirty="0">
              <a:solidFill>
                <a:srgbClr val="000066"/>
              </a:solidFill>
              <a:latin typeface="Book Antiqua" pitchFamily="18" charset="0"/>
            </a:endParaRPr>
          </a:p>
        </p:txBody>
      </p:sp>
    </p:spTree>
  </p:cSld>
  <p:clrMapOvr>
    <a:masterClrMapping/>
  </p:clrMapOvr>
  <p:transition spd="med" advClick="0" advTm="8000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307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1000"/>
                                        <p:tgtEl>
                                          <p:spTgt spid="307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1000"/>
                                        <p:tgtEl>
                                          <p:spTgt spid="307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000"/>
                                        <p:tgtEl>
                                          <p:spTgt spid="307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23" grpId="0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26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979712" y="1268760"/>
            <a:ext cx="5257130" cy="39462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2293" name="Rectangle 5"/>
          <p:cNvSpPr>
            <a:spLocks noChangeArrowheads="1"/>
          </p:cNvSpPr>
          <p:nvPr/>
        </p:nvSpPr>
        <p:spPr bwMode="auto">
          <a:xfrm>
            <a:off x="539552" y="5373216"/>
            <a:ext cx="8317111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pPr algn="ctr">
              <a:defRPr/>
            </a:pPr>
            <a:endParaRPr lang="ru-RU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>
              <a:defRPr/>
            </a:pPr>
            <a:r>
              <a:rPr lang="ru-RU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ru-RU" sz="2000" b="1" dirty="0">
                <a:solidFill>
                  <a:srgbClr val="0033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</a:rPr>
              <a:t>В Интернете необходимо следовать основным правилам так же, как правилам дорожного движения при вождении </a:t>
            </a:r>
          </a:p>
        </p:txBody>
      </p:sp>
      <p:sp>
        <p:nvSpPr>
          <p:cNvPr id="12295" name="Rectangle 7"/>
          <p:cNvSpPr>
            <a:spLocks noChangeArrowheads="1"/>
          </p:cNvSpPr>
          <p:nvPr/>
        </p:nvSpPr>
        <p:spPr bwMode="auto">
          <a:xfrm>
            <a:off x="468313" y="188913"/>
            <a:ext cx="82804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just">
              <a:defRPr/>
            </a:pPr>
            <a:r>
              <a:rPr lang="ru-RU" sz="2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cs typeface="Arial" pitchFamily="34" charset="0"/>
              </a:rPr>
              <a:t>Интернет является общественным ресурсом</a:t>
            </a:r>
          </a:p>
        </p:txBody>
      </p:sp>
    </p:spTree>
  </p:cSld>
  <p:clrMapOvr>
    <a:masterClrMapping/>
  </p:clrMapOvr>
  <p:transition spd="med" advClick="0" advTm="8000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1000"/>
                                        <p:tgtEl>
                                          <p:spTgt spid="266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1000"/>
                                        <p:tgtEl>
                                          <p:spTgt spid="122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93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6" name="Text Box 4"/>
          <p:cNvSpPr txBox="1">
            <a:spLocks noChangeArrowheads="1"/>
          </p:cNvSpPr>
          <p:nvPr/>
        </p:nvSpPr>
        <p:spPr bwMode="auto">
          <a:xfrm>
            <a:off x="763588" y="188914"/>
            <a:ext cx="7895110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ru-RU" sz="3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Book Antiqua" pitchFamily="18" charset="0"/>
              </a:rPr>
              <a:t>ДАВАЙТЕ ВМЕСТЕ ПОДУМАЕМ!</a:t>
            </a:r>
          </a:p>
        </p:txBody>
      </p:sp>
      <p:pic>
        <p:nvPicPr>
          <p:cNvPr id="25603" name="Picture 6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55875" y="908051"/>
            <a:ext cx="3671888" cy="339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5604" name="Text Box 7"/>
          <p:cNvSpPr txBox="1">
            <a:spLocks noChangeArrowheads="1"/>
          </p:cNvSpPr>
          <p:nvPr/>
        </p:nvSpPr>
        <p:spPr bwMode="auto">
          <a:xfrm>
            <a:off x="323530" y="4303457"/>
            <a:ext cx="8569325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ru-RU" sz="3200" dirty="0">
                <a:latin typeface="Book Antiqua" pitchFamily="18" charset="0"/>
              </a:rPr>
              <a:t> </a:t>
            </a:r>
            <a:r>
              <a:rPr lang="ru-RU" sz="3200" b="1" dirty="0">
                <a:latin typeface="Book Antiqua" pitchFamily="18" charset="0"/>
              </a:rPr>
              <a:t>Почему тема информационной безопасности является важной </a:t>
            </a:r>
          </a:p>
          <a:p>
            <a:pPr algn="ctr"/>
            <a:r>
              <a:rPr lang="ru-RU" sz="3200" b="1" dirty="0">
                <a:latin typeface="Book Antiqua" pitchFamily="18" charset="0"/>
              </a:rPr>
              <a:t>    и почему эти вопросы должны обсуждаться?</a:t>
            </a:r>
            <a:br>
              <a:rPr lang="ru-RU" sz="3200" b="1" dirty="0">
                <a:latin typeface="Book Antiqua" pitchFamily="18" charset="0"/>
              </a:rPr>
            </a:br>
            <a:endParaRPr lang="ru-RU" sz="3200" b="1" dirty="0">
              <a:latin typeface="Book Antiqua" pitchFamily="18" charset="0"/>
            </a:endParaRPr>
          </a:p>
        </p:txBody>
      </p:sp>
    </p:spTree>
  </p:cSld>
  <p:clrMapOvr>
    <a:masterClrMapping/>
  </p:clrMapOvr>
  <p:transition spd="med" advClick="0" advTm="8000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560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560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2560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2560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604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Горизонтальный свиток 5"/>
          <p:cNvSpPr/>
          <p:nvPr/>
        </p:nvSpPr>
        <p:spPr>
          <a:xfrm>
            <a:off x="827584" y="260648"/>
            <a:ext cx="6696744" cy="1267837"/>
          </a:xfrm>
          <a:prstGeom prst="horizontalScroll">
            <a:avLst/>
          </a:prstGeom>
          <a:gradFill flip="none" rotWithShape="1">
            <a:gsLst>
              <a:gs pos="26000">
                <a:schemeClr val="accent6">
                  <a:shade val="51000"/>
                  <a:satMod val="130000"/>
                  <a:alpha val="0"/>
                </a:schemeClr>
              </a:gs>
              <a:gs pos="80000">
                <a:schemeClr val="accent6">
                  <a:shade val="93000"/>
                  <a:satMod val="130000"/>
                </a:schemeClr>
              </a:gs>
              <a:gs pos="100000">
                <a:schemeClr val="accent6">
                  <a:shade val="94000"/>
                  <a:satMod val="135000"/>
                </a:schemeClr>
              </a:gs>
            </a:gsLst>
            <a:path path="circle">
              <a:fillToRect l="100000" t="100000"/>
            </a:path>
            <a:tileRect r="-100000" b="-100000"/>
          </a:gradFill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>
              <a:buFontTx/>
              <a:buNone/>
            </a:pPr>
            <a:r>
              <a:rPr lang="ru-RU" sz="2800" b="1" dirty="0">
                <a:solidFill>
                  <a:schemeClr val="bg1"/>
                </a:solidFill>
                <a:latin typeface="Arial Narrow" pitchFamily="34" charset="0"/>
              </a:rPr>
              <a:t>Получай максимум удовольствия, </a:t>
            </a:r>
          </a:p>
          <a:p>
            <a:pPr algn="ctr">
              <a:buFontTx/>
              <a:buNone/>
            </a:pPr>
            <a:r>
              <a:rPr lang="ru-RU" sz="2800" b="1" dirty="0">
                <a:solidFill>
                  <a:schemeClr val="bg1"/>
                </a:solidFill>
                <a:latin typeface="Arial Narrow" pitchFamily="34" charset="0"/>
              </a:rPr>
              <a:t>оставаясь в безопасности</a:t>
            </a:r>
          </a:p>
        </p:txBody>
      </p:sp>
    </p:spTree>
  </p:cSld>
  <p:clrMapOvr>
    <a:masterClrMapping/>
  </p:clrMapOvr>
  <p:transition spd="med" advClick="0" advTm="8000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theme/theme1.xml><?xml version="1.0" encoding="utf-8"?>
<a:theme xmlns:a="http://schemas.openxmlformats.org/drawingml/2006/main" name="Интернет">
  <a:themeElements>
    <a:clrScheme name="Интернет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Интернет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Интернет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Интернет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Интернет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Интернет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Интернет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Интернет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Интернет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Интернет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Интернет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Интернет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Интернет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Интернет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emplate>Интернет</Template>
  <TotalTime>1028</TotalTime>
  <Words>1246</Words>
  <Application>Microsoft Office PowerPoint</Application>
  <PresentationFormat>Экран (4:3)</PresentationFormat>
  <Paragraphs>109</Paragraphs>
  <Slides>26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26</vt:i4>
      </vt:variant>
    </vt:vector>
  </HeadingPairs>
  <TitlesOfParts>
    <vt:vector size="33" baseType="lpstr">
      <vt:lpstr>Arial</vt:lpstr>
      <vt:lpstr>Arial Narrow</vt:lpstr>
      <vt:lpstr>Book Antiqua</vt:lpstr>
      <vt:lpstr>Garamond</vt:lpstr>
      <vt:lpstr>Monotype Corsiva</vt:lpstr>
      <vt:lpstr>Times New Roman</vt:lpstr>
      <vt:lpstr>Интернет</vt:lpstr>
      <vt:lpstr>Информационная безопасность в сети Интернет</vt:lpstr>
      <vt:lpstr>Медиаграмотность</vt:lpstr>
      <vt:lpstr>Нормативная база</vt:lpstr>
      <vt:lpstr>Информационная безопасность</vt:lpstr>
      <vt:lpstr>Презентация PowerPoint</vt:lpstr>
      <vt:lpstr>Статистика</vt:lpstr>
      <vt:lpstr>Статистика</vt:lpstr>
      <vt:lpstr>Данные опросов в Европе </vt:lpstr>
      <vt:lpstr>Виды онлайн угроз</vt:lpstr>
      <vt:lpstr>Виды онлайн угроз</vt:lpstr>
      <vt:lpstr>Виды онлайн угроз</vt:lpstr>
      <vt:lpstr>PEGI логотипы</vt:lpstr>
      <vt:lpstr>Интернет-зависимость</vt:lpstr>
      <vt:lpstr>Интернет-зависимость</vt:lpstr>
      <vt:lpstr>Признаки Интернет-зависимости: </vt:lpstr>
      <vt:lpstr>Признаки Интернет- зависимости: </vt:lpstr>
      <vt:lpstr>Это важно знать!</vt:lpstr>
      <vt:lpstr>Это важно знать!</vt:lpstr>
      <vt:lpstr>Это важно знать!</vt:lpstr>
      <vt:lpstr>Интернет-этикет </vt:lpstr>
      <vt:lpstr>Если тебя запугивают в онлайновой среде: </vt:lpstr>
      <vt:lpstr>Твои права в онлайновой среде  </vt:lpstr>
      <vt:lpstr>Твои права в онлайновой среде</vt:lpstr>
      <vt:lpstr>Презентация PowerPoint</vt:lpstr>
      <vt:lpstr>Презентация PowerPoint</vt:lpstr>
      <vt:lpstr>Презентация PowerPoint</vt:lpstr>
    </vt:vector>
  </TitlesOfParts>
  <Company>---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Слайд 1</dc:title>
  <dc:creator>user</dc:creator>
  <cp:lastModifiedBy>Kibriyo</cp:lastModifiedBy>
  <cp:revision>51</cp:revision>
  <dcterms:created xsi:type="dcterms:W3CDTF">2011-08-27T15:04:37Z</dcterms:created>
  <dcterms:modified xsi:type="dcterms:W3CDTF">2025-11-03T13:02:07Z</dcterms:modified>
</cp:coreProperties>
</file>